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D6560"/>
                </a:solidFill>
                <a:latin typeface="Calibri" pitchFamily="34" charset="0"/>
                <a:ea typeface="Calibri" pitchFamily="34" charset="-122"/>
                <a:cs typeface="Calibri" pitchFamily="34" charset="-120"/>
              </a:rPr>
              <a:t>CampusVolt  ·  Smart Campus EV Fleet Intelligence System</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D6560"/>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D656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6F5"/>
        </a:solidFill>
      </p:bgPr>
    </p:bg>
    <p:spTree>
      <p:nvGrpSpPr>
        <p:cNvPr id="1" name=""/>
        <p:cNvGrpSpPr/>
        <p:nvPr/>
      </p:nvGrpSpPr>
      <p:grpSpPr>
        <a:xfrm>
          <a:off x="0" y="0"/>
          <a:ext cx="0" cy="0"/>
          <a:chOff x="0" y="0"/>
          <a:chExt cx="0" cy="0"/>
        </a:xfrm>
      </p:grpSpPr>
      <p:sp>
        <p:nvSpPr>
          <p:cNvPr id="2" name="Shape 0"/>
          <p:cNvSpPr/>
          <p:nvPr/>
        </p:nvSpPr>
        <p:spPr>
          <a:xfrm>
            <a:off x="0" y="0"/>
            <a:ext cx="5669280" cy="6858000"/>
          </a:xfrm>
          <a:prstGeom prst="rect">
            <a:avLst/>
          </a:prstGeom>
          <a:solidFill>
            <a:srgbClr val="1A3F2C"/>
          </a:solidFill>
          <a:ln w="12700">
            <a:solidFill>
              <a:srgbClr val="1A3F2C"/>
            </a:solidFill>
            <a:prstDash val="solid"/>
          </a:ln>
        </p:spPr>
      </p:sp>
      <p:sp>
        <p:nvSpPr>
          <p:cNvPr id="3" name="Text 1"/>
          <p:cNvSpPr txBox="1"/>
          <p:nvPr/>
        </p:nvSpPr>
        <p:spPr>
          <a:xfrm>
            <a:off x="640080" y="731520"/>
            <a:ext cx="4754880" cy="274320"/>
          </a:xfrm>
          <a:prstGeom prst="rect">
            <a:avLst/>
          </a:prstGeom>
          <a:noFill/>
          <a:ln/>
        </p:spPr>
        <p:txBody>
          <a:bodyPr wrap="square" lIns="0" tIns="0" rIns="0" bIns="0" rtlCol="0" anchor="t"/>
          <a:lstStyle/>
          <a:p>
            <a:pPr indent="0" marL="0">
              <a:buNone/>
            </a:pPr>
            <a:r>
              <a:rPr lang="en-US" sz="1200" b="1" spc="200" kern="0" dirty="0">
                <a:solidFill>
                  <a:srgbClr val="BFE6CF"/>
                </a:solidFill>
                <a:latin typeface="Calibri" pitchFamily="34" charset="0"/>
                <a:ea typeface="Calibri" pitchFamily="34" charset="-122"/>
                <a:cs typeface="Calibri" pitchFamily="34" charset="-120"/>
              </a:rPr>
              <a:t>MINI PROJECT  ·  MICROSERVICES WEB APPLICATION</a:t>
            </a:r>
            <a:endParaRPr lang="en-US" sz="1200" dirty="0"/>
          </a:p>
        </p:txBody>
      </p:sp>
      <p:sp>
        <p:nvSpPr>
          <p:cNvPr id="4" name="Text 2"/>
          <p:cNvSpPr txBox="1"/>
          <p:nvPr/>
        </p:nvSpPr>
        <p:spPr>
          <a:xfrm>
            <a:off x="640080" y="1188720"/>
            <a:ext cx="4754880" cy="914400"/>
          </a:xfrm>
          <a:prstGeom prst="rect">
            <a:avLst/>
          </a:prstGeom>
          <a:noFill/>
          <a:ln/>
        </p:spPr>
        <p:txBody>
          <a:bodyPr wrap="square" lIns="0" tIns="0" rIns="0" bIns="0" rtlCol="0" anchor="t"/>
          <a:lstStyle/>
          <a:p>
            <a:pPr indent="0" marL="0">
              <a:buNone/>
            </a:pPr>
            <a:r>
              <a:rPr lang="en-US" sz="5400" b="1" dirty="0">
                <a:solidFill>
                  <a:srgbClr val="FFFFFF"/>
                </a:solidFill>
                <a:latin typeface="Calibri" pitchFamily="34" charset="0"/>
                <a:ea typeface="Calibri" pitchFamily="34" charset="-122"/>
                <a:cs typeface="Calibri" pitchFamily="34" charset="-120"/>
              </a:rPr>
              <a:t>CampusVolt</a:t>
            </a:r>
            <a:endParaRPr lang="en-US" sz="5400" dirty="0"/>
          </a:p>
        </p:txBody>
      </p:sp>
      <p:sp>
        <p:nvSpPr>
          <p:cNvPr id="5" name="Text 3"/>
          <p:cNvSpPr txBox="1"/>
          <p:nvPr/>
        </p:nvSpPr>
        <p:spPr>
          <a:xfrm>
            <a:off x="640080" y="2103120"/>
            <a:ext cx="4754880" cy="411480"/>
          </a:xfrm>
          <a:prstGeom prst="rect">
            <a:avLst/>
          </a:prstGeom>
          <a:noFill/>
          <a:ln/>
        </p:spPr>
        <p:txBody>
          <a:bodyPr wrap="square" lIns="0" tIns="0" rIns="0" bIns="0" rtlCol="0" anchor="t"/>
          <a:lstStyle/>
          <a:p>
            <a:pPr indent="0" marL="0">
              <a:buNone/>
            </a:pPr>
            <a:r>
              <a:rPr lang="en-US" sz="2000" dirty="0">
                <a:solidFill>
                  <a:srgbClr val="BFE6CF"/>
                </a:solidFill>
                <a:latin typeface="Calibri" pitchFamily="34" charset="0"/>
                <a:ea typeface="Calibri" pitchFamily="34" charset="-122"/>
                <a:cs typeface="Calibri" pitchFamily="34" charset="-120"/>
              </a:rPr>
              <a:t>Smart Campus EV Fleet Intelligence System</a:t>
            </a:r>
            <a:endParaRPr lang="en-US" sz="2000" dirty="0"/>
          </a:p>
        </p:txBody>
      </p:sp>
      <p:sp>
        <p:nvSpPr>
          <p:cNvPr id="6" name="Text 4"/>
          <p:cNvSpPr txBox="1"/>
          <p:nvPr/>
        </p:nvSpPr>
        <p:spPr>
          <a:xfrm>
            <a:off x="640080" y="2788920"/>
            <a:ext cx="4572000" cy="822960"/>
          </a:xfrm>
          <a:prstGeom prst="rect">
            <a:avLst/>
          </a:prstGeom>
          <a:noFill/>
          <a:ln/>
        </p:spPr>
        <p:txBody>
          <a:bodyPr wrap="square" lIns="0" tIns="0" rIns="0" bIns="0" rtlCol="0" anchor="t"/>
          <a:lstStyle/>
          <a:p>
            <a:pPr indent="0" marL="0">
              <a:buNone/>
            </a:pPr>
            <a:r>
              <a:rPr lang="en-US" sz="1800" i="1" dirty="0">
                <a:solidFill>
                  <a:srgbClr val="FFFFFF"/>
                </a:solidFill>
                <a:latin typeface="Calibri" pitchFamily="34" charset="0"/>
                <a:ea typeface="Calibri" pitchFamily="34" charset="-122"/>
                <a:cs typeface="Calibri" pitchFamily="34" charset="-120"/>
              </a:rPr>
              <a:t>Know where every campus shuttle is, how full it is, and when it will arrive.</a:t>
            </a:r>
            <a:endParaRPr lang="en-US" sz="1800" dirty="0"/>
          </a:p>
        </p:txBody>
      </p:sp>
      <p:sp>
        <p:nvSpPr>
          <p:cNvPr id="7" name="Text 5"/>
          <p:cNvSpPr txBox="1"/>
          <p:nvPr/>
        </p:nvSpPr>
        <p:spPr>
          <a:xfrm>
            <a:off x="640080" y="4160520"/>
            <a:ext cx="4572000" cy="274320"/>
          </a:xfrm>
          <a:prstGeom prst="rect">
            <a:avLst/>
          </a:prstGeom>
          <a:noFill/>
          <a:ln/>
        </p:spPr>
        <p:txBody>
          <a:bodyPr wrap="square" lIns="0" tIns="0" rIns="0" bIns="0" rtlCol="0" anchor="t"/>
          <a:lstStyle/>
          <a:p>
            <a:pPr indent="0" marL="0">
              <a:buNone/>
            </a:pPr>
            <a:r>
              <a:rPr lang="en-US" sz="1200" b="1" spc="200" kern="0" dirty="0">
                <a:solidFill>
                  <a:srgbClr val="BFE6CF"/>
                </a:solidFill>
                <a:latin typeface="Calibri" pitchFamily="34" charset="0"/>
                <a:ea typeface="Calibri" pitchFamily="34" charset="-122"/>
                <a:cs typeface="Calibri" pitchFamily="34" charset="-120"/>
              </a:rPr>
              <a:t>TEAM</a:t>
            </a:r>
            <a:endParaRPr lang="en-US" sz="1200" dirty="0"/>
          </a:p>
        </p:txBody>
      </p:sp>
      <p:sp>
        <p:nvSpPr>
          <p:cNvPr id="8" name="Text 6"/>
          <p:cNvSpPr txBox="1"/>
          <p:nvPr/>
        </p:nvSpPr>
        <p:spPr>
          <a:xfrm>
            <a:off x="640080" y="4526280"/>
            <a:ext cx="4754880" cy="36576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Kawin A N</a:t>
            </a:r>
            <a:pPr indent="0" marL="0">
              <a:buNone/>
            </a:pPr>
            <a:r>
              <a:rPr lang="en-US" sz="1800" dirty="0">
                <a:solidFill>
                  <a:srgbClr val="BFE6CF"/>
                </a:solidFill>
                <a:latin typeface="Calibri" pitchFamily="34" charset="0"/>
                <a:ea typeface="Calibri" pitchFamily="34" charset="-122"/>
                <a:cs typeface="Calibri" pitchFamily="34" charset="-120"/>
              </a:rPr>
              <a:t>   2024115018</a:t>
            </a:r>
            <a:endParaRPr lang="en-US" sz="1800" dirty="0"/>
          </a:p>
        </p:txBody>
      </p:sp>
      <p:sp>
        <p:nvSpPr>
          <p:cNvPr id="9" name="Text 7"/>
          <p:cNvSpPr txBox="1"/>
          <p:nvPr/>
        </p:nvSpPr>
        <p:spPr>
          <a:xfrm>
            <a:off x="640080" y="4965192"/>
            <a:ext cx="4754880" cy="36576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Shankararam S U</a:t>
            </a:r>
            <a:pPr indent="0" marL="0">
              <a:buNone/>
            </a:pPr>
            <a:r>
              <a:rPr lang="en-US" sz="1800" dirty="0">
                <a:solidFill>
                  <a:srgbClr val="BFE6CF"/>
                </a:solidFill>
                <a:latin typeface="Calibri" pitchFamily="34" charset="0"/>
                <a:ea typeface="Calibri" pitchFamily="34" charset="-122"/>
                <a:cs typeface="Calibri" pitchFamily="34" charset="-120"/>
              </a:rPr>
              <a:t>   2024115020</a:t>
            </a:r>
            <a:endParaRPr lang="en-US" sz="1800" dirty="0"/>
          </a:p>
        </p:txBody>
      </p:sp>
      <p:sp>
        <p:nvSpPr>
          <p:cNvPr id="10" name="Text 8"/>
          <p:cNvSpPr txBox="1"/>
          <p:nvPr/>
        </p:nvSpPr>
        <p:spPr>
          <a:xfrm>
            <a:off x="640080" y="5404104"/>
            <a:ext cx="4754880" cy="36576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Rohan Beniel E</a:t>
            </a:r>
            <a:pPr indent="0" marL="0">
              <a:buNone/>
            </a:pPr>
            <a:r>
              <a:rPr lang="en-US" sz="1800" dirty="0">
                <a:solidFill>
                  <a:srgbClr val="BFE6CF"/>
                </a:solidFill>
                <a:latin typeface="Calibri" pitchFamily="34" charset="0"/>
                <a:ea typeface="Calibri" pitchFamily="34" charset="-122"/>
                <a:cs typeface="Calibri" pitchFamily="34" charset="-120"/>
              </a:rPr>
              <a:t>   2024115124</a:t>
            </a:r>
            <a:endParaRPr lang="en-US" sz="1800" dirty="0"/>
          </a:p>
        </p:txBody>
      </p:sp>
      <p:sp>
        <p:nvSpPr>
          <p:cNvPr id="11" name="Shape 9"/>
          <p:cNvSpPr/>
          <p:nvPr/>
        </p:nvSpPr>
        <p:spPr>
          <a:xfrm>
            <a:off x="6016752" y="1480312"/>
            <a:ext cx="5888736" cy="3531616"/>
          </a:xfrm>
          <a:prstGeom prst="rect">
            <a:avLst/>
          </a:prstGeom>
          <a:solidFill>
            <a:srgbClr val="DDE1DE"/>
          </a:solidFill>
          <a:ln w="12700">
            <a:solidFill>
              <a:srgbClr val="DDE1DE"/>
            </a:solidFill>
            <a:prstDash val="solid"/>
          </a:ln>
        </p:spPr>
      </p:sp>
      <p:pic>
        <p:nvPicPr>
          <p:cNvPr id="12" name="Image 0" descr="C:\Users\KAWIN\AppData\Local\Temp\claude\C--Users-KAWIN\d7b2766c-ebc3-4c65-a6d5-4ec78576fc05\scratchpad\ui\deckshots\trips.png">    </p:cNvPr>
          <p:cNvPicPr>
            <a:picLocks noChangeAspect="1"/>
          </p:cNvPicPr>
          <p:nvPr/>
        </p:nvPicPr>
        <p:blipFill>
          <a:blip r:embed="rId1"/>
          <a:stretch>
            <a:fillRect/>
          </a:stretch>
        </p:blipFill>
        <p:spPr>
          <a:xfrm>
            <a:off x="6035040" y="1498600"/>
            <a:ext cx="5852160" cy="3495040"/>
          </a:xfrm>
          <a:prstGeom prst="rect">
            <a:avLst/>
          </a:prstGeom>
        </p:spPr>
      </p:pic>
      <p:sp>
        <p:nvSpPr>
          <p:cNvPr id="13" name="Text 10"/>
          <p:cNvSpPr txBox="1"/>
          <p:nvPr/>
        </p:nvSpPr>
        <p:spPr>
          <a:xfrm>
            <a:off x="6035040" y="5130800"/>
            <a:ext cx="5852160" cy="274320"/>
          </a:xfrm>
          <a:prstGeom prst="rect">
            <a:avLst/>
          </a:prstGeom>
          <a:noFill/>
          <a:ln/>
        </p:spPr>
        <p:txBody>
          <a:bodyPr wrap="square" lIns="0" tIns="0" rIns="0" bIns="0" rtlCol="0" anchor="t"/>
          <a:lstStyle/>
          <a:p>
            <a:pPr indent="0" marL="0">
              <a:buNone/>
            </a:pPr>
            <a:r>
              <a:rPr lang="en-US" sz="1100" dirty="0">
                <a:solidFill>
                  <a:srgbClr val="5D6560"/>
                </a:solidFill>
                <a:latin typeface="Calibri" pitchFamily="34" charset="0"/>
                <a:ea typeface="Calibri" pitchFamily="34" charset="-122"/>
                <a:cs typeface="Calibri" pitchFamily="34" charset="-120"/>
              </a:rPr>
              <a:t>Live trip tracking screen from the working application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t"/>
          <a:lstStyle/>
          <a:p>
            <a:pPr indent="0" marL="0">
              <a:buNone/>
            </a:pPr>
            <a:r>
              <a:rPr lang="en-US" sz="1200" b="1" spc="200" kern="0" dirty="0">
                <a:solidFill>
                  <a:srgbClr val="1F4D3A"/>
                </a:solidFill>
                <a:latin typeface="Calibri" pitchFamily="34" charset="0"/>
                <a:ea typeface="Calibri" pitchFamily="34" charset="-122"/>
                <a:cs typeface="Calibri" pitchFamily="34" charset="-120"/>
              </a:rPr>
              <a:t>THE PROBLEM</a:t>
            </a:r>
            <a:endParaRPr lang="en-US" sz="1200" dirty="0"/>
          </a:p>
        </p:txBody>
      </p:sp>
      <p:sp>
        <p:nvSpPr>
          <p:cNvPr id="3" name="Text 1"/>
          <p:cNvSpPr txBox="1"/>
          <p:nvPr/>
        </p:nvSpPr>
        <p:spPr>
          <a:xfrm>
            <a:off x="548640" y="658368"/>
            <a:ext cx="11064240" cy="594360"/>
          </a:xfrm>
          <a:prstGeom prst="rect">
            <a:avLst/>
          </a:prstGeom>
          <a:noFill/>
          <a:ln/>
        </p:spPr>
        <p:txBody>
          <a:bodyPr wrap="square" lIns="0" tIns="0" rIns="0" bIns="0" rtlCol="0" anchor="t"/>
          <a:lstStyle/>
          <a:p>
            <a:pPr indent="0" marL="0">
              <a:buNone/>
            </a:pPr>
            <a:r>
              <a:rPr lang="en-US" sz="3000" b="1" dirty="0">
                <a:solidFill>
                  <a:srgbClr val="24292A"/>
                </a:solidFill>
                <a:latin typeface="Calibri" pitchFamily="34" charset="0"/>
                <a:ea typeface="Calibri" pitchFamily="34" charset="-122"/>
                <a:cs typeface="Calibri" pitchFamily="34" charset="-120"/>
              </a:rPr>
              <a:t>Campus shuttles run without visibility</a:t>
            </a:r>
            <a:endParaRPr lang="en-US" sz="3000" dirty="0"/>
          </a:p>
        </p:txBody>
      </p:sp>
      <p:sp>
        <p:nvSpPr>
          <p:cNvPr id="4" name="Text 2"/>
          <p:cNvSpPr txBox="1"/>
          <p:nvPr/>
        </p:nvSpPr>
        <p:spPr>
          <a:xfrm>
            <a:off x="548640" y="1600200"/>
            <a:ext cx="4206240" cy="2926080"/>
          </a:xfrm>
          <a:prstGeom prst="rect">
            <a:avLst/>
          </a:prstGeom>
          <a:noFill/>
          <a:ln/>
        </p:spPr>
        <p:txBody>
          <a:bodyPr wrap="square" lIns="0" tIns="0" rIns="0" bIns="0" rtlCol="0" anchor="t"/>
          <a:lstStyle/>
          <a:p>
            <a:pPr indent="0" marL="0">
              <a:lnSpc>
                <a:spcPct val="115000"/>
              </a:lnSpc>
              <a:buNone/>
            </a:pPr>
            <a:r>
              <a:rPr lang="en-US" sz="1800" dirty="0">
                <a:solidFill>
                  <a:srgbClr val="24292A"/>
                </a:solidFill>
                <a:latin typeface="Calibri" pitchFamily="34" charset="0"/>
                <a:ea typeface="Calibri" pitchFamily="34" charset="-122"/>
                <a:cs typeface="Calibri" pitchFamily="34" charset="-120"/>
              </a:rPr>
              <a:t>Students wait at stops without knowing where the electric shuttle is, when it will arrive, or whether it has room. The transport office tracks vehicles, routes and passenger loads through spreadsheets and phone calls, so problems are noticed late.</a:t>
            </a:r>
            <a:endParaRPr lang="en-US" sz="1800" dirty="0"/>
          </a:p>
        </p:txBody>
      </p:sp>
      <p:sp>
        <p:nvSpPr>
          <p:cNvPr id="5" name="Shape 3"/>
          <p:cNvSpPr/>
          <p:nvPr/>
        </p:nvSpPr>
        <p:spPr>
          <a:xfrm>
            <a:off x="5257800" y="1600200"/>
            <a:ext cx="3017520" cy="2011680"/>
          </a:xfrm>
          <a:prstGeom prst="rect">
            <a:avLst/>
          </a:prstGeom>
          <a:solidFill>
            <a:srgbClr val="F5F6F5"/>
          </a:solidFill>
          <a:ln w="9525">
            <a:solidFill>
              <a:srgbClr val="DDE1DE"/>
            </a:solidFill>
            <a:prstDash val="solid"/>
          </a:ln>
        </p:spPr>
      </p:sp>
      <p:sp>
        <p:nvSpPr>
          <p:cNvPr id="6" name="Text 4"/>
          <p:cNvSpPr txBox="1"/>
          <p:nvPr/>
        </p:nvSpPr>
        <p:spPr>
          <a:xfrm>
            <a:off x="5532120" y="1828800"/>
            <a:ext cx="914400" cy="411480"/>
          </a:xfrm>
          <a:prstGeom prst="rect">
            <a:avLst/>
          </a:prstGeom>
          <a:noFill/>
          <a:ln/>
        </p:spPr>
        <p:txBody>
          <a:bodyPr wrap="square" lIns="0" tIns="0" rIns="0" bIns="0" rtlCol="0" anchor="t"/>
          <a:lstStyle/>
          <a:p>
            <a:pPr indent="0" marL="0">
              <a:buNone/>
            </a:pPr>
            <a:r>
              <a:rPr lang="en-US" sz="2400" b="1" dirty="0">
                <a:solidFill>
                  <a:srgbClr val="1F4D3A"/>
                </a:solidFill>
                <a:latin typeface="Calibri" pitchFamily="34" charset="0"/>
                <a:ea typeface="Calibri" pitchFamily="34" charset="-122"/>
                <a:cs typeface="Calibri" pitchFamily="34" charset="-120"/>
              </a:rPr>
              <a:t>01</a:t>
            </a:r>
            <a:endParaRPr lang="en-US" sz="2400" dirty="0"/>
          </a:p>
        </p:txBody>
      </p:sp>
      <p:sp>
        <p:nvSpPr>
          <p:cNvPr id="7" name="Text 5"/>
          <p:cNvSpPr txBox="1"/>
          <p:nvPr/>
        </p:nvSpPr>
        <p:spPr>
          <a:xfrm>
            <a:off x="5532120" y="2313432"/>
            <a:ext cx="2560320" cy="320040"/>
          </a:xfrm>
          <a:prstGeom prst="rect">
            <a:avLst/>
          </a:prstGeom>
          <a:noFill/>
          <a:ln/>
        </p:spPr>
        <p:txBody>
          <a:bodyPr wrap="square" lIns="0" tIns="0" rIns="0" bIns="0" rtlCol="0" anchor="t"/>
          <a:lstStyle/>
          <a:p>
            <a:pPr indent="0" marL="0">
              <a:buNone/>
            </a:pPr>
            <a:r>
              <a:rPr lang="en-US" sz="1700" b="1" dirty="0">
                <a:solidFill>
                  <a:srgbClr val="24292A"/>
                </a:solidFill>
                <a:latin typeface="Calibri" pitchFamily="34" charset="0"/>
                <a:ea typeface="Calibri" pitchFamily="34" charset="-122"/>
                <a:cs typeface="Calibri" pitchFamily="34" charset="-120"/>
              </a:rPr>
              <a:t>No position or ETA</a:t>
            </a:r>
            <a:endParaRPr lang="en-US" sz="1700" dirty="0"/>
          </a:p>
        </p:txBody>
      </p:sp>
      <p:sp>
        <p:nvSpPr>
          <p:cNvPr id="8" name="Text 6"/>
          <p:cNvSpPr txBox="1"/>
          <p:nvPr/>
        </p:nvSpPr>
        <p:spPr>
          <a:xfrm>
            <a:off x="5532120" y="2670048"/>
            <a:ext cx="2560320" cy="822960"/>
          </a:xfrm>
          <a:prstGeom prst="rect">
            <a:avLst/>
          </a:prstGeom>
          <a:noFill/>
          <a:ln/>
        </p:spPr>
        <p:txBody>
          <a:bodyPr wrap="square" lIns="0" tIns="0" rIns="0" bIns="0" rtlCol="0" anchor="t"/>
          <a:lstStyle/>
          <a:p>
            <a:pPr indent="0" marL="0">
              <a:buNone/>
            </a:pPr>
            <a:r>
              <a:rPr lang="en-US" sz="1400" dirty="0">
                <a:solidFill>
                  <a:srgbClr val="5D6560"/>
                </a:solidFill>
                <a:latin typeface="Calibri" pitchFamily="34" charset="0"/>
                <a:ea typeface="Calibri" pitchFamily="34" charset="-122"/>
                <a:cs typeface="Calibri" pitchFamily="34" charset="-120"/>
              </a:rPr>
              <a:t>Students cannot see where a shuttle is or how long it will take to arrive.</a:t>
            </a:r>
            <a:endParaRPr lang="en-US" sz="1400" dirty="0"/>
          </a:p>
        </p:txBody>
      </p:sp>
      <p:sp>
        <p:nvSpPr>
          <p:cNvPr id="9" name="Shape 7"/>
          <p:cNvSpPr/>
          <p:nvPr/>
        </p:nvSpPr>
        <p:spPr>
          <a:xfrm>
            <a:off x="8503920" y="1600200"/>
            <a:ext cx="3017520" cy="2011680"/>
          </a:xfrm>
          <a:prstGeom prst="rect">
            <a:avLst/>
          </a:prstGeom>
          <a:solidFill>
            <a:srgbClr val="F5F6F5"/>
          </a:solidFill>
          <a:ln w="9525">
            <a:solidFill>
              <a:srgbClr val="DDE1DE"/>
            </a:solidFill>
            <a:prstDash val="solid"/>
          </a:ln>
        </p:spPr>
      </p:sp>
      <p:sp>
        <p:nvSpPr>
          <p:cNvPr id="10" name="Text 8"/>
          <p:cNvSpPr txBox="1"/>
          <p:nvPr/>
        </p:nvSpPr>
        <p:spPr>
          <a:xfrm>
            <a:off x="8778240" y="1828800"/>
            <a:ext cx="914400" cy="411480"/>
          </a:xfrm>
          <a:prstGeom prst="rect">
            <a:avLst/>
          </a:prstGeom>
          <a:noFill/>
          <a:ln/>
        </p:spPr>
        <p:txBody>
          <a:bodyPr wrap="square" lIns="0" tIns="0" rIns="0" bIns="0" rtlCol="0" anchor="t"/>
          <a:lstStyle/>
          <a:p>
            <a:pPr indent="0" marL="0">
              <a:buNone/>
            </a:pPr>
            <a:r>
              <a:rPr lang="en-US" sz="2400" b="1" dirty="0">
                <a:solidFill>
                  <a:srgbClr val="1F4D3A"/>
                </a:solidFill>
                <a:latin typeface="Calibri" pitchFamily="34" charset="0"/>
                <a:ea typeface="Calibri" pitchFamily="34" charset="-122"/>
                <a:cs typeface="Calibri" pitchFamily="34" charset="-120"/>
              </a:rPr>
              <a:t>02</a:t>
            </a:r>
            <a:endParaRPr lang="en-US" sz="2400" dirty="0"/>
          </a:p>
        </p:txBody>
      </p:sp>
      <p:sp>
        <p:nvSpPr>
          <p:cNvPr id="11" name="Text 9"/>
          <p:cNvSpPr txBox="1"/>
          <p:nvPr/>
        </p:nvSpPr>
        <p:spPr>
          <a:xfrm>
            <a:off x="8778240" y="2313432"/>
            <a:ext cx="2560320" cy="320040"/>
          </a:xfrm>
          <a:prstGeom prst="rect">
            <a:avLst/>
          </a:prstGeom>
          <a:noFill/>
          <a:ln/>
        </p:spPr>
        <p:txBody>
          <a:bodyPr wrap="square" lIns="0" tIns="0" rIns="0" bIns="0" rtlCol="0" anchor="t"/>
          <a:lstStyle/>
          <a:p>
            <a:pPr indent="0" marL="0">
              <a:buNone/>
            </a:pPr>
            <a:r>
              <a:rPr lang="en-US" sz="1700" b="1" dirty="0">
                <a:solidFill>
                  <a:srgbClr val="24292A"/>
                </a:solidFill>
                <a:latin typeface="Calibri" pitchFamily="34" charset="0"/>
                <a:ea typeface="Calibri" pitchFamily="34" charset="-122"/>
                <a:cs typeface="Calibri" pitchFamily="34" charset="-120"/>
              </a:rPr>
              <a:t>Unknown crowding</a:t>
            </a:r>
            <a:endParaRPr lang="en-US" sz="1700" dirty="0"/>
          </a:p>
        </p:txBody>
      </p:sp>
      <p:sp>
        <p:nvSpPr>
          <p:cNvPr id="12" name="Text 10"/>
          <p:cNvSpPr txBox="1"/>
          <p:nvPr/>
        </p:nvSpPr>
        <p:spPr>
          <a:xfrm>
            <a:off x="8778240" y="2670048"/>
            <a:ext cx="2560320" cy="822960"/>
          </a:xfrm>
          <a:prstGeom prst="rect">
            <a:avLst/>
          </a:prstGeom>
          <a:noFill/>
          <a:ln/>
        </p:spPr>
        <p:txBody>
          <a:bodyPr wrap="square" lIns="0" tIns="0" rIns="0" bIns="0" rtlCol="0" anchor="t"/>
          <a:lstStyle/>
          <a:p>
            <a:pPr indent="0" marL="0">
              <a:buNone/>
            </a:pPr>
            <a:r>
              <a:rPr lang="en-US" sz="1400" dirty="0">
                <a:solidFill>
                  <a:srgbClr val="5D6560"/>
                </a:solidFill>
                <a:latin typeface="Calibri" pitchFamily="34" charset="0"/>
                <a:ea typeface="Calibri" pitchFamily="34" charset="-122"/>
                <a:cs typeface="Calibri" pitchFamily="34" charset="-120"/>
              </a:rPr>
              <a:t>Overloaded shuttles are unsafe and drain the battery faster. Nobody knows until boarding.</a:t>
            </a:r>
            <a:endParaRPr lang="en-US" sz="1400" dirty="0"/>
          </a:p>
        </p:txBody>
      </p:sp>
      <p:sp>
        <p:nvSpPr>
          <p:cNvPr id="13" name="Shape 11"/>
          <p:cNvSpPr/>
          <p:nvPr/>
        </p:nvSpPr>
        <p:spPr>
          <a:xfrm>
            <a:off x="5257800" y="3840480"/>
            <a:ext cx="3017520" cy="2011680"/>
          </a:xfrm>
          <a:prstGeom prst="rect">
            <a:avLst/>
          </a:prstGeom>
          <a:solidFill>
            <a:srgbClr val="F5F6F5"/>
          </a:solidFill>
          <a:ln w="9525">
            <a:solidFill>
              <a:srgbClr val="DDE1DE"/>
            </a:solidFill>
            <a:prstDash val="solid"/>
          </a:ln>
        </p:spPr>
      </p:sp>
      <p:sp>
        <p:nvSpPr>
          <p:cNvPr id="14" name="Text 12"/>
          <p:cNvSpPr txBox="1"/>
          <p:nvPr/>
        </p:nvSpPr>
        <p:spPr>
          <a:xfrm>
            <a:off x="5532120" y="4069080"/>
            <a:ext cx="914400" cy="411480"/>
          </a:xfrm>
          <a:prstGeom prst="rect">
            <a:avLst/>
          </a:prstGeom>
          <a:noFill/>
          <a:ln/>
        </p:spPr>
        <p:txBody>
          <a:bodyPr wrap="square" lIns="0" tIns="0" rIns="0" bIns="0" rtlCol="0" anchor="t"/>
          <a:lstStyle/>
          <a:p>
            <a:pPr indent="0" marL="0">
              <a:buNone/>
            </a:pPr>
            <a:r>
              <a:rPr lang="en-US" sz="2400" b="1" dirty="0">
                <a:solidFill>
                  <a:srgbClr val="1F4D3A"/>
                </a:solidFill>
                <a:latin typeface="Calibri" pitchFamily="34" charset="0"/>
                <a:ea typeface="Calibri" pitchFamily="34" charset="-122"/>
                <a:cs typeface="Calibri" pitchFamily="34" charset="-120"/>
              </a:rPr>
              <a:t>03</a:t>
            </a:r>
            <a:endParaRPr lang="en-US" sz="2400" dirty="0"/>
          </a:p>
        </p:txBody>
      </p:sp>
      <p:sp>
        <p:nvSpPr>
          <p:cNvPr id="15" name="Text 13"/>
          <p:cNvSpPr txBox="1"/>
          <p:nvPr/>
        </p:nvSpPr>
        <p:spPr>
          <a:xfrm>
            <a:off x="5532120" y="4553712"/>
            <a:ext cx="2560320" cy="320040"/>
          </a:xfrm>
          <a:prstGeom prst="rect">
            <a:avLst/>
          </a:prstGeom>
          <a:noFill/>
          <a:ln/>
        </p:spPr>
        <p:txBody>
          <a:bodyPr wrap="square" lIns="0" tIns="0" rIns="0" bIns="0" rtlCol="0" anchor="t"/>
          <a:lstStyle/>
          <a:p>
            <a:pPr indent="0" marL="0">
              <a:buNone/>
            </a:pPr>
            <a:r>
              <a:rPr lang="en-US" sz="1700" b="1" dirty="0">
                <a:solidFill>
                  <a:srgbClr val="24292A"/>
                </a:solidFill>
                <a:latin typeface="Calibri" pitchFamily="34" charset="0"/>
                <a:ea typeface="Calibri" pitchFamily="34" charset="-122"/>
                <a:cs typeface="Calibri" pitchFamily="34" charset="-120"/>
              </a:rPr>
              <a:t>Scattered fleet records</a:t>
            </a:r>
            <a:endParaRPr lang="en-US" sz="1700" dirty="0"/>
          </a:p>
        </p:txBody>
      </p:sp>
      <p:sp>
        <p:nvSpPr>
          <p:cNvPr id="16" name="Text 14"/>
          <p:cNvSpPr txBox="1"/>
          <p:nvPr/>
        </p:nvSpPr>
        <p:spPr>
          <a:xfrm>
            <a:off x="5532120" y="4910328"/>
            <a:ext cx="2560320" cy="822960"/>
          </a:xfrm>
          <a:prstGeom prst="rect">
            <a:avLst/>
          </a:prstGeom>
          <a:noFill/>
          <a:ln/>
        </p:spPr>
        <p:txBody>
          <a:bodyPr wrap="square" lIns="0" tIns="0" rIns="0" bIns="0" rtlCol="0" anchor="t"/>
          <a:lstStyle/>
          <a:p>
            <a:pPr indent="0" marL="0">
              <a:buNone/>
            </a:pPr>
            <a:r>
              <a:rPr lang="en-US" sz="1400" dirty="0">
                <a:solidFill>
                  <a:srgbClr val="5D6560"/>
                </a:solidFill>
                <a:latin typeface="Calibri" pitchFamily="34" charset="0"/>
                <a:ea typeface="Calibri" pitchFamily="34" charset="-122"/>
                <a:cs typeface="Calibri" pitchFamily="34" charset="-120"/>
              </a:rPr>
              <a:t>Capacity, battery level, status and route assignments are kept in separate sheets.</a:t>
            </a:r>
            <a:endParaRPr lang="en-US" sz="1400" dirty="0"/>
          </a:p>
        </p:txBody>
      </p:sp>
      <p:sp>
        <p:nvSpPr>
          <p:cNvPr id="17" name="Shape 15"/>
          <p:cNvSpPr/>
          <p:nvPr/>
        </p:nvSpPr>
        <p:spPr>
          <a:xfrm>
            <a:off x="8503920" y="3840480"/>
            <a:ext cx="3017520" cy="2011680"/>
          </a:xfrm>
          <a:prstGeom prst="rect">
            <a:avLst/>
          </a:prstGeom>
          <a:solidFill>
            <a:srgbClr val="F5F6F5"/>
          </a:solidFill>
          <a:ln w="9525">
            <a:solidFill>
              <a:srgbClr val="DDE1DE"/>
            </a:solidFill>
            <a:prstDash val="solid"/>
          </a:ln>
        </p:spPr>
      </p:sp>
      <p:sp>
        <p:nvSpPr>
          <p:cNvPr id="18" name="Text 16"/>
          <p:cNvSpPr txBox="1"/>
          <p:nvPr/>
        </p:nvSpPr>
        <p:spPr>
          <a:xfrm>
            <a:off x="8778240" y="4069080"/>
            <a:ext cx="914400" cy="411480"/>
          </a:xfrm>
          <a:prstGeom prst="rect">
            <a:avLst/>
          </a:prstGeom>
          <a:noFill/>
          <a:ln/>
        </p:spPr>
        <p:txBody>
          <a:bodyPr wrap="square" lIns="0" tIns="0" rIns="0" bIns="0" rtlCol="0" anchor="t"/>
          <a:lstStyle/>
          <a:p>
            <a:pPr indent="0" marL="0">
              <a:buNone/>
            </a:pPr>
            <a:r>
              <a:rPr lang="en-US" sz="2400" b="1" dirty="0">
                <a:solidFill>
                  <a:srgbClr val="1F4D3A"/>
                </a:solidFill>
                <a:latin typeface="Calibri" pitchFamily="34" charset="0"/>
                <a:ea typeface="Calibri" pitchFamily="34" charset="-122"/>
                <a:cs typeface="Calibri" pitchFamily="34" charset="-120"/>
              </a:rPr>
              <a:t>04</a:t>
            </a:r>
            <a:endParaRPr lang="en-US" sz="2400" dirty="0"/>
          </a:p>
        </p:txBody>
      </p:sp>
      <p:sp>
        <p:nvSpPr>
          <p:cNvPr id="19" name="Text 17"/>
          <p:cNvSpPr txBox="1"/>
          <p:nvPr/>
        </p:nvSpPr>
        <p:spPr>
          <a:xfrm>
            <a:off x="8778240" y="4553712"/>
            <a:ext cx="2560320" cy="320040"/>
          </a:xfrm>
          <a:prstGeom prst="rect">
            <a:avLst/>
          </a:prstGeom>
          <a:noFill/>
          <a:ln/>
        </p:spPr>
        <p:txBody>
          <a:bodyPr wrap="square" lIns="0" tIns="0" rIns="0" bIns="0" rtlCol="0" anchor="t"/>
          <a:lstStyle/>
          <a:p>
            <a:pPr indent="0" marL="0">
              <a:buNone/>
            </a:pPr>
            <a:r>
              <a:rPr lang="en-US" sz="1700" b="1" dirty="0">
                <a:solidFill>
                  <a:srgbClr val="24292A"/>
                </a:solidFill>
                <a:latin typeface="Calibri" pitchFamily="34" charset="0"/>
                <a:ea typeface="Calibri" pitchFamily="34" charset="-122"/>
                <a:cs typeface="Calibri" pitchFamily="34" charset="-120"/>
              </a:rPr>
              <a:t>Late reaction</a:t>
            </a:r>
            <a:endParaRPr lang="en-US" sz="1700" dirty="0"/>
          </a:p>
        </p:txBody>
      </p:sp>
      <p:sp>
        <p:nvSpPr>
          <p:cNvPr id="20" name="Text 18"/>
          <p:cNvSpPr txBox="1"/>
          <p:nvPr/>
        </p:nvSpPr>
        <p:spPr>
          <a:xfrm>
            <a:off x="8778240" y="4910328"/>
            <a:ext cx="2560320" cy="822960"/>
          </a:xfrm>
          <a:prstGeom prst="rect">
            <a:avLst/>
          </a:prstGeom>
          <a:noFill/>
          <a:ln/>
        </p:spPr>
        <p:txBody>
          <a:bodyPr wrap="square" lIns="0" tIns="0" rIns="0" bIns="0" rtlCol="0" anchor="t"/>
          <a:lstStyle/>
          <a:p>
            <a:pPr indent="0" marL="0">
              <a:buNone/>
            </a:pPr>
            <a:r>
              <a:rPr lang="en-US" sz="1400" dirty="0">
                <a:solidFill>
                  <a:srgbClr val="5D6560"/>
                </a:solidFill>
                <a:latin typeface="Calibri" pitchFamily="34" charset="0"/>
                <a:ea typeface="Calibri" pitchFamily="34" charset="-122"/>
                <a:cs typeface="Calibri" pitchFamily="34" charset="-120"/>
              </a:rPr>
              <a:t>Delays and lost tracking are found only after students complain.</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D656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t"/>
          <a:lstStyle/>
          <a:p>
            <a:pPr indent="0" marL="0">
              <a:buNone/>
            </a:pPr>
            <a:r>
              <a:rPr lang="en-US" sz="1200" b="1" spc="200" kern="0" dirty="0">
                <a:solidFill>
                  <a:srgbClr val="1F4D3A"/>
                </a:solidFill>
                <a:latin typeface="Calibri" pitchFamily="34" charset="0"/>
                <a:ea typeface="Calibri" pitchFamily="34" charset="-122"/>
                <a:cs typeface="Calibri" pitchFamily="34" charset="-120"/>
              </a:rPr>
              <a:t>THE SOLUTION</a:t>
            </a:r>
            <a:endParaRPr lang="en-US" sz="1200" dirty="0"/>
          </a:p>
        </p:txBody>
      </p:sp>
      <p:sp>
        <p:nvSpPr>
          <p:cNvPr id="3" name="Text 1"/>
          <p:cNvSpPr txBox="1"/>
          <p:nvPr/>
        </p:nvSpPr>
        <p:spPr>
          <a:xfrm>
            <a:off x="548640" y="658368"/>
            <a:ext cx="11064240" cy="594360"/>
          </a:xfrm>
          <a:prstGeom prst="rect">
            <a:avLst/>
          </a:prstGeom>
          <a:noFill/>
          <a:ln/>
        </p:spPr>
        <p:txBody>
          <a:bodyPr wrap="square" lIns="0" tIns="0" rIns="0" bIns="0" rtlCol="0" anchor="t"/>
          <a:lstStyle/>
          <a:p>
            <a:pPr indent="0" marL="0">
              <a:buNone/>
            </a:pPr>
            <a:r>
              <a:rPr lang="en-US" sz="3000" b="1" dirty="0">
                <a:solidFill>
                  <a:srgbClr val="24292A"/>
                </a:solidFill>
                <a:latin typeface="Calibri" pitchFamily="34" charset="0"/>
                <a:ea typeface="Calibri" pitchFamily="34" charset="-122"/>
                <a:cs typeface="Calibri" pitchFamily="34" charset="-120"/>
              </a:rPr>
              <a:t>One dashboard backed by four Spring Boot services</a:t>
            </a:r>
            <a:endParaRPr lang="en-US" sz="3000" dirty="0"/>
          </a:p>
        </p:txBody>
      </p:sp>
      <p:sp>
        <p:nvSpPr>
          <p:cNvPr id="4" name="Text 2"/>
          <p:cNvSpPr txBox="1"/>
          <p:nvPr/>
        </p:nvSpPr>
        <p:spPr>
          <a:xfrm>
            <a:off x="548640" y="1371600"/>
            <a:ext cx="11064240" cy="640080"/>
          </a:xfrm>
          <a:prstGeom prst="rect">
            <a:avLst/>
          </a:prstGeom>
          <a:noFill/>
          <a:ln/>
        </p:spPr>
        <p:txBody>
          <a:bodyPr wrap="square" lIns="0" tIns="0" rIns="0" bIns="0" rtlCol="0" anchor="t"/>
          <a:lstStyle/>
          <a:p>
            <a:pPr indent="0" marL="0">
              <a:buNone/>
            </a:pPr>
            <a:r>
              <a:rPr lang="en-US" sz="1600" dirty="0">
                <a:solidFill>
                  <a:srgbClr val="5D6560"/>
                </a:solidFill>
                <a:latin typeface="Calibri" pitchFamily="34" charset="0"/>
                <a:ea typeface="Calibri" pitchFamily="34" charset="-122"/>
                <a:cs typeface="Calibri" pitchFamily="34" charset="-120"/>
              </a:rPr>
              <a:t>CampusVolt splits the work into three business services and one shared authentication service. Each owns its own PostgreSQL database. The React website calls them directly over REST.</a:t>
            </a:r>
            <a:endParaRPr lang="en-US" sz="1600" dirty="0"/>
          </a:p>
        </p:txBody>
      </p:sp>
      <p:sp>
        <p:nvSpPr>
          <p:cNvPr id="5" name="Shape 3"/>
          <p:cNvSpPr/>
          <p:nvPr/>
        </p:nvSpPr>
        <p:spPr>
          <a:xfrm>
            <a:off x="548640" y="2240280"/>
            <a:ext cx="2066544" cy="3611880"/>
          </a:xfrm>
          <a:prstGeom prst="rect">
            <a:avLst/>
          </a:prstGeom>
          <a:solidFill>
            <a:srgbClr val="E6F4EC"/>
          </a:solidFill>
          <a:ln w="12700">
            <a:solidFill>
              <a:srgbClr val="BFE6CF"/>
            </a:solidFill>
            <a:prstDash val="solid"/>
          </a:ln>
        </p:spPr>
      </p:sp>
      <p:sp>
        <p:nvSpPr>
          <p:cNvPr id="6" name="Text 4"/>
          <p:cNvSpPr txBox="1"/>
          <p:nvPr/>
        </p:nvSpPr>
        <p:spPr>
          <a:xfrm>
            <a:off x="731520" y="2441448"/>
            <a:ext cx="1700784" cy="228600"/>
          </a:xfrm>
          <a:prstGeom prst="rect">
            <a:avLst/>
          </a:prstGeom>
          <a:noFill/>
          <a:ln/>
        </p:spPr>
        <p:txBody>
          <a:bodyPr wrap="square" lIns="0" tIns="0" rIns="0" bIns="0" rtlCol="0" anchor="t"/>
          <a:lstStyle/>
          <a:p>
            <a:pPr indent="0" marL="0">
              <a:buNone/>
            </a:pPr>
            <a:r>
              <a:rPr lang="en-US" sz="1000" b="1" spc="100" kern="0" dirty="0">
                <a:solidFill>
                  <a:srgbClr val="1F4D3A"/>
                </a:solidFill>
                <a:latin typeface="Calibri" pitchFamily="34" charset="0"/>
                <a:ea typeface="Calibri" pitchFamily="34" charset="-122"/>
                <a:cs typeface="Calibri" pitchFamily="34" charset="-120"/>
              </a:rPr>
              <a:t>BUSINESS SERVICE</a:t>
            </a:r>
            <a:endParaRPr lang="en-US" sz="1000" dirty="0"/>
          </a:p>
        </p:txBody>
      </p:sp>
      <p:sp>
        <p:nvSpPr>
          <p:cNvPr id="7" name="Text 5"/>
          <p:cNvSpPr txBox="1"/>
          <p:nvPr/>
        </p:nvSpPr>
        <p:spPr>
          <a:xfrm>
            <a:off x="731520" y="2715768"/>
            <a:ext cx="1700784" cy="685800"/>
          </a:xfrm>
          <a:prstGeom prst="rect">
            <a:avLst/>
          </a:prstGeom>
          <a:noFill/>
          <a:ln/>
        </p:spPr>
        <p:txBody>
          <a:bodyPr wrap="square" lIns="0" tIns="0" rIns="0" bIns="0" rtlCol="0" anchor="t"/>
          <a:lstStyle/>
          <a:p>
            <a:pPr indent="0" marL="0">
              <a:buNone/>
            </a:pPr>
            <a:r>
              <a:rPr lang="en-US" sz="1700" b="1" dirty="0">
                <a:solidFill>
                  <a:srgbClr val="24292A"/>
                </a:solidFill>
                <a:latin typeface="Calibri" pitchFamily="34" charset="0"/>
                <a:ea typeface="Calibri" pitchFamily="34" charset="-122"/>
                <a:cs typeface="Calibri" pitchFamily="34" charset="-120"/>
              </a:rPr>
              <a:t>Fleet &amp; Route Service</a:t>
            </a:r>
            <a:endParaRPr lang="en-US" sz="1700" dirty="0"/>
          </a:p>
        </p:txBody>
      </p:sp>
      <p:sp>
        <p:nvSpPr>
          <p:cNvPr id="8" name="Text 6"/>
          <p:cNvSpPr txBox="1"/>
          <p:nvPr/>
        </p:nvSpPr>
        <p:spPr>
          <a:xfrm>
            <a:off x="731520" y="3447288"/>
            <a:ext cx="1700784" cy="502920"/>
          </a:xfrm>
          <a:prstGeom prst="rect">
            <a:avLst/>
          </a:prstGeom>
          <a:noFill/>
          <a:ln/>
        </p:spPr>
        <p:txBody>
          <a:bodyPr wrap="square" lIns="0" tIns="0" rIns="0" bIns="0" rtlCol="0" anchor="t"/>
          <a:lstStyle/>
          <a:p>
            <a:pPr indent="0" marL="0">
              <a:buNone/>
            </a:pPr>
            <a:r>
              <a:rPr lang="en-US" sz="1400" b="1" dirty="0">
                <a:solidFill>
                  <a:srgbClr val="1F4D3A"/>
                </a:solidFill>
                <a:latin typeface="Calibri" pitchFamily="34" charset="0"/>
                <a:ea typeface="Calibri" pitchFamily="34" charset="-122"/>
                <a:cs typeface="Calibri" pitchFamily="34" charset="-120"/>
              </a:rPr>
              <a:t>Kawin A N</a:t>
            </a:r>
            <a:endParaRPr lang="en-US" sz="1400" dirty="0"/>
          </a:p>
        </p:txBody>
      </p:sp>
      <p:sp>
        <p:nvSpPr>
          <p:cNvPr id="9" name="Text 7"/>
          <p:cNvSpPr txBox="1"/>
          <p:nvPr/>
        </p:nvSpPr>
        <p:spPr>
          <a:xfrm>
            <a:off x="731520" y="3931920"/>
            <a:ext cx="1700784" cy="274320"/>
          </a:xfrm>
          <a:prstGeom prst="rect">
            <a:avLst/>
          </a:prstGeom>
          <a:noFill/>
          <a:ln/>
        </p:spPr>
        <p:txBody>
          <a:bodyPr wrap="square" lIns="0" tIns="0" rIns="0" bIns="0" rtlCol="0" anchor="t"/>
          <a:lstStyle/>
          <a:p>
            <a:pPr indent="0" marL="0">
              <a:buNone/>
            </a:pPr>
            <a:r>
              <a:rPr lang="en-US" sz="1200" dirty="0">
                <a:solidFill>
                  <a:srgbClr val="5D6560"/>
                </a:solidFill>
                <a:latin typeface="Calibri" pitchFamily="34" charset="0"/>
                <a:ea typeface="Calibri" pitchFamily="34" charset="-122"/>
                <a:cs typeface="Calibri" pitchFamily="34" charset="-120"/>
              </a:rPr>
              <a:t>Port :8082</a:t>
            </a:r>
            <a:endParaRPr lang="en-US" sz="1200" dirty="0"/>
          </a:p>
        </p:txBody>
      </p:sp>
      <p:sp>
        <p:nvSpPr>
          <p:cNvPr id="10" name="Text 8"/>
          <p:cNvSpPr txBox="1"/>
          <p:nvPr/>
        </p:nvSpPr>
        <p:spPr>
          <a:xfrm>
            <a:off x="731520" y="4297680"/>
            <a:ext cx="1700784" cy="1463040"/>
          </a:xfrm>
          <a:prstGeom prst="rect">
            <a:avLst/>
          </a:prstGeom>
          <a:noFill/>
          <a:ln/>
        </p:spPr>
        <p:txBody>
          <a:bodyPr wrap="square" lIns="0" tIns="0" rIns="0" bIns="0" rtlCol="0" anchor="t"/>
          <a:lstStyle/>
          <a:p>
            <a:pPr indent="0" marL="0">
              <a:buNone/>
            </a:pPr>
            <a:r>
              <a:rPr lang="en-US" sz="1400" dirty="0">
                <a:solidFill>
                  <a:srgbClr val="24292A"/>
                </a:solidFill>
                <a:latin typeface="Calibri" pitchFamily="34" charset="0"/>
                <a:ea typeface="Calibri" pitchFamily="34" charset="-122"/>
                <a:cs typeface="Calibri" pitchFamily="34" charset="-120"/>
              </a:rPr>
              <a:t>Vehicles, capacity, battery, status, routes, stops and vehicle-to-route assignment.</a:t>
            </a:r>
            <a:endParaRPr lang="en-US" sz="1400" dirty="0"/>
          </a:p>
        </p:txBody>
      </p:sp>
      <p:sp>
        <p:nvSpPr>
          <p:cNvPr id="11" name="Shape 9"/>
          <p:cNvSpPr/>
          <p:nvPr/>
        </p:nvSpPr>
        <p:spPr>
          <a:xfrm>
            <a:off x="2798064" y="2240280"/>
            <a:ext cx="2066544" cy="3611880"/>
          </a:xfrm>
          <a:prstGeom prst="rect">
            <a:avLst/>
          </a:prstGeom>
          <a:solidFill>
            <a:srgbClr val="E6F4EC"/>
          </a:solidFill>
          <a:ln w="12700">
            <a:solidFill>
              <a:srgbClr val="BFE6CF"/>
            </a:solidFill>
            <a:prstDash val="solid"/>
          </a:ln>
        </p:spPr>
      </p:sp>
      <p:sp>
        <p:nvSpPr>
          <p:cNvPr id="12" name="Text 10"/>
          <p:cNvSpPr txBox="1"/>
          <p:nvPr/>
        </p:nvSpPr>
        <p:spPr>
          <a:xfrm>
            <a:off x="2980944" y="2441448"/>
            <a:ext cx="1700784" cy="228600"/>
          </a:xfrm>
          <a:prstGeom prst="rect">
            <a:avLst/>
          </a:prstGeom>
          <a:noFill/>
          <a:ln/>
        </p:spPr>
        <p:txBody>
          <a:bodyPr wrap="square" lIns="0" tIns="0" rIns="0" bIns="0" rtlCol="0" anchor="t"/>
          <a:lstStyle/>
          <a:p>
            <a:pPr indent="0" marL="0">
              <a:buNone/>
            </a:pPr>
            <a:r>
              <a:rPr lang="en-US" sz="1000" b="1" spc="100" kern="0" dirty="0">
                <a:solidFill>
                  <a:srgbClr val="1F4D3A"/>
                </a:solidFill>
                <a:latin typeface="Calibri" pitchFamily="34" charset="0"/>
                <a:ea typeface="Calibri" pitchFamily="34" charset="-122"/>
                <a:cs typeface="Calibri" pitchFamily="34" charset="-120"/>
              </a:rPr>
              <a:t>BUSINESS SERVICE</a:t>
            </a:r>
            <a:endParaRPr lang="en-US" sz="1000" dirty="0"/>
          </a:p>
        </p:txBody>
      </p:sp>
      <p:sp>
        <p:nvSpPr>
          <p:cNvPr id="13" name="Text 11"/>
          <p:cNvSpPr txBox="1"/>
          <p:nvPr/>
        </p:nvSpPr>
        <p:spPr>
          <a:xfrm>
            <a:off x="2980944" y="2715768"/>
            <a:ext cx="1700784" cy="685800"/>
          </a:xfrm>
          <a:prstGeom prst="rect">
            <a:avLst/>
          </a:prstGeom>
          <a:noFill/>
          <a:ln/>
        </p:spPr>
        <p:txBody>
          <a:bodyPr wrap="square" lIns="0" tIns="0" rIns="0" bIns="0" rtlCol="0" anchor="t"/>
          <a:lstStyle/>
          <a:p>
            <a:pPr indent="0" marL="0">
              <a:buNone/>
            </a:pPr>
            <a:r>
              <a:rPr lang="en-US" sz="1700" b="1" dirty="0">
                <a:solidFill>
                  <a:srgbClr val="24292A"/>
                </a:solidFill>
                <a:latin typeface="Calibri" pitchFamily="34" charset="0"/>
                <a:ea typeface="Calibri" pitchFamily="34" charset="-122"/>
                <a:cs typeface="Calibri" pitchFamily="34" charset="-120"/>
              </a:rPr>
              <a:t>Trip &amp; Tracking Service</a:t>
            </a:r>
            <a:endParaRPr lang="en-US" sz="1700" dirty="0"/>
          </a:p>
        </p:txBody>
      </p:sp>
      <p:sp>
        <p:nvSpPr>
          <p:cNvPr id="14" name="Text 12"/>
          <p:cNvSpPr txBox="1"/>
          <p:nvPr/>
        </p:nvSpPr>
        <p:spPr>
          <a:xfrm>
            <a:off x="2980944" y="3447288"/>
            <a:ext cx="1700784" cy="502920"/>
          </a:xfrm>
          <a:prstGeom prst="rect">
            <a:avLst/>
          </a:prstGeom>
          <a:noFill/>
          <a:ln/>
        </p:spPr>
        <p:txBody>
          <a:bodyPr wrap="square" lIns="0" tIns="0" rIns="0" bIns="0" rtlCol="0" anchor="t"/>
          <a:lstStyle/>
          <a:p>
            <a:pPr indent="0" marL="0">
              <a:buNone/>
            </a:pPr>
            <a:r>
              <a:rPr lang="en-US" sz="1400" b="1" dirty="0">
                <a:solidFill>
                  <a:srgbClr val="1F4D3A"/>
                </a:solidFill>
                <a:latin typeface="Calibri" pitchFamily="34" charset="0"/>
                <a:ea typeface="Calibri" pitchFamily="34" charset="-122"/>
                <a:cs typeface="Calibri" pitchFamily="34" charset="-120"/>
              </a:rPr>
              <a:t>Shankararam S U</a:t>
            </a:r>
            <a:endParaRPr lang="en-US" sz="1400" dirty="0"/>
          </a:p>
        </p:txBody>
      </p:sp>
      <p:sp>
        <p:nvSpPr>
          <p:cNvPr id="15" name="Text 13"/>
          <p:cNvSpPr txBox="1"/>
          <p:nvPr/>
        </p:nvSpPr>
        <p:spPr>
          <a:xfrm>
            <a:off x="2980944" y="3931920"/>
            <a:ext cx="1700784" cy="274320"/>
          </a:xfrm>
          <a:prstGeom prst="rect">
            <a:avLst/>
          </a:prstGeom>
          <a:noFill/>
          <a:ln/>
        </p:spPr>
        <p:txBody>
          <a:bodyPr wrap="square" lIns="0" tIns="0" rIns="0" bIns="0" rtlCol="0" anchor="t"/>
          <a:lstStyle/>
          <a:p>
            <a:pPr indent="0" marL="0">
              <a:buNone/>
            </a:pPr>
            <a:r>
              <a:rPr lang="en-US" sz="1200" dirty="0">
                <a:solidFill>
                  <a:srgbClr val="5D6560"/>
                </a:solidFill>
                <a:latin typeface="Calibri" pitchFamily="34" charset="0"/>
                <a:ea typeface="Calibri" pitchFamily="34" charset="-122"/>
                <a:cs typeface="Calibri" pitchFamily="34" charset="-120"/>
              </a:rPr>
              <a:t>Port :8083</a:t>
            </a:r>
            <a:endParaRPr lang="en-US" sz="1200" dirty="0"/>
          </a:p>
        </p:txBody>
      </p:sp>
      <p:sp>
        <p:nvSpPr>
          <p:cNvPr id="16" name="Text 14"/>
          <p:cNvSpPr txBox="1"/>
          <p:nvPr/>
        </p:nvSpPr>
        <p:spPr>
          <a:xfrm>
            <a:off x="2980944" y="4297680"/>
            <a:ext cx="1700784" cy="1463040"/>
          </a:xfrm>
          <a:prstGeom prst="rect">
            <a:avLst/>
          </a:prstGeom>
          <a:noFill/>
          <a:ln/>
        </p:spPr>
        <p:txBody>
          <a:bodyPr wrap="square" lIns="0" tIns="0" rIns="0" bIns="0" rtlCol="0" anchor="t"/>
          <a:lstStyle/>
          <a:p>
            <a:pPr indent="0" marL="0">
              <a:buNone/>
            </a:pPr>
            <a:r>
              <a:rPr lang="en-US" sz="1400" dirty="0">
                <a:solidFill>
                  <a:srgbClr val="24292A"/>
                </a:solidFill>
                <a:latin typeface="Calibri" pitchFamily="34" charset="0"/>
                <a:ea typeface="Calibri" pitchFamily="34" charset="-122"/>
                <a:cs typeface="Calibri" pitchFamily="34" charset="-120"/>
              </a:rPr>
              <a:t>Trip scheduling and status, simulated GPS movement, delay detection and ETA.</a:t>
            </a:r>
            <a:endParaRPr lang="en-US" sz="1400" dirty="0"/>
          </a:p>
        </p:txBody>
      </p:sp>
      <p:sp>
        <p:nvSpPr>
          <p:cNvPr id="17" name="Shape 15"/>
          <p:cNvSpPr/>
          <p:nvPr/>
        </p:nvSpPr>
        <p:spPr>
          <a:xfrm>
            <a:off x="5047488" y="2240280"/>
            <a:ext cx="2066544" cy="3611880"/>
          </a:xfrm>
          <a:prstGeom prst="rect">
            <a:avLst/>
          </a:prstGeom>
          <a:solidFill>
            <a:srgbClr val="E6F4EC"/>
          </a:solidFill>
          <a:ln w="12700">
            <a:solidFill>
              <a:srgbClr val="BFE6CF"/>
            </a:solidFill>
            <a:prstDash val="solid"/>
          </a:ln>
        </p:spPr>
      </p:sp>
      <p:sp>
        <p:nvSpPr>
          <p:cNvPr id="18" name="Text 16"/>
          <p:cNvSpPr txBox="1"/>
          <p:nvPr/>
        </p:nvSpPr>
        <p:spPr>
          <a:xfrm>
            <a:off x="5230368" y="2441448"/>
            <a:ext cx="1700784" cy="228600"/>
          </a:xfrm>
          <a:prstGeom prst="rect">
            <a:avLst/>
          </a:prstGeom>
          <a:noFill/>
          <a:ln/>
        </p:spPr>
        <p:txBody>
          <a:bodyPr wrap="square" lIns="0" tIns="0" rIns="0" bIns="0" rtlCol="0" anchor="t"/>
          <a:lstStyle/>
          <a:p>
            <a:pPr indent="0" marL="0">
              <a:buNone/>
            </a:pPr>
            <a:r>
              <a:rPr lang="en-US" sz="1000" b="1" spc="100" kern="0" dirty="0">
                <a:solidFill>
                  <a:srgbClr val="1F4D3A"/>
                </a:solidFill>
                <a:latin typeface="Calibri" pitchFamily="34" charset="0"/>
                <a:ea typeface="Calibri" pitchFamily="34" charset="-122"/>
                <a:cs typeface="Calibri" pitchFamily="34" charset="-120"/>
              </a:rPr>
              <a:t>BUSINESS SERVICE</a:t>
            </a:r>
            <a:endParaRPr lang="en-US" sz="1000" dirty="0"/>
          </a:p>
        </p:txBody>
      </p:sp>
      <p:sp>
        <p:nvSpPr>
          <p:cNvPr id="19" name="Text 17"/>
          <p:cNvSpPr txBox="1"/>
          <p:nvPr/>
        </p:nvSpPr>
        <p:spPr>
          <a:xfrm>
            <a:off x="5230368" y="2715768"/>
            <a:ext cx="1700784" cy="685800"/>
          </a:xfrm>
          <a:prstGeom prst="rect">
            <a:avLst/>
          </a:prstGeom>
          <a:noFill/>
          <a:ln/>
        </p:spPr>
        <p:txBody>
          <a:bodyPr wrap="square" lIns="0" tIns="0" rIns="0" bIns="0" rtlCol="0" anchor="t"/>
          <a:lstStyle/>
          <a:p>
            <a:pPr indent="0" marL="0">
              <a:buNone/>
            </a:pPr>
            <a:r>
              <a:rPr lang="en-US" sz="1700" b="1" dirty="0">
                <a:solidFill>
                  <a:srgbClr val="24292A"/>
                </a:solidFill>
                <a:latin typeface="Calibri" pitchFamily="34" charset="0"/>
                <a:ea typeface="Calibri" pitchFamily="34" charset="-122"/>
                <a:cs typeface="Calibri" pitchFamily="34" charset="-120"/>
              </a:rPr>
              <a:t>Occupancy &amp; Alert Service</a:t>
            </a:r>
            <a:endParaRPr lang="en-US" sz="1700" dirty="0"/>
          </a:p>
        </p:txBody>
      </p:sp>
      <p:sp>
        <p:nvSpPr>
          <p:cNvPr id="20" name="Text 18"/>
          <p:cNvSpPr txBox="1"/>
          <p:nvPr/>
        </p:nvSpPr>
        <p:spPr>
          <a:xfrm>
            <a:off x="5230368" y="3447288"/>
            <a:ext cx="1700784" cy="502920"/>
          </a:xfrm>
          <a:prstGeom prst="rect">
            <a:avLst/>
          </a:prstGeom>
          <a:noFill/>
          <a:ln/>
        </p:spPr>
        <p:txBody>
          <a:bodyPr wrap="square" lIns="0" tIns="0" rIns="0" bIns="0" rtlCol="0" anchor="t"/>
          <a:lstStyle/>
          <a:p>
            <a:pPr indent="0" marL="0">
              <a:buNone/>
            </a:pPr>
            <a:r>
              <a:rPr lang="en-US" sz="1400" b="1" dirty="0">
                <a:solidFill>
                  <a:srgbClr val="1F4D3A"/>
                </a:solidFill>
                <a:latin typeface="Calibri" pitchFamily="34" charset="0"/>
                <a:ea typeface="Calibri" pitchFamily="34" charset="-122"/>
                <a:cs typeface="Calibri" pitchFamily="34" charset="-120"/>
              </a:rPr>
              <a:t>Rohan Beniel E</a:t>
            </a:r>
            <a:endParaRPr lang="en-US" sz="1400" dirty="0"/>
          </a:p>
        </p:txBody>
      </p:sp>
      <p:sp>
        <p:nvSpPr>
          <p:cNvPr id="21" name="Text 19"/>
          <p:cNvSpPr txBox="1"/>
          <p:nvPr/>
        </p:nvSpPr>
        <p:spPr>
          <a:xfrm>
            <a:off x="5230368" y="3931920"/>
            <a:ext cx="1700784" cy="274320"/>
          </a:xfrm>
          <a:prstGeom prst="rect">
            <a:avLst/>
          </a:prstGeom>
          <a:noFill/>
          <a:ln/>
        </p:spPr>
        <p:txBody>
          <a:bodyPr wrap="square" lIns="0" tIns="0" rIns="0" bIns="0" rtlCol="0" anchor="t"/>
          <a:lstStyle/>
          <a:p>
            <a:pPr indent="0" marL="0">
              <a:buNone/>
            </a:pPr>
            <a:r>
              <a:rPr lang="en-US" sz="1200" dirty="0">
                <a:solidFill>
                  <a:srgbClr val="5D6560"/>
                </a:solidFill>
                <a:latin typeface="Calibri" pitchFamily="34" charset="0"/>
                <a:ea typeface="Calibri" pitchFamily="34" charset="-122"/>
                <a:cs typeface="Calibri" pitchFamily="34" charset="-120"/>
              </a:rPr>
              <a:t>Port :8084</a:t>
            </a:r>
            <a:endParaRPr lang="en-US" sz="1200" dirty="0"/>
          </a:p>
        </p:txBody>
      </p:sp>
      <p:sp>
        <p:nvSpPr>
          <p:cNvPr id="22" name="Text 20"/>
          <p:cNvSpPr txBox="1"/>
          <p:nvPr/>
        </p:nvSpPr>
        <p:spPr>
          <a:xfrm>
            <a:off x="5230368" y="4297680"/>
            <a:ext cx="1700784" cy="1463040"/>
          </a:xfrm>
          <a:prstGeom prst="rect">
            <a:avLst/>
          </a:prstGeom>
          <a:noFill/>
          <a:ln/>
        </p:spPr>
        <p:txBody>
          <a:bodyPr wrap="square" lIns="0" tIns="0" rIns="0" bIns="0" rtlCol="0" anchor="t"/>
          <a:lstStyle/>
          <a:p>
            <a:pPr indent="0" marL="0">
              <a:buNone/>
            </a:pPr>
            <a:r>
              <a:rPr lang="en-US" sz="1400" dirty="0">
                <a:solidFill>
                  <a:srgbClr val="24292A"/>
                </a:solidFill>
                <a:latin typeface="Calibri" pitchFamily="34" charset="0"/>
                <a:ea typeface="Calibri" pitchFamily="34" charset="-122"/>
                <a:cs typeface="Calibri" pitchFamily="34" charset="-120"/>
              </a:rPr>
              <a:t>Passenger counts, occupancy %, overcrowding, and alerts for delays and stale tracking.</a:t>
            </a:r>
            <a:endParaRPr lang="en-US" sz="1400" dirty="0"/>
          </a:p>
        </p:txBody>
      </p:sp>
      <p:sp>
        <p:nvSpPr>
          <p:cNvPr id="23" name="Shape 21"/>
          <p:cNvSpPr/>
          <p:nvPr/>
        </p:nvSpPr>
        <p:spPr>
          <a:xfrm>
            <a:off x="7296912" y="2240280"/>
            <a:ext cx="2066544" cy="3611880"/>
          </a:xfrm>
          <a:prstGeom prst="rect">
            <a:avLst/>
          </a:prstGeom>
          <a:solidFill>
            <a:srgbClr val="F5F6F5"/>
          </a:solidFill>
          <a:ln w="12700">
            <a:solidFill>
              <a:srgbClr val="DDE1DE"/>
            </a:solidFill>
            <a:prstDash val="solid"/>
          </a:ln>
        </p:spPr>
      </p:sp>
      <p:sp>
        <p:nvSpPr>
          <p:cNvPr id="24" name="Text 22"/>
          <p:cNvSpPr txBox="1"/>
          <p:nvPr/>
        </p:nvSpPr>
        <p:spPr>
          <a:xfrm>
            <a:off x="7479792" y="2441448"/>
            <a:ext cx="1700784" cy="228600"/>
          </a:xfrm>
          <a:prstGeom prst="rect">
            <a:avLst/>
          </a:prstGeom>
          <a:noFill/>
          <a:ln/>
        </p:spPr>
        <p:txBody>
          <a:bodyPr wrap="square" lIns="0" tIns="0" rIns="0" bIns="0" rtlCol="0" anchor="t"/>
          <a:lstStyle/>
          <a:p>
            <a:pPr indent="0" marL="0">
              <a:buNone/>
            </a:pPr>
            <a:r>
              <a:rPr lang="en-US" sz="1000" b="1" spc="100" kern="0" dirty="0">
                <a:solidFill>
                  <a:srgbClr val="1F4D3A"/>
                </a:solidFill>
                <a:latin typeface="Calibri" pitchFamily="34" charset="0"/>
                <a:ea typeface="Calibri" pitchFamily="34" charset="-122"/>
                <a:cs typeface="Calibri" pitchFamily="34" charset="-120"/>
              </a:rPr>
              <a:t>SHARED</a:t>
            </a:r>
            <a:endParaRPr lang="en-US" sz="1000" dirty="0"/>
          </a:p>
        </p:txBody>
      </p:sp>
      <p:sp>
        <p:nvSpPr>
          <p:cNvPr id="25" name="Text 23"/>
          <p:cNvSpPr txBox="1"/>
          <p:nvPr/>
        </p:nvSpPr>
        <p:spPr>
          <a:xfrm>
            <a:off x="7479792" y="2715768"/>
            <a:ext cx="1700784" cy="685800"/>
          </a:xfrm>
          <a:prstGeom prst="rect">
            <a:avLst/>
          </a:prstGeom>
          <a:noFill/>
          <a:ln/>
        </p:spPr>
        <p:txBody>
          <a:bodyPr wrap="square" lIns="0" tIns="0" rIns="0" bIns="0" rtlCol="0" anchor="t"/>
          <a:lstStyle/>
          <a:p>
            <a:pPr indent="0" marL="0">
              <a:buNone/>
            </a:pPr>
            <a:r>
              <a:rPr lang="en-US" sz="1700" b="1" dirty="0">
                <a:solidFill>
                  <a:srgbClr val="24292A"/>
                </a:solidFill>
                <a:latin typeface="Calibri" pitchFamily="34" charset="0"/>
                <a:ea typeface="Calibri" pitchFamily="34" charset="-122"/>
                <a:cs typeface="Calibri" pitchFamily="34" charset="-120"/>
              </a:rPr>
              <a:t>Auth Service (shared)</a:t>
            </a:r>
            <a:endParaRPr lang="en-US" sz="1700" dirty="0"/>
          </a:p>
        </p:txBody>
      </p:sp>
      <p:sp>
        <p:nvSpPr>
          <p:cNvPr id="26" name="Text 24"/>
          <p:cNvSpPr txBox="1"/>
          <p:nvPr/>
        </p:nvSpPr>
        <p:spPr>
          <a:xfrm>
            <a:off x="7479792" y="3447288"/>
            <a:ext cx="1700784" cy="502920"/>
          </a:xfrm>
          <a:prstGeom prst="rect">
            <a:avLst/>
          </a:prstGeom>
          <a:noFill/>
          <a:ln/>
        </p:spPr>
        <p:txBody>
          <a:bodyPr wrap="square" lIns="0" tIns="0" rIns="0" bIns="0" rtlCol="0" anchor="t"/>
          <a:lstStyle/>
          <a:p>
            <a:pPr indent="0" marL="0">
              <a:buNone/>
            </a:pPr>
            <a:r>
              <a:rPr lang="en-US" sz="1400" b="1" dirty="0">
                <a:solidFill>
                  <a:srgbClr val="1F4D3A"/>
                </a:solidFill>
                <a:latin typeface="Calibri" pitchFamily="34" charset="0"/>
                <a:ea typeface="Calibri" pitchFamily="34" charset="-122"/>
                <a:cs typeface="Calibri" pitchFamily="34" charset="-120"/>
              </a:rPr>
              <a:t>Kawin A N (lead)</a:t>
            </a:r>
            <a:endParaRPr lang="en-US" sz="1400" dirty="0"/>
          </a:p>
        </p:txBody>
      </p:sp>
      <p:sp>
        <p:nvSpPr>
          <p:cNvPr id="27" name="Text 25"/>
          <p:cNvSpPr txBox="1"/>
          <p:nvPr/>
        </p:nvSpPr>
        <p:spPr>
          <a:xfrm>
            <a:off x="7479792" y="3931920"/>
            <a:ext cx="1700784" cy="274320"/>
          </a:xfrm>
          <a:prstGeom prst="rect">
            <a:avLst/>
          </a:prstGeom>
          <a:noFill/>
          <a:ln/>
        </p:spPr>
        <p:txBody>
          <a:bodyPr wrap="square" lIns="0" tIns="0" rIns="0" bIns="0" rtlCol="0" anchor="t"/>
          <a:lstStyle/>
          <a:p>
            <a:pPr indent="0" marL="0">
              <a:buNone/>
            </a:pPr>
            <a:r>
              <a:rPr lang="en-US" sz="1200" dirty="0">
                <a:solidFill>
                  <a:srgbClr val="5D6560"/>
                </a:solidFill>
                <a:latin typeface="Calibri" pitchFamily="34" charset="0"/>
                <a:ea typeface="Calibri" pitchFamily="34" charset="-122"/>
                <a:cs typeface="Calibri" pitchFamily="34" charset="-120"/>
              </a:rPr>
              <a:t>Port :8081</a:t>
            </a:r>
            <a:endParaRPr lang="en-US" sz="1200" dirty="0"/>
          </a:p>
        </p:txBody>
      </p:sp>
      <p:sp>
        <p:nvSpPr>
          <p:cNvPr id="28" name="Text 26"/>
          <p:cNvSpPr txBox="1"/>
          <p:nvPr/>
        </p:nvSpPr>
        <p:spPr>
          <a:xfrm>
            <a:off x="7479792" y="4297680"/>
            <a:ext cx="1700784" cy="1463040"/>
          </a:xfrm>
          <a:prstGeom prst="rect">
            <a:avLst/>
          </a:prstGeom>
          <a:noFill/>
          <a:ln/>
        </p:spPr>
        <p:txBody>
          <a:bodyPr wrap="square" lIns="0" tIns="0" rIns="0" bIns="0" rtlCol="0" anchor="t"/>
          <a:lstStyle/>
          <a:p>
            <a:pPr indent="0" marL="0">
              <a:buNone/>
            </a:pPr>
            <a:r>
              <a:rPr lang="en-US" sz="1400" dirty="0">
                <a:solidFill>
                  <a:srgbClr val="24292A"/>
                </a:solidFill>
                <a:latin typeface="Calibri" pitchFamily="34" charset="0"/>
                <a:ea typeface="Calibri" pitchFamily="34" charset="-122"/>
                <a:cs typeface="Calibri" pitchFamily="34" charset="-120"/>
              </a:rPr>
              <a:t>Registration, login, BCrypt password hashing, JWT tokens, ADMIN and STUDENT roles.</a:t>
            </a:r>
            <a:endParaRPr lang="en-US" sz="1400" dirty="0"/>
          </a:p>
        </p:txBody>
      </p:sp>
      <p:sp>
        <p:nvSpPr>
          <p:cNvPr id="29" name="Shape 27"/>
          <p:cNvSpPr/>
          <p:nvPr/>
        </p:nvSpPr>
        <p:spPr>
          <a:xfrm>
            <a:off x="9546336" y="2240280"/>
            <a:ext cx="2066544" cy="3611880"/>
          </a:xfrm>
          <a:prstGeom prst="rect">
            <a:avLst/>
          </a:prstGeom>
          <a:solidFill>
            <a:srgbClr val="F5F6F5"/>
          </a:solidFill>
          <a:ln w="12700">
            <a:solidFill>
              <a:srgbClr val="DDE1DE"/>
            </a:solidFill>
            <a:prstDash val="solid"/>
          </a:ln>
        </p:spPr>
      </p:sp>
      <p:sp>
        <p:nvSpPr>
          <p:cNvPr id="30" name="Text 28"/>
          <p:cNvSpPr txBox="1"/>
          <p:nvPr/>
        </p:nvSpPr>
        <p:spPr>
          <a:xfrm>
            <a:off x="9729216" y="2441448"/>
            <a:ext cx="1700784" cy="228600"/>
          </a:xfrm>
          <a:prstGeom prst="rect">
            <a:avLst/>
          </a:prstGeom>
          <a:noFill/>
          <a:ln/>
        </p:spPr>
        <p:txBody>
          <a:bodyPr wrap="square" lIns="0" tIns="0" rIns="0" bIns="0" rtlCol="0" anchor="t"/>
          <a:lstStyle/>
          <a:p>
            <a:pPr indent="0" marL="0">
              <a:buNone/>
            </a:pPr>
            <a:r>
              <a:rPr lang="en-US" sz="1000" b="1" spc="100" kern="0" dirty="0">
                <a:solidFill>
                  <a:srgbClr val="1F4D3A"/>
                </a:solidFill>
                <a:latin typeface="Calibri" pitchFamily="34" charset="0"/>
                <a:ea typeface="Calibri" pitchFamily="34" charset="-122"/>
                <a:cs typeface="Calibri" pitchFamily="34" charset="-120"/>
              </a:rPr>
              <a:t>SHARED</a:t>
            </a:r>
            <a:endParaRPr lang="en-US" sz="1000" dirty="0"/>
          </a:p>
        </p:txBody>
      </p:sp>
      <p:sp>
        <p:nvSpPr>
          <p:cNvPr id="31" name="Text 29"/>
          <p:cNvSpPr txBox="1"/>
          <p:nvPr/>
        </p:nvSpPr>
        <p:spPr>
          <a:xfrm>
            <a:off x="9729216" y="2715768"/>
            <a:ext cx="1700784" cy="685800"/>
          </a:xfrm>
          <a:prstGeom prst="rect">
            <a:avLst/>
          </a:prstGeom>
          <a:noFill/>
          <a:ln/>
        </p:spPr>
        <p:txBody>
          <a:bodyPr wrap="square" lIns="0" tIns="0" rIns="0" bIns="0" rtlCol="0" anchor="t"/>
          <a:lstStyle/>
          <a:p>
            <a:pPr indent="0" marL="0">
              <a:buNone/>
            </a:pPr>
            <a:r>
              <a:rPr lang="en-US" sz="1700" b="1" dirty="0">
                <a:solidFill>
                  <a:srgbClr val="24292A"/>
                </a:solidFill>
                <a:latin typeface="Calibri" pitchFamily="34" charset="0"/>
                <a:ea typeface="Calibri" pitchFamily="34" charset="-122"/>
                <a:cs typeface="Calibri" pitchFamily="34" charset="-120"/>
              </a:rPr>
              <a:t>React Website (shared)</a:t>
            </a:r>
            <a:endParaRPr lang="en-US" sz="1700" dirty="0"/>
          </a:p>
        </p:txBody>
      </p:sp>
      <p:sp>
        <p:nvSpPr>
          <p:cNvPr id="32" name="Text 30"/>
          <p:cNvSpPr txBox="1"/>
          <p:nvPr/>
        </p:nvSpPr>
        <p:spPr>
          <a:xfrm>
            <a:off x="9729216" y="3447288"/>
            <a:ext cx="1700784" cy="502920"/>
          </a:xfrm>
          <a:prstGeom prst="rect">
            <a:avLst/>
          </a:prstGeom>
          <a:noFill/>
          <a:ln/>
        </p:spPr>
        <p:txBody>
          <a:bodyPr wrap="square" lIns="0" tIns="0" rIns="0" bIns="0" rtlCol="0" anchor="t"/>
          <a:lstStyle/>
          <a:p>
            <a:pPr indent="0" marL="0">
              <a:buNone/>
            </a:pPr>
            <a:r>
              <a:rPr lang="en-US" sz="1400" b="1" dirty="0">
                <a:solidFill>
                  <a:srgbClr val="1F4D3A"/>
                </a:solidFill>
                <a:latin typeface="Calibri" pitchFamily="34" charset="0"/>
                <a:ea typeface="Calibri" pitchFamily="34" charset="-122"/>
                <a:cs typeface="Calibri" pitchFamily="34" charset="-120"/>
              </a:rPr>
              <a:t>Kawin A N</a:t>
            </a:r>
            <a:endParaRPr lang="en-US" sz="1400" dirty="0"/>
          </a:p>
        </p:txBody>
      </p:sp>
      <p:sp>
        <p:nvSpPr>
          <p:cNvPr id="33" name="Text 31"/>
          <p:cNvSpPr txBox="1"/>
          <p:nvPr/>
        </p:nvSpPr>
        <p:spPr>
          <a:xfrm>
            <a:off x="9729216" y="3931920"/>
            <a:ext cx="1700784" cy="274320"/>
          </a:xfrm>
          <a:prstGeom prst="rect">
            <a:avLst/>
          </a:prstGeom>
          <a:noFill/>
          <a:ln/>
        </p:spPr>
        <p:txBody>
          <a:bodyPr wrap="square" lIns="0" tIns="0" rIns="0" bIns="0" rtlCol="0" anchor="t"/>
          <a:lstStyle/>
          <a:p>
            <a:pPr indent="0" marL="0">
              <a:buNone/>
            </a:pPr>
            <a:r>
              <a:rPr lang="en-US" sz="1200" dirty="0">
                <a:solidFill>
                  <a:srgbClr val="5D6560"/>
                </a:solidFill>
                <a:latin typeface="Calibri" pitchFamily="34" charset="0"/>
                <a:ea typeface="Calibri" pitchFamily="34" charset="-122"/>
                <a:cs typeface="Calibri" pitchFamily="34" charset="-120"/>
              </a:rPr>
              <a:t>Port :5173</a:t>
            </a:r>
            <a:endParaRPr lang="en-US" sz="1200" dirty="0"/>
          </a:p>
        </p:txBody>
      </p:sp>
      <p:sp>
        <p:nvSpPr>
          <p:cNvPr id="34" name="Text 32"/>
          <p:cNvSpPr txBox="1"/>
          <p:nvPr/>
        </p:nvSpPr>
        <p:spPr>
          <a:xfrm>
            <a:off x="9729216" y="4297680"/>
            <a:ext cx="1700784" cy="1463040"/>
          </a:xfrm>
          <a:prstGeom prst="rect">
            <a:avLst/>
          </a:prstGeom>
          <a:noFill/>
          <a:ln/>
        </p:spPr>
        <p:txBody>
          <a:bodyPr wrap="square" lIns="0" tIns="0" rIns="0" bIns="0" rtlCol="0" anchor="t"/>
          <a:lstStyle/>
          <a:p>
            <a:pPr indent="0" marL="0">
              <a:buNone/>
            </a:pPr>
            <a:r>
              <a:rPr lang="en-US" sz="1400" dirty="0">
                <a:solidFill>
                  <a:srgbClr val="24292A"/>
                </a:solidFill>
                <a:latin typeface="Calibri" pitchFamily="34" charset="0"/>
                <a:ea typeface="Calibri" pitchFamily="34" charset="-122"/>
                <a:cs typeface="Calibri" pitchFamily="34" charset="-120"/>
              </a:rPr>
              <a:t>Login, dashboard, fleet, trips, occupancy and profile pages. Calls all four services.</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D656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t"/>
          <a:lstStyle/>
          <a:p>
            <a:pPr indent="0" marL="0">
              <a:buNone/>
            </a:pPr>
            <a:r>
              <a:rPr lang="en-US" sz="1200" b="1" spc="200" kern="0" dirty="0">
                <a:solidFill>
                  <a:srgbClr val="1F4D3A"/>
                </a:solidFill>
                <a:latin typeface="Calibri" pitchFamily="34" charset="0"/>
                <a:ea typeface="Calibri" pitchFamily="34" charset="-122"/>
                <a:cs typeface="Calibri" pitchFamily="34" charset="-120"/>
              </a:rPr>
              <a:t>SERVICE 1  ·  FLEET &amp; ROUTE</a:t>
            </a:r>
            <a:endParaRPr lang="en-US" sz="1200" dirty="0"/>
          </a:p>
        </p:txBody>
      </p:sp>
      <p:sp>
        <p:nvSpPr>
          <p:cNvPr id="3" name="Text 1"/>
          <p:cNvSpPr txBox="1"/>
          <p:nvPr/>
        </p:nvSpPr>
        <p:spPr>
          <a:xfrm>
            <a:off x="548640" y="658368"/>
            <a:ext cx="11064240" cy="594360"/>
          </a:xfrm>
          <a:prstGeom prst="rect">
            <a:avLst/>
          </a:prstGeom>
          <a:noFill/>
          <a:ln/>
        </p:spPr>
        <p:txBody>
          <a:bodyPr wrap="square" lIns="0" tIns="0" rIns="0" bIns="0" rtlCol="0" anchor="t"/>
          <a:lstStyle/>
          <a:p>
            <a:pPr indent="0" marL="0">
              <a:buNone/>
            </a:pPr>
            <a:r>
              <a:rPr lang="en-US" sz="3000" b="1" dirty="0">
                <a:solidFill>
                  <a:srgbClr val="24292A"/>
                </a:solidFill>
                <a:latin typeface="Calibri" pitchFamily="34" charset="0"/>
                <a:ea typeface="Calibri" pitchFamily="34" charset="-122"/>
                <a:cs typeface="Calibri" pitchFamily="34" charset="-120"/>
              </a:rPr>
              <a:t>Fleet and Route Service</a:t>
            </a:r>
            <a:endParaRPr lang="en-US" sz="3000" dirty="0"/>
          </a:p>
        </p:txBody>
      </p:sp>
      <p:sp>
        <p:nvSpPr>
          <p:cNvPr id="4" name="Text 2"/>
          <p:cNvSpPr txBox="1"/>
          <p:nvPr/>
        </p:nvSpPr>
        <p:spPr>
          <a:xfrm>
            <a:off x="548640" y="1298448"/>
            <a:ext cx="10972800" cy="292608"/>
          </a:xfrm>
          <a:prstGeom prst="rect">
            <a:avLst/>
          </a:prstGeom>
          <a:noFill/>
          <a:ln/>
        </p:spPr>
        <p:txBody>
          <a:bodyPr wrap="square" lIns="0" tIns="0" rIns="0" bIns="0" rtlCol="0" anchor="t"/>
          <a:lstStyle/>
          <a:p>
            <a:pPr indent="0" marL="0">
              <a:buNone/>
            </a:pPr>
            <a:r>
              <a:rPr lang="en-US" sz="1500" dirty="0">
                <a:solidFill>
                  <a:srgbClr val="5D6560"/>
                </a:solidFill>
                <a:latin typeface="Calibri" pitchFamily="34" charset="0"/>
                <a:ea typeface="Calibri" pitchFamily="34" charset="-122"/>
                <a:cs typeface="Calibri" pitchFamily="34" charset="-120"/>
              </a:rPr>
              <a:t>Owner: Kawin A N  ·  2024115018    |    Database: campusvolt_fleet_db    |    Port 8082</a:t>
            </a:r>
            <a:endParaRPr lang="en-US" sz="1500" dirty="0"/>
          </a:p>
        </p:txBody>
      </p:sp>
      <p:sp>
        <p:nvSpPr>
          <p:cNvPr id="5" name="Text 3"/>
          <p:cNvSpPr txBox="1"/>
          <p:nvPr/>
        </p:nvSpPr>
        <p:spPr>
          <a:xfrm>
            <a:off x="548640" y="1783080"/>
            <a:ext cx="4114800" cy="274320"/>
          </a:xfrm>
          <a:prstGeom prst="rect">
            <a:avLst/>
          </a:prstGeom>
          <a:noFill/>
          <a:ln/>
        </p:spPr>
        <p:txBody>
          <a:bodyPr wrap="square" lIns="0" tIns="0" rIns="0" bIns="0" rtlCol="0" anchor="t"/>
          <a:lstStyle/>
          <a:p>
            <a:pPr indent="0" marL="0">
              <a:buNone/>
            </a:pPr>
            <a:r>
              <a:rPr lang="en-US" sz="1600" b="1" dirty="0">
                <a:solidFill>
                  <a:srgbClr val="1F4D3A"/>
                </a:solidFill>
                <a:latin typeface="Calibri" pitchFamily="34" charset="0"/>
                <a:ea typeface="Calibri" pitchFamily="34" charset="-122"/>
                <a:cs typeface="Calibri" pitchFamily="34" charset="-120"/>
              </a:rPr>
              <a:t>Work done</a:t>
            </a:r>
            <a:endParaRPr lang="en-US" sz="1600" dirty="0"/>
          </a:p>
        </p:txBody>
      </p:sp>
      <p:sp>
        <p:nvSpPr>
          <p:cNvPr id="6" name="Text 4"/>
          <p:cNvSpPr txBox="1"/>
          <p:nvPr/>
        </p:nvSpPr>
        <p:spPr>
          <a:xfrm>
            <a:off x="548640" y="2103120"/>
            <a:ext cx="4114800" cy="1874520"/>
          </a:xfrm>
          <a:prstGeom prst="rect">
            <a:avLst/>
          </a:prstGeom>
          <a:noFill/>
          <a:ln/>
        </p:spPr>
        <p:txBody>
          <a:bodyPr wrap="square" lIns="0" tIns="0" rIns="0" bIns="0" rtlCol="0" anchor="t"/>
          <a:lstStyle/>
          <a:p>
            <a:pPr marL="203200" indent="-203200">
              <a:spcAft>
                <a:spcPts val="700"/>
              </a:spcAft>
              <a:buSzPct val="100000"/>
              <a:buChar char="•"/>
            </a:pPr>
            <a:r>
              <a:rPr lang="en-US" sz="1500" dirty="0">
                <a:solidFill>
                  <a:srgbClr val="24292A"/>
                </a:solidFill>
                <a:latin typeface="Calibri" pitchFamily="34" charset="0"/>
                <a:ea typeface="Calibri" pitchFamily="34" charset="-122"/>
                <a:cs typeface="Calibri" pitchFamily="34" charset="-120"/>
              </a:rPr>
              <a:t>Vehicle CRUD with capacity, battery level and operating status</a:t>
            </a:r>
            <a:endParaRPr lang="en-US" sz="1500" dirty="0"/>
          </a:p>
          <a:p>
            <a:pPr marL="203200" indent="-203200">
              <a:spcAft>
                <a:spcPts val="700"/>
              </a:spcAft>
              <a:buSzPct val="100000"/>
              <a:buChar char="•"/>
            </a:pPr>
            <a:r>
              <a:rPr lang="en-US" sz="1500" dirty="0">
                <a:solidFill>
                  <a:srgbClr val="24292A"/>
                </a:solidFill>
                <a:latin typeface="Calibri" pitchFamily="34" charset="0"/>
                <a:ea typeface="Calibri" pitchFamily="34" charset="-122"/>
                <a:cs typeface="Calibri" pitchFamily="34" charset="-120"/>
              </a:rPr>
              <a:t>Routes with ordered stops and GPS coordinates</a:t>
            </a:r>
            <a:endParaRPr lang="en-US" sz="1500" dirty="0"/>
          </a:p>
          <a:p>
            <a:pPr marL="203200" indent="-203200">
              <a:spcAft>
                <a:spcPts val="700"/>
              </a:spcAft>
              <a:buSzPct val="100000"/>
              <a:buChar char="•"/>
            </a:pPr>
            <a:r>
              <a:rPr lang="en-US" sz="1500" dirty="0">
                <a:solidFill>
                  <a:srgbClr val="24292A"/>
                </a:solidFill>
                <a:latin typeface="Calibri" pitchFamily="34" charset="0"/>
                <a:ea typeface="Calibri" pitchFamily="34" charset="-122"/>
                <a:cs typeface="Calibri" pitchFamily="34" charset="-120"/>
              </a:rPr>
              <a:t>Assigning vehicles to routes</a:t>
            </a:r>
            <a:endParaRPr lang="en-US" sz="1500" dirty="0"/>
          </a:p>
          <a:p>
            <a:pPr marL="203200" indent="-203200">
              <a:spcAft>
                <a:spcPts val="700"/>
              </a:spcAft>
              <a:buSzPct val="100000"/>
              <a:buChar char="•"/>
            </a:pPr>
            <a:r>
              <a:rPr lang="en-US" sz="1500" dirty="0">
                <a:solidFill>
                  <a:srgbClr val="24292A"/>
                </a:solidFill>
                <a:latin typeface="Calibri" pitchFamily="34" charset="0"/>
                <a:ea typeface="Calibri" pitchFamily="34" charset="-122"/>
                <a:cs typeface="Calibri" pitchFamily="34" charset="-120"/>
              </a:rPr>
              <a:t>Input validation, 404 and 409 errors, admin-only changes</a:t>
            </a:r>
            <a:endParaRPr lang="en-US" sz="1500" dirty="0"/>
          </a:p>
        </p:txBody>
      </p:sp>
      <p:sp>
        <p:nvSpPr>
          <p:cNvPr id="7" name="Shape 5"/>
          <p:cNvSpPr/>
          <p:nvPr/>
        </p:nvSpPr>
        <p:spPr>
          <a:xfrm>
            <a:off x="530352" y="4005072"/>
            <a:ext cx="4151376" cy="1565910"/>
          </a:xfrm>
          <a:prstGeom prst="rect">
            <a:avLst/>
          </a:prstGeom>
          <a:solidFill>
            <a:srgbClr val="DDE1DE"/>
          </a:solidFill>
          <a:ln w="12700">
            <a:solidFill>
              <a:srgbClr val="DDE1DE"/>
            </a:solidFill>
            <a:prstDash val="solid"/>
          </a:ln>
        </p:spPr>
      </p:sp>
      <p:pic>
        <p:nvPicPr>
          <p:cNvPr id="8" name="Image 0" descr="C:\Users\KAWIN\AppData\Local\Temp\claude\C--Users-KAWIN\d7b2766c-ebc3-4c65-a6d5-4ec78576fc05\scratchpad\ui\deckshots\fleet-crop.png">    </p:cNvPr>
          <p:cNvPicPr>
            <a:picLocks noChangeAspect="1"/>
          </p:cNvPicPr>
          <p:nvPr/>
        </p:nvPicPr>
        <p:blipFill>
          <a:blip r:embed="rId1"/>
          <a:stretch>
            <a:fillRect/>
          </a:stretch>
        </p:blipFill>
        <p:spPr>
          <a:xfrm>
            <a:off x="548640" y="4023360"/>
            <a:ext cx="4114800" cy="1529334"/>
          </a:xfrm>
          <a:prstGeom prst="rect">
            <a:avLst/>
          </a:prstGeom>
        </p:spPr>
      </p:pic>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029200" y="1783080"/>
          <a:ext cx="6611112" cy="914400"/>
        </p:xfrm>
        <a:graphic>
          <a:graphicData uri="http://schemas.openxmlformats.org/drawingml/2006/table">
            <a:tbl>
              <a:tblPr/>
              <a:tblGrid>
                <a:gridCol w="2834640"/>
                <a:gridCol w="3776472"/>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File</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1F4D3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it does</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1F4D3A"/>
                    </a:solidFill>
                  </a:tcPr>
                </a:tc>
              </a:tr>
              <a:tr h="0">
                <a:tc>
                  <a:txBody>
                    <a:bodyPr/>
                    <a:lstStyle/>
                    <a:p>
                      <a:pPr indent="0" marL="0">
                        <a:buNone/>
                      </a:pPr>
                      <a:r>
                        <a:rPr lang="en-US" sz="1300" b="1" dirty="0">
                          <a:solidFill>
                            <a:srgbClr val="1F4D3A"/>
                          </a:solidFill>
                          <a:latin typeface="Calibri" pitchFamily="34" charset="0"/>
                          <a:ea typeface="Calibri" pitchFamily="34" charset="-122"/>
                          <a:cs typeface="Calibri" pitchFamily="34" charset="-120"/>
                        </a:rPr>
                        <a:t>VehicleController.java</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c>
                  <a:txBody>
                    <a:bodyPr/>
                    <a:lstStyle/>
                    <a:p>
                      <a:pPr indent="0" marL="0">
                        <a:buNone/>
                      </a:pPr>
                      <a:r>
                        <a:rPr lang="en-US" sz="1300" dirty="0">
                          <a:solidFill>
                            <a:srgbClr val="24292A"/>
                          </a:solidFill>
                          <a:latin typeface="Calibri" pitchFamily="34" charset="0"/>
                          <a:ea typeface="Calibri" pitchFamily="34" charset="-122"/>
                          <a:cs typeface="Calibri" pitchFamily="34" charset="-120"/>
                        </a:rPr>
                        <a:t>REST endpoints for /api/vehicles. Anyone signed in can read; only ADMIN can create, edit or delete.</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r>
              <a:tr h="0">
                <a:tc>
                  <a:txBody>
                    <a:bodyPr/>
                    <a:lstStyle/>
                    <a:p>
                      <a:pPr indent="0" marL="0">
                        <a:buNone/>
                      </a:pPr>
                      <a:r>
                        <a:rPr lang="en-US" sz="1300" b="1" dirty="0">
                          <a:solidFill>
                            <a:srgbClr val="1F4D3A"/>
                          </a:solidFill>
                          <a:latin typeface="Calibri" pitchFamily="34" charset="0"/>
                          <a:ea typeface="Calibri" pitchFamily="34" charset="-122"/>
                          <a:cs typeface="Calibri" pitchFamily="34" charset="-120"/>
                        </a:rPr>
                        <a:t>RouteController.java</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c>
                  <a:txBody>
                    <a:bodyPr/>
                    <a:lstStyle/>
                    <a:p>
                      <a:pPr indent="0" marL="0">
                        <a:buNone/>
                      </a:pPr>
                      <a:r>
                        <a:rPr lang="en-US" sz="1300" dirty="0">
                          <a:solidFill>
                            <a:srgbClr val="24292A"/>
                          </a:solidFill>
                          <a:latin typeface="Calibri" pitchFamily="34" charset="0"/>
                          <a:ea typeface="Calibri" pitchFamily="34" charset="-122"/>
                          <a:cs typeface="Calibri" pitchFamily="34" charset="-120"/>
                        </a:rPr>
                        <a:t>REST endpoints for /api/routes, including the list of stops for each route.</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F4D3A"/>
                          </a:solidFill>
                          <a:latin typeface="Calibri" pitchFamily="34" charset="0"/>
                          <a:ea typeface="Calibri" pitchFamily="34" charset="-122"/>
                          <a:cs typeface="Calibri" pitchFamily="34" charset="-120"/>
                        </a:rPr>
                        <a:t>VehicleService.java</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c>
                  <a:txBody>
                    <a:bodyPr/>
                    <a:lstStyle/>
                    <a:p>
                      <a:pPr indent="0" marL="0">
                        <a:buNone/>
                      </a:pPr>
                      <a:r>
                        <a:rPr lang="en-US" sz="1300" dirty="0">
                          <a:solidFill>
                            <a:srgbClr val="24292A"/>
                          </a:solidFill>
                          <a:latin typeface="Calibri" pitchFamily="34" charset="0"/>
                          <a:ea typeface="Calibri" pitchFamily="34" charset="-122"/>
                          <a:cs typeface="Calibri" pitchFamily="34" charset="-120"/>
                        </a:rPr>
                        <a:t>Checks the registration number is unique, links the vehicle to its route, builds the response.</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r>
              <a:tr h="0">
                <a:tc>
                  <a:txBody>
                    <a:bodyPr/>
                    <a:lstStyle/>
                    <a:p>
                      <a:pPr indent="0" marL="0">
                        <a:buNone/>
                      </a:pPr>
                      <a:r>
                        <a:rPr lang="en-US" sz="1300" b="1" dirty="0">
                          <a:solidFill>
                            <a:srgbClr val="1F4D3A"/>
                          </a:solidFill>
                          <a:latin typeface="Calibri" pitchFamily="34" charset="0"/>
                          <a:ea typeface="Calibri" pitchFamily="34" charset="-122"/>
                          <a:cs typeface="Calibri" pitchFamily="34" charset="-120"/>
                        </a:rPr>
                        <a:t>RouteService.java</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c>
                  <a:txBody>
                    <a:bodyPr/>
                    <a:lstStyle/>
                    <a:p>
                      <a:pPr indent="0" marL="0">
                        <a:buNone/>
                      </a:pPr>
                      <a:r>
                        <a:rPr lang="en-US" sz="1300" dirty="0">
                          <a:solidFill>
                            <a:srgbClr val="24292A"/>
                          </a:solidFill>
                          <a:latin typeface="Calibri" pitchFamily="34" charset="0"/>
                          <a:ea typeface="Calibri" pitchFamily="34" charset="-122"/>
                          <a:cs typeface="Calibri" pitchFamily="34" charset="-120"/>
                        </a:rPr>
                        <a:t>Saves stops in travel order. Estimates distance from stop coordinates if none is given. Unassigns vehicles when a route is deleted.</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F4D3A"/>
                          </a:solidFill>
                          <a:latin typeface="Calibri" pitchFamily="34" charset="0"/>
                          <a:ea typeface="Calibri" pitchFamily="34" charset="-122"/>
                          <a:cs typeface="Calibri" pitchFamily="34" charset="-120"/>
                        </a:rPr>
                        <a:t>Vehicle / Route / RouteStop.java</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c>
                  <a:txBody>
                    <a:bodyPr/>
                    <a:lstStyle/>
                    <a:p>
                      <a:pPr indent="0" marL="0">
                        <a:buNone/>
                      </a:pPr>
                      <a:r>
                        <a:rPr lang="en-US" sz="1300" dirty="0">
                          <a:solidFill>
                            <a:srgbClr val="24292A"/>
                          </a:solidFill>
                          <a:latin typeface="Calibri" pitchFamily="34" charset="0"/>
                          <a:ea typeface="Calibri" pitchFamily="34" charset="-122"/>
                          <a:cs typeface="Calibri" pitchFamily="34" charset="-120"/>
                        </a:rPr>
                        <a:t>JPA entities mapped to the vehicles, routes and route_stops tables.</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r>
              <a:tr h="0">
                <a:tc>
                  <a:txBody>
                    <a:bodyPr/>
                    <a:lstStyle/>
                    <a:p>
                      <a:pPr indent="0" marL="0">
                        <a:buNone/>
                      </a:pPr>
                      <a:r>
                        <a:rPr lang="en-US" sz="1300" b="1" dirty="0">
                          <a:solidFill>
                            <a:srgbClr val="1F4D3A"/>
                          </a:solidFill>
                          <a:latin typeface="Calibri" pitchFamily="34" charset="0"/>
                          <a:ea typeface="Calibri" pitchFamily="34" charset="-122"/>
                          <a:cs typeface="Calibri" pitchFamily="34" charset="-120"/>
                        </a:rPr>
                        <a:t>FleetDtos.java</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c>
                  <a:txBody>
                    <a:bodyPr/>
                    <a:lstStyle/>
                    <a:p>
                      <a:pPr indent="0" marL="0">
                        <a:buNone/>
                      </a:pPr>
                      <a:r>
                        <a:rPr lang="en-US" sz="1300" dirty="0">
                          <a:solidFill>
                            <a:srgbClr val="24292A"/>
                          </a:solidFill>
                          <a:latin typeface="Calibri" pitchFamily="34" charset="0"/>
                          <a:ea typeface="Calibri" pitchFamily="34" charset="-122"/>
                          <a:cs typeface="Calibri" pitchFamily="34" charset="-120"/>
                        </a:rPr>
                        <a:t>Request rules: capacity 1–120, battery 0–100, valid latitude and longitude.</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F4D3A"/>
                          </a:solidFill>
                          <a:latin typeface="Calibri" pitchFamily="34" charset="0"/>
                          <a:ea typeface="Calibri" pitchFamily="34" charset="-122"/>
                          <a:cs typeface="Calibri" pitchFamily="34" charset="-120"/>
                        </a:rPr>
                        <a:t>FleetRouteServiceApplication.java</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c>
                  <a:txBody>
                    <a:bodyPr/>
                    <a:lstStyle/>
                    <a:p>
                      <a:pPr indent="0" marL="0">
                        <a:buNone/>
                      </a:pPr>
                      <a:r>
                        <a:rPr lang="en-US" sz="1300" dirty="0">
                          <a:solidFill>
                            <a:srgbClr val="24292A"/>
                          </a:solidFill>
                          <a:latin typeface="Calibri" pitchFamily="34" charset="0"/>
                          <a:ea typeface="Calibri" pitchFamily="34" charset="-122"/>
                          <a:cs typeface="Calibri" pitchFamily="34" charset="-120"/>
                        </a:rPr>
                        <a:t>Starts the service and adds 2 sample routes and 3 shuttles on first run.</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r>
            </a:tbl>
          </a:graphicData>
        </a:graphic>
      </p:graphicFrame>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D656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t"/>
          <a:lstStyle/>
          <a:p>
            <a:pPr indent="0" marL="0">
              <a:buNone/>
            </a:pPr>
            <a:r>
              <a:rPr lang="en-US" sz="1200" b="1" spc="200" kern="0" dirty="0">
                <a:solidFill>
                  <a:srgbClr val="1F4D3A"/>
                </a:solidFill>
                <a:latin typeface="Calibri" pitchFamily="34" charset="0"/>
                <a:ea typeface="Calibri" pitchFamily="34" charset="-122"/>
                <a:cs typeface="Calibri" pitchFamily="34" charset="-120"/>
              </a:rPr>
              <a:t>SERVICE 2  ·  TRIP &amp; TRACKING</a:t>
            </a:r>
            <a:endParaRPr lang="en-US" sz="1200" dirty="0"/>
          </a:p>
        </p:txBody>
      </p:sp>
      <p:sp>
        <p:nvSpPr>
          <p:cNvPr id="3" name="Text 1"/>
          <p:cNvSpPr txBox="1"/>
          <p:nvPr/>
        </p:nvSpPr>
        <p:spPr>
          <a:xfrm>
            <a:off x="548640" y="658368"/>
            <a:ext cx="11064240" cy="594360"/>
          </a:xfrm>
          <a:prstGeom prst="rect">
            <a:avLst/>
          </a:prstGeom>
          <a:noFill/>
          <a:ln/>
        </p:spPr>
        <p:txBody>
          <a:bodyPr wrap="square" lIns="0" tIns="0" rIns="0" bIns="0" rtlCol="0" anchor="t"/>
          <a:lstStyle/>
          <a:p>
            <a:pPr indent="0" marL="0">
              <a:buNone/>
            </a:pPr>
            <a:r>
              <a:rPr lang="en-US" sz="3000" b="1" dirty="0">
                <a:solidFill>
                  <a:srgbClr val="24292A"/>
                </a:solidFill>
                <a:latin typeface="Calibri" pitchFamily="34" charset="0"/>
                <a:ea typeface="Calibri" pitchFamily="34" charset="-122"/>
                <a:cs typeface="Calibri" pitchFamily="34" charset="-120"/>
              </a:rPr>
              <a:t>Trip and Tracking Service</a:t>
            </a:r>
            <a:endParaRPr lang="en-US" sz="3000" dirty="0"/>
          </a:p>
        </p:txBody>
      </p:sp>
      <p:sp>
        <p:nvSpPr>
          <p:cNvPr id="4" name="Text 2"/>
          <p:cNvSpPr txBox="1"/>
          <p:nvPr/>
        </p:nvSpPr>
        <p:spPr>
          <a:xfrm>
            <a:off x="548640" y="1298448"/>
            <a:ext cx="10972800" cy="292608"/>
          </a:xfrm>
          <a:prstGeom prst="rect">
            <a:avLst/>
          </a:prstGeom>
          <a:noFill/>
          <a:ln/>
        </p:spPr>
        <p:txBody>
          <a:bodyPr wrap="square" lIns="0" tIns="0" rIns="0" bIns="0" rtlCol="0" anchor="t"/>
          <a:lstStyle/>
          <a:p>
            <a:pPr indent="0" marL="0">
              <a:buNone/>
            </a:pPr>
            <a:r>
              <a:rPr lang="en-US" sz="1500" dirty="0">
                <a:solidFill>
                  <a:srgbClr val="5D6560"/>
                </a:solidFill>
                <a:latin typeface="Calibri" pitchFamily="34" charset="0"/>
                <a:ea typeface="Calibri" pitchFamily="34" charset="-122"/>
                <a:cs typeface="Calibri" pitchFamily="34" charset="-120"/>
              </a:rPr>
              <a:t>Owner: Shankararam S U  ·  2024115020    |    Database: campusvolt_tracking_db    |    Port 8083</a:t>
            </a:r>
            <a:endParaRPr lang="en-US" sz="1500" dirty="0"/>
          </a:p>
        </p:txBody>
      </p:sp>
      <p:sp>
        <p:nvSpPr>
          <p:cNvPr id="5" name="Text 3"/>
          <p:cNvSpPr txBox="1"/>
          <p:nvPr/>
        </p:nvSpPr>
        <p:spPr>
          <a:xfrm>
            <a:off x="548640" y="1783080"/>
            <a:ext cx="4114800" cy="274320"/>
          </a:xfrm>
          <a:prstGeom prst="rect">
            <a:avLst/>
          </a:prstGeom>
          <a:noFill/>
          <a:ln/>
        </p:spPr>
        <p:txBody>
          <a:bodyPr wrap="square" lIns="0" tIns="0" rIns="0" bIns="0" rtlCol="0" anchor="t"/>
          <a:lstStyle/>
          <a:p>
            <a:pPr indent="0" marL="0">
              <a:buNone/>
            </a:pPr>
            <a:r>
              <a:rPr lang="en-US" sz="1600" b="1" dirty="0">
                <a:solidFill>
                  <a:srgbClr val="1F4D3A"/>
                </a:solidFill>
                <a:latin typeface="Calibri" pitchFamily="34" charset="0"/>
                <a:ea typeface="Calibri" pitchFamily="34" charset="-122"/>
                <a:cs typeface="Calibri" pitchFamily="34" charset="-120"/>
              </a:rPr>
              <a:t>Work done</a:t>
            </a:r>
            <a:endParaRPr lang="en-US" sz="1600" dirty="0"/>
          </a:p>
        </p:txBody>
      </p:sp>
      <p:sp>
        <p:nvSpPr>
          <p:cNvPr id="6" name="Text 4"/>
          <p:cNvSpPr txBox="1"/>
          <p:nvPr/>
        </p:nvSpPr>
        <p:spPr>
          <a:xfrm>
            <a:off x="548640" y="2103120"/>
            <a:ext cx="4114800" cy="1874520"/>
          </a:xfrm>
          <a:prstGeom prst="rect">
            <a:avLst/>
          </a:prstGeom>
          <a:noFill/>
          <a:ln/>
        </p:spPr>
        <p:txBody>
          <a:bodyPr wrap="square" lIns="0" tIns="0" rIns="0" bIns="0" rtlCol="0" anchor="t"/>
          <a:lstStyle/>
          <a:p>
            <a:pPr marL="203200" indent="-203200">
              <a:spcAft>
                <a:spcPts val="700"/>
              </a:spcAft>
              <a:buSzPct val="100000"/>
              <a:buChar char="•"/>
            </a:pPr>
            <a:r>
              <a:rPr lang="en-US" sz="1500" dirty="0">
                <a:solidFill>
                  <a:srgbClr val="24292A"/>
                </a:solidFill>
                <a:latin typeface="Calibri" pitchFamily="34" charset="0"/>
                <a:ea typeface="Calibri" pitchFamily="34" charset="-122"/>
                <a:cs typeface="Calibri" pitchFamily="34" charset="-120"/>
              </a:rPr>
              <a:t>Scheduling trips and assigning vehicles to them</a:t>
            </a:r>
            <a:endParaRPr lang="en-US" sz="1500" dirty="0"/>
          </a:p>
          <a:p>
            <a:pPr marL="203200" indent="-203200">
              <a:spcAft>
                <a:spcPts val="700"/>
              </a:spcAft>
              <a:buSzPct val="100000"/>
              <a:buChar char="•"/>
            </a:pPr>
            <a:r>
              <a:rPr lang="en-US" sz="1500" dirty="0">
                <a:solidFill>
                  <a:srgbClr val="24292A"/>
                </a:solidFill>
                <a:latin typeface="Calibri" pitchFamily="34" charset="0"/>
                <a:ea typeface="Calibri" pitchFamily="34" charset="-122"/>
                <a:cs typeface="Calibri" pitchFamily="34" charset="-120"/>
              </a:rPr>
              <a:t>Trip status: Scheduled → In progress → Completed or Cancelled</a:t>
            </a:r>
            <a:endParaRPr lang="en-US" sz="1500" dirty="0"/>
          </a:p>
          <a:p>
            <a:pPr marL="203200" indent="-203200">
              <a:spcAft>
                <a:spcPts val="700"/>
              </a:spcAft>
              <a:buSzPct val="100000"/>
              <a:buChar char="•"/>
            </a:pPr>
            <a:r>
              <a:rPr lang="en-US" sz="1500" dirty="0">
                <a:solidFill>
                  <a:srgbClr val="24292A"/>
                </a:solidFill>
                <a:latin typeface="Calibri" pitchFamily="34" charset="0"/>
                <a:ea typeface="Calibri" pitchFamily="34" charset="-122"/>
                <a:cs typeface="Calibri" pitchFamily="34" charset="-120"/>
              </a:rPr>
              <a:t>Simulated vehicle movement and last-updated location</a:t>
            </a:r>
            <a:endParaRPr lang="en-US" sz="1500" dirty="0"/>
          </a:p>
          <a:p>
            <a:pPr marL="203200" indent="-203200">
              <a:spcAft>
                <a:spcPts val="700"/>
              </a:spcAft>
              <a:buSzPct val="100000"/>
              <a:buChar char="•"/>
            </a:pPr>
            <a:r>
              <a:rPr lang="en-US" sz="1500" dirty="0">
                <a:solidFill>
                  <a:srgbClr val="24292A"/>
                </a:solidFill>
                <a:latin typeface="Calibri" pitchFamily="34" charset="0"/>
                <a:ea typeface="Calibri" pitchFamily="34" charset="-122"/>
                <a:cs typeface="Calibri" pitchFamily="34" charset="-120"/>
              </a:rPr>
              <a:t>ETA only when distance and speed are known</a:t>
            </a:r>
            <a:endParaRPr lang="en-US" sz="1500" dirty="0"/>
          </a:p>
        </p:txBody>
      </p:sp>
      <p:sp>
        <p:nvSpPr>
          <p:cNvPr id="7" name="Shape 5"/>
          <p:cNvSpPr/>
          <p:nvPr/>
        </p:nvSpPr>
        <p:spPr>
          <a:xfrm>
            <a:off x="530352" y="4005072"/>
            <a:ext cx="3177390" cy="2185416"/>
          </a:xfrm>
          <a:prstGeom prst="rect">
            <a:avLst/>
          </a:prstGeom>
          <a:solidFill>
            <a:srgbClr val="DDE1DE"/>
          </a:solidFill>
          <a:ln w="12700">
            <a:solidFill>
              <a:srgbClr val="DDE1DE"/>
            </a:solidFill>
            <a:prstDash val="solid"/>
          </a:ln>
        </p:spPr>
      </p:sp>
      <p:pic>
        <p:nvPicPr>
          <p:cNvPr id="8" name="Image 0" descr="C:\Users\KAWIN\AppData\Local\Temp\claude\C--Users-KAWIN\d7b2766c-ebc3-4c65-a6d5-4ec78576fc05\scratchpad\ui\deckshots\trips-crop.png">    </p:cNvPr>
          <p:cNvPicPr>
            <a:picLocks noChangeAspect="1"/>
          </p:cNvPicPr>
          <p:nvPr/>
        </p:nvPicPr>
        <p:blipFill>
          <a:blip r:embed="rId1"/>
          <a:stretch>
            <a:fillRect/>
          </a:stretch>
        </p:blipFill>
        <p:spPr>
          <a:xfrm>
            <a:off x="548640" y="4023360"/>
            <a:ext cx="3140814" cy="2148840"/>
          </a:xfrm>
          <a:prstGeom prst="rect">
            <a:avLst/>
          </a:prstGeom>
        </p:spPr>
      </p:pic>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0" y="1783080"/>
          <a:ext cx="6611112" cy="914400"/>
        </p:xfrm>
        <a:graphic>
          <a:graphicData uri="http://schemas.openxmlformats.org/drawingml/2006/table">
            <a:tbl>
              <a:tblPr/>
              <a:tblGrid>
                <a:gridCol w="2834640"/>
                <a:gridCol w="3776472"/>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File</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1F4D3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it does</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1F4D3A"/>
                    </a:solidFill>
                  </a:tcPr>
                </a:tc>
              </a:tr>
              <a:tr h="0">
                <a:tc>
                  <a:txBody>
                    <a:bodyPr/>
                    <a:lstStyle/>
                    <a:p>
                      <a:pPr indent="0" marL="0">
                        <a:buNone/>
                      </a:pPr>
                      <a:r>
                        <a:rPr lang="en-US" sz="1300" b="1" dirty="0">
                          <a:solidFill>
                            <a:srgbClr val="1F4D3A"/>
                          </a:solidFill>
                          <a:latin typeface="Calibri" pitchFamily="34" charset="0"/>
                          <a:ea typeface="Calibri" pitchFamily="34" charset="-122"/>
                          <a:cs typeface="Calibri" pitchFamily="34" charset="-120"/>
                        </a:rPr>
                        <a:t>TripController.java</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c>
                  <a:txBody>
                    <a:bodyPr/>
                    <a:lstStyle/>
                    <a:p>
                      <a:pPr indent="0" marL="0">
                        <a:buNone/>
                      </a:pPr>
                      <a:r>
                        <a:rPr lang="en-US" sz="1300" dirty="0">
                          <a:solidFill>
                            <a:srgbClr val="24292A"/>
                          </a:solidFill>
                          <a:latin typeface="Calibri" pitchFamily="34" charset="0"/>
                          <a:ea typeface="Calibri" pitchFamily="34" charset="-122"/>
                          <a:cs typeface="Calibri" pitchFamily="34" charset="-120"/>
                        </a:rPr>
                        <a:t>REST endpoints for /api/trips and /api/tracking/vehicles (trips currently running).</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r>
              <a:tr h="0">
                <a:tc>
                  <a:txBody>
                    <a:bodyPr/>
                    <a:lstStyle/>
                    <a:p>
                      <a:pPr indent="0" marL="0">
                        <a:buNone/>
                      </a:pPr>
                      <a:r>
                        <a:rPr lang="en-US" sz="1300" b="1" dirty="0">
                          <a:solidFill>
                            <a:srgbClr val="1F4D3A"/>
                          </a:solidFill>
                          <a:latin typeface="Calibri" pitchFamily="34" charset="0"/>
                          <a:ea typeface="Calibri" pitchFamily="34" charset="-122"/>
                          <a:cs typeface="Calibri" pitchFamily="34" charset="-120"/>
                        </a:rPr>
                        <a:t>TripService.java</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c>
                  <a:txBody>
                    <a:bodyPr/>
                    <a:lstStyle/>
                    <a:p>
                      <a:pPr indent="0" marL="0">
                        <a:buNone/>
                      </a:pPr>
                      <a:r>
                        <a:rPr lang="en-US" sz="1300" dirty="0">
                          <a:solidFill>
                            <a:srgbClr val="24292A"/>
                          </a:solidFill>
                          <a:latin typeface="Calibri" pitchFamily="34" charset="0"/>
                          <a:ea typeface="Calibri" pitchFamily="34" charset="-122"/>
                          <a:cs typeface="Calibri" pitchFamily="34" charset="-120"/>
                        </a:rPr>
                        <a:t>Checks the vehicle and route with the fleet service, enforces status rules and one trip per vehicle, works out delay, stale location and ETA.</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F4D3A"/>
                          </a:solidFill>
                          <a:latin typeface="Calibri" pitchFamily="34" charset="0"/>
                          <a:ea typeface="Calibri" pitchFamily="34" charset="-122"/>
                          <a:cs typeface="Calibri" pitchFamily="34" charset="-120"/>
                        </a:rPr>
                        <a:t>TrackingSimulator.java</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c>
                  <a:txBody>
                    <a:bodyPr/>
                    <a:lstStyle/>
                    <a:p>
                      <a:pPr indent="0" marL="0">
                        <a:buNone/>
                      </a:pPr>
                      <a:r>
                        <a:rPr lang="en-US" sz="1300" dirty="0">
                          <a:solidFill>
                            <a:srgbClr val="24292A"/>
                          </a:solidFill>
                          <a:latin typeface="Calibri" pitchFamily="34" charset="0"/>
                          <a:ea typeface="Calibri" pitchFamily="34" charset="-122"/>
                          <a:cs typeface="Calibri" pitchFamily="34" charset="-120"/>
                        </a:rPr>
                        <a:t>Runs every 5 seconds. Moves each running trip along its stops at 18–32 km/h and completes it at the final stop.</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r>
              <a:tr h="0">
                <a:tc>
                  <a:txBody>
                    <a:bodyPr/>
                    <a:lstStyle/>
                    <a:p>
                      <a:pPr indent="0" marL="0">
                        <a:buNone/>
                      </a:pPr>
                      <a:r>
                        <a:rPr lang="en-US" sz="1300" b="1" dirty="0">
                          <a:solidFill>
                            <a:srgbClr val="1F4D3A"/>
                          </a:solidFill>
                          <a:latin typeface="Calibri" pitchFamily="34" charset="0"/>
                          <a:ea typeface="Calibri" pitchFamily="34" charset="-122"/>
                          <a:cs typeface="Calibri" pitchFamily="34" charset="-120"/>
                        </a:rPr>
                        <a:t>FleetClient.java</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c>
                  <a:txBody>
                    <a:bodyPr/>
                    <a:lstStyle/>
                    <a:p>
                      <a:pPr indent="0" marL="0">
                        <a:buNone/>
                      </a:pPr>
                      <a:r>
                        <a:rPr lang="en-US" sz="1300" dirty="0">
                          <a:solidFill>
                            <a:srgbClr val="24292A"/>
                          </a:solidFill>
                          <a:latin typeface="Calibri" pitchFamily="34" charset="0"/>
                          <a:ea typeface="Calibri" pitchFamily="34" charset="-122"/>
                          <a:cs typeface="Calibri" pitchFamily="34" charset="-120"/>
                        </a:rPr>
                        <a:t>Calls the Fleet service REST API, passing on the user's JWT.</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F4D3A"/>
                          </a:solidFill>
                          <a:latin typeface="Calibri" pitchFamily="34" charset="0"/>
                          <a:ea typeface="Calibri" pitchFamily="34" charset="-122"/>
                          <a:cs typeface="Calibri" pitchFamily="34" charset="-120"/>
                        </a:rPr>
                        <a:t>Trip.java / TripStatus.java</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c>
                  <a:txBody>
                    <a:bodyPr/>
                    <a:lstStyle/>
                    <a:p>
                      <a:pPr indent="0" marL="0">
                        <a:buNone/>
                      </a:pPr>
                      <a:r>
                        <a:rPr lang="en-US" sz="1300" dirty="0">
                          <a:solidFill>
                            <a:srgbClr val="24292A"/>
                          </a:solidFill>
                          <a:latin typeface="Calibri" pitchFamily="34" charset="0"/>
                          <a:ea typeface="Calibri" pitchFamily="34" charset="-122"/>
                          <a:cs typeface="Calibri" pitchFamily="34" charset="-120"/>
                        </a:rPr>
                        <a:t>Trip entity: schedule, route snapshot, simulated position and speed.</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r>
              <a:tr h="0">
                <a:tc>
                  <a:txBody>
                    <a:bodyPr/>
                    <a:lstStyle/>
                    <a:p>
                      <a:pPr indent="0" marL="0">
                        <a:buNone/>
                      </a:pPr>
                      <a:r>
                        <a:rPr lang="en-US" sz="1300" b="1" dirty="0">
                          <a:solidFill>
                            <a:srgbClr val="1F4D3A"/>
                          </a:solidFill>
                          <a:latin typeface="Calibri" pitchFamily="34" charset="0"/>
                          <a:ea typeface="Calibri" pitchFamily="34" charset="-122"/>
                          <a:cs typeface="Calibri" pitchFamily="34" charset="-120"/>
                        </a:rPr>
                        <a:t>TripDtos.java</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c>
                  <a:txBody>
                    <a:bodyPr/>
                    <a:lstStyle/>
                    <a:p>
                      <a:pPr indent="0" marL="0">
                        <a:buNone/>
                      </a:pPr>
                      <a:r>
                        <a:rPr lang="en-US" sz="1300" dirty="0">
                          <a:solidFill>
                            <a:srgbClr val="24292A"/>
                          </a:solidFill>
                          <a:latin typeface="Calibri" pitchFamily="34" charset="0"/>
                          <a:ea typeface="Calibri" pitchFamily="34" charset="-122"/>
                          <a:cs typeface="Calibri" pitchFamily="34" charset="-120"/>
                        </a:rPr>
                        <a:t>Request and response records, including etaMinutes and etaNote (why there is no ETA).</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D656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t"/>
          <a:lstStyle/>
          <a:p>
            <a:pPr indent="0" marL="0">
              <a:buNone/>
            </a:pPr>
            <a:r>
              <a:rPr lang="en-US" sz="1200" b="1" spc="200" kern="0" dirty="0">
                <a:solidFill>
                  <a:srgbClr val="1F4D3A"/>
                </a:solidFill>
                <a:latin typeface="Calibri" pitchFamily="34" charset="0"/>
                <a:ea typeface="Calibri" pitchFamily="34" charset="-122"/>
                <a:cs typeface="Calibri" pitchFamily="34" charset="-120"/>
              </a:rPr>
              <a:t>SERVICE 3  ·  OCCUPANCY &amp; ALERT</a:t>
            </a:r>
            <a:endParaRPr lang="en-US" sz="1200" dirty="0"/>
          </a:p>
        </p:txBody>
      </p:sp>
      <p:sp>
        <p:nvSpPr>
          <p:cNvPr id="3" name="Text 1"/>
          <p:cNvSpPr txBox="1"/>
          <p:nvPr/>
        </p:nvSpPr>
        <p:spPr>
          <a:xfrm>
            <a:off x="548640" y="658368"/>
            <a:ext cx="11064240" cy="594360"/>
          </a:xfrm>
          <a:prstGeom prst="rect">
            <a:avLst/>
          </a:prstGeom>
          <a:noFill/>
          <a:ln/>
        </p:spPr>
        <p:txBody>
          <a:bodyPr wrap="square" lIns="0" tIns="0" rIns="0" bIns="0" rtlCol="0" anchor="t"/>
          <a:lstStyle/>
          <a:p>
            <a:pPr indent="0" marL="0">
              <a:buNone/>
            </a:pPr>
            <a:r>
              <a:rPr lang="en-US" sz="3000" b="1" dirty="0">
                <a:solidFill>
                  <a:srgbClr val="24292A"/>
                </a:solidFill>
                <a:latin typeface="Calibri" pitchFamily="34" charset="0"/>
                <a:ea typeface="Calibri" pitchFamily="34" charset="-122"/>
                <a:cs typeface="Calibri" pitchFamily="34" charset="-120"/>
              </a:rPr>
              <a:t>Occupancy and Alert Service</a:t>
            </a:r>
            <a:endParaRPr lang="en-US" sz="3000" dirty="0"/>
          </a:p>
        </p:txBody>
      </p:sp>
      <p:sp>
        <p:nvSpPr>
          <p:cNvPr id="4" name="Text 2"/>
          <p:cNvSpPr txBox="1"/>
          <p:nvPr/>
        </p:nvSpPr>
        <p:spPr>
          <a:xfrm>
            <a:off x="548640" y="1298448"/>
            <a:ext cx="10972800" cy="292608"/>
          </a:xfrm>
          <a:prstGeom prst="rect">
            <a:avLst/>
          </a:prstGeom>
          <a:noFill/>
          <a:ln/>
        </p:spPr>
        <p:txBody>
          <a:bodyPr wrap="square" lIns="0" tIns="0" rIns="0" bIns="0" rtlCol="0" anchor="t"/>
          <a:lstStyle/>
          <a:p>
            <a:pPr indent="0" marL="0">
              <a:buNone/>
            </a:pPr>
            <a:r>
              <a:rPr lang="en-US" sz="1500" dirty="0">
                <a:solidFill>
                  <a:srgbClr val="5D6560"/>
                </a:solidFill>
                <a:latin typeface="Calibri" pitchFamily="34" charset="0"/>
                <a:ea typeface="Calibri" pitchFamily="34" charset="-122"/>
                <a:cs typeface="Calibri" pitchFamily="34" charset="-120"/>
              </a:rPr>
              <a:t>Owner: Rohan Beniel E  ·  2024115124    |    Database: campusvolt_occupancy_db    |    Port 8084</a:t>
            </a:r>
            <a:endParaRPr lang="en-US" sz="1500" dirty="0"/>
          </a:p>
        </p:txBody>
      </p:sp>
      <p:sp>
        <p:nvSpPr>
          <p:cNvPr id="5" name="Text 3"/>
          <p:cNvSpPr txBox="1"/>
          <p:nvPr/>
        </p:nvSpPr>
        <p:spPr>
          <a:xfrm>
            <a:off x="548640" y="1783080"/>
            <a:ext cx="4114800" cy="274320"/>
          </a:xfrm>
          <a:prstGeom prst="rect">
            <a:avLst/>
          </a:prstGeom>
          <a:noFill/>
          <a:ln/>
        </p:spPr>
        <p:txBody>
          <a:bodyPr wrap="square" lIns="0" tIns="0" rIns="0" bIns="0" rtlCol="0" anchor="t"/>
          <a:lstStyle/>
          <a:p>
            <a:pPr indent="0" marL="0">
              <a:buNone/>
            </a:pPr>
            <a:r>
              <a:rPr lang="en-US" sz="1600" b="1" dirty="0">
                <a:solidFill>
                  <a:srgbClr val="1F4D3A"/>
                </a:solidFill>
                <a:latin typeface="Calibri" pitchFamily="34" charset="0"/>
                <a:ea typeface="Calibri" pitchFamily="34" charset="-122"/>
                <a:cs typeface="Calibri" pitchFamily="34" charset="-120"/>
              </a:rPr>
              <a:t>Work done</a:t>
            </a:r>
            <a:endParaRPr lang="en-US" sz="1600" dirty="0"/>
          </a:p>
        </p:txBody>
      </p:sp>
      <p:sp>
        <p:nvSpPr>
          <p:cNvPr id="6" name="Text 4"/>
          <p:cNvSpPr txBox="1"/>
          <p:nvPr/>
        </p:nvSpPr>
        <p:spPr>
          <a:xfrm>
            <a:off x="548640" y="2103120"/>
            <a:ext cx="4114800" cy="1874520"/>
          </a:xfrm>
          <a:prstGeom prst="rect">
            <a:avLst/>
          </a:prstGeom>
          <a:noFill/>
          <a:ln/>
        </p:spPr>
        <p:txBody>
          <a:bodyPr wrap="square" lIns="0" tIns="0" rIns="0" bIns="0" rtlCol="0" anchor="t"/>
          <a:lstStyle/>
          <a:p>
            <a:pPr marL="203200" indent="-203200">
              <a:spcAft>
                <a:spcPts val="700"/>
              </a:spcAft>
              <a:buSzPct val="100000"/>
              <a:buChar char="•"/>
            </a:pPr>
            <a:r>
              <a:rPr lang="en-US" sz="1500" dirty="0">
                <a:solidFill>
                  <a:srgbClr val="24292A"/>
                </a:solidFill>
                <a:latin typeface="Calibri" pitchFamily="34" charset="0"/>
                <a:ea typeface="Calibri" pitchFamily="34" charset="-122"/>
                <a:cs typeface="Calibri" pitchFamily="34" charset="-120"/>
              </a:rPr>
              <a:t>Passenger counts checked against vehicle capacity</a:t>
            </a:r>
            <a:endParaRPr lang="en-US" sz="1500" dirty="0"/>
          </a:p>
          <a:p>
            <a:pPr marL="203200" indent="-203200">
              <a:spcAft>
                <a:spcPts val="700"/>
              </a:spcAft>
              <a:buSzPct val="100000"/>
              <a:buChar char="•"/>
            </a:pPr>
            <a:r>
              <a:rPr lang="en-US" sz="1500" dirty="0">
                <a:solidFill>
                  <a:srgbClr val="24292A"/>
                </a:solidFill>
                <a:latin typeface="Calibri" pitchFamily="34" charset="0"/>
                <a:ea typeface="Calibri" pitchFamily="34" charset="-122"/>
                <a:cs typeface="Calibri" pitchFamily="34" charset="-120"/>
              </a:rPr>
              <a:t>Occupancy % with Normal, Near capacity and Overcrowded levels</a:t>
            </a:r>
            <a:endParaRPr lang="en-US" sz="1500" dirty="0"/>
          </a:p>
          <a:p>
            <a:pPr marL="203200" indent="-203200">
              <a:spcAft>
                <a:spcPts val="700"/>
              </a:spcAft>
              <a:buSzPct val="100000"/>
              <a:buChar char="•"/>
            </a:pPr>
            <a:r>
              <a:rPr lang="en-US" sz="1500" dirty="0">
                <a:solidFill>
                  <a:srgbClr val="24292A"/>
                </a:solidFill>
                <a:latin typeface="Calibri" pitchFamily="34" charset="0"/>
                <a:ea typeface="Calibri" pitchFamily="34" charset="-122"/>
                <a:cs typeface="Calibri" pitchFamily="34" charset="-120"/>
              </a:rPr>
              <a:t>Automatic alerts for overcrowding, delays and stale tracking</a:t>
            </a:r>
            <a:endParaRPr lang="en-US" sz="1500" dirty="0"/>
          </a:p>
          <a:p>
            <a:pPr marL="203200" indent="-203200">
              <a:spcAft>
                <a:spcPts val="700"/>
              </a:spcAft>
              <a:buSzPct val="100000"/>
              <a:buChar char="•"/>
            </a:pPr>
            <a:r>
              <a:rPr lang="en-US" sz="1500" dirty="0">
                <a:solidFill>
                  <a:srgbClr val="24292A"/>
                </a:solidFill>
                <a:latin typeface="Calibri" pitchFamily="34" charset="0"/>
                <a:ea typeface="Calibri" pitchFamily="34" charset="-122"/>
                <a:cs typeface="Calibri" pitchFamily="34" charset="-120"/>
              </a:rPr>
              <a:t>APIs for current occupancy and alerts</a:t>
            </a:r>
            <a:endParaRPr lang="en-US" sz="1500" dirty="0"/>
          </a:p>
        </p:txBody>
      </p:sp>
      <p:sp>
        <p:nvSpPr>
          <p:cNvPr id="7" name="Shape 5"/>
          <p:cNvSpPr/>
          <p:nvPr/>
        </p:nvSpPr>
        <p:spPr>
          <a:xfrm>
            <a:off x="530352" y="4005072"/>
            <a:ext cx="3991496" cy="2185416"/>
          </a:xfrm>
          <a:prstGeom prst="rect">
            <a:avLst/>
          </a:prstGeom>
          <a:solidFill>
            <a:srgbClr val="DDE1DE"/>
          </a:solidFill>
          <a:ln w="12700">
            <a:solidFill>
              <a:srgbClr val="DDE1DE"/>
            </a:solidFill>
            <a:prstDash val="solid"/>
          </a:ln>
        </p:spPr>
      </p:sp>
      <p:pic>
        <p:nvPicPr>
          <p:cNvPr id="8" name="Image 0" descr="C:\Users\KAWIN\AppData\Local\Temp\claude\C--Users-KAWIN\d7b2766c-ebc3-4c65-a6d5-4ec78576fc05\scratchpad\ui\deckshots\occupancy-crop.png">    </p:cNvPr>
          <p:cNvPicPr>
            <a:picLocks noChangeAspect="1"/>
          </p:cNvPicPr>
          <p:nvPr/>
        </p:nvPicPr>
        <p:blipFill>
          <a:blip r:embed="rId1"/>
          <a:stretch>
            <a:fillRect/>
          </a:stretch>
        </p:blipFill>
        <p:spPr>
          <a:xfrm>
            <a:off x="548640" y="4023360"/>
            <a:ext cx="3954920" cy="2148840"/>
          </a:xfrm>
          <a:prstGeom prst="rect">
            <a:avLst/>
          </a:prstGeom>
        </p:spPr>
      </p:pic>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29200" y="1783080"/>
          <a:ext cx="6611112" cy="914400"/>
        </p:xfrm>
        <a:graphic>
          <a:graphicData uri="http://schemas.openxmlformats.org/drawingml/2006/table">
            <a:tbl>
              <a:tblPr/>
              <a:tblGrid>
                <a:gridCol w="2834640"/>
                <a:gridCol w="3776472"/>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File</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1F4D3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it does</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1F4D3A"/>
                    </a:solidFill>
                  </a:tcPr>
                </a:tc>
              </a:tr>
              <a:tr h="0">
                <a:tc>
                  <a:txBody>
                    <a:bodyPr/>
                    <a:lstStyle/>
                    <a:p>
                      <a:pPr indent="0" marL="0">
                        <a:buNone/>
                      </a:pPr>
                      <a:r>
                        <a:rPr lang="en-US" sz="1300" b="1" dirty="0">
                          <a:solidFill>
                            <a:srgbClr val="1F4D3A"/>
                          </a:solidFill>
                          <a:latin typeface="Calibri" pitchFamily="34" charset="0"/>
                          <a:ea typeface="Calibri" pitchFamily="34" charset="-122"/>
                          <a:cs typeface="Calibri" pitchFamily="34" charset="-120"/>
                        </a:rPr>
                        <a:t>OccupancyController.java</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c>
                  <a:txBody>
                    <a:bodyPr/>
                    <a:lstStyle/>
                    <a:p>
                      <a:pPr indent="0" marL="0">
                        <a:buNone/>
                      </a:pPr>
                      <a:r>
                        <a:rPr lang="en-US" sz="1300" dirty="0">
                          <a:solidFill>
                            <a:srgbClr val="24292A"/>
                          </a:solidFill>
                          <a:latin typeface="Calibri" pitchFamily="34" charset="0"/>
                          <a:ea typeface="Calibri" pitchFamily="34" charset="-122"/>
                          <a:cs typeface="Calibri" pitchFamily="34" charset="-120"/>
                        </a:rPr>
                        <a:t>REST endpoints: GET /api/occupancy, PUT /api/occupancy/{vehicleId}, GET /api/alerts.</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r>
              <a:tr h="0">
                <a:tc>
                  <a:txBody>
                    <a:bodyPr/>
                    <a:lstStyle/>
                    <a:p>
                      <a:pPr indent="0" marL="0">
                        <a:buNone/>
                      </a:pPr>
                      <a:r>
                        <a:rPr lang="en-US" sz="1300" b="1" dirty="0">
                          <a:solidFill>
                            <a:srgbClr val="1F4D3A"/>
                          </a:solidFill>
                          <a:latin typeface="Calibri" pitchFamily="34" charset="0"/>
                          <a:ea typeface="Calibri" pitchFamily="34" charset="-122"/>
                          <a:cs typeface="Calibri" pitchFamily="34" charset="-120"/>
                        </a:rPr>
                        <a:t>OccupancyService.java</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c>
                  <a:txBody>
                    <a:bodyPr/>
                    <a:lstStyle/>
                    <a:p>
                      <a:pPr indent="0" marL="0">
                        <a:buNone/>
                      </a:pPr>
                      <a:r>
                        <a:rPr lang="en-US" sz="1300" dirty="0">
                          <a:solidFill>
                            <a:srgbClr val="24292A"/>
                          </a:solidFill>
                          <a:latin typeface="Calibri" pitchFamily="34" charset="0"/>
                          <a:ea typeface="Calibri" pitchFamily="34" charset="-122"/>
                          <a:cs typeface="Calibri" pitchFamily="34" charset="-120"/>
                        </a:rPr>
                        <a:t>Gets capacity from the fleet service, rejects negative counts or more than 2× capacity, calculates passengers ÷ capacity.</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F4D3A"/>
                          </a:solidFill>
                          <a:latin typeface="Calibri" pitchFamily="34" charset="0"/>
                          <a:ea typeface="Calibri" pitchFamily="34" charset="-122"/>
                          <a:cs typeface="Calibri" pitchFamily="34" charset="-120"/>
                        </a:rPr>
                        <a:t>AlertService.java</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c>
                  <a:txBody>
                    <a:bodyPr/>
                    <a:lstStyle/>
                    <a:p>
                      <a:pPr indent="0" marL="0">
                        <a:buNone/>
                      </a:pPr>
                      <a:r>
                        <a:rPr lang="en-US" sz="1300" dirty="0">
                          <a:solidFill>
                            <a:srgbClr val="24292A"/>
                          </a:solidFill>
                          <a:latin typeface="Calibri" pitchFamily="34" charset="0"/>
                          <a:ea typeface="Calibri" pitchFamily="34" charset="-122"/>
                          <a:cs typeface="Calibri" pitchFamily="34" charset="-120"/>
                        </a:rPr>
                        <a:t>Opens, updates and resolves alerts: over capacity, trip more than 5 min late (critical from 15), no location update for 2 min.</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r>
              <a:tr h="0">
                <a:tc>
                  <a:txBody>
                    <a:bodyPr/>
                    <a:lstStyle/>
                    <a:p>
                      <a:pPr indent="0" marL="0">
                        <a:buNone/>
                      </a:pPr>
                      <a:r>
                        <a:rPr lang="en-US" sz="1300" b="1" dirty="0">
                          <a:solidFill>
                            <a:srgbClr val="1F4D3A"/>
                          </a:solidFill>
                          <a:latin typeface="Calibri" pitchFamily="34" charset="0"/>
                          <a:ea typeface="Calibri" pitchFamily="34" charset="-122"/>
                          <a:cs typeface="Calibri" pitchFamily="34" charset="-120"/>
                        </a:rPr>
                        <a:t>ServiceClients.java</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c>
                  <a:txBody>
                    <a:bodyPr/>
                    <a:lstStyle/>
                    <a:p>
                      <a:pPr indent="0" marL="0">
                        <a:buNone/>
                      </a:pPr>
                      <a:r>
                        <a:rPr lang="en-US" sz="1300" dirty="0">
                          <a:solidFill>
                            <a:srgbClr val="24292A"/>
                          </a:solidFill>
                          <a:latin typeface="Calibri" pitchFamily="34" charset="0"/>
                          <a:ea typeface="Calibri" pitchFamily="34" charset="-122"/>
                          <a:cs typeface="Calibri" pitchFamily="34" charset="-120"/>
                        </a:rPr>
                        <a:t>REST calls to the Fleet and Trip services, passing on the user's JWT.</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F4D3A"/>
                          </a:solidFill>
                          <a:latin typeface="Calibri" pitchFamily="34" charset="0"/>
                          <a:ea typeface="Calibri" pitchFamily="34" charset="-122"/>
                          <a:cs typeface="Calibri" pitchFamily="34" charset="-120"/>
                        </a:rPr>
                        <a:t>VehicleOccupancy.java / Alert.java</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c>
                  <a:txBody>
                    <a:bodyPr/>
                    <a:lstStyle/>
                    <a:p>
                      <a:pPr indent="0" marL="0">
                        <a:buNone/>
                      </a:pPr>
                      <a:r>
                        <a:rPr lang="en-US" sz="1300" dirty="0">
                          <a:solidFill>
                            <a:srgbClr val="24292A"/>
                          </a:solidFill>
                          <a:latin typeface="Calibri" pitchFamily="34" charset="0"/>
                          <a:ea typeface="Calibri" pitchFamily="34" charset="-122"/>
                          <a:cs typeface="Calibri" pitchFamily="34" charset="-120"/>
                        </a:rPr>
                        <a:t>Entities for the latest count per vehicle and for alert history.</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r>
              <a:tr h="0">
                <a:tc>
                  <a:txBody>
                    <a:bodyPr/>
                    <a:lstStyle/>
                    <a:p>
                      <a:pPr indent="0" marL="0">
                        <a:buNone/>
                      </a:pPr>
                      <a:r>
                        <a:rPr lang="en-US" sz="1300" b="1" dirty="0">
                          <a:solidFill>
                            <a:srgbClr val="1F4D3A"/>
                          </a:solidFill>
                          <a:latin typeface="Calibri" pitchFamily="34" charset="0"/>
                          <a:ea typeface="Calibri" pitchFamily="34" charset="-122"/>
                          <a:cs typeface="Calibri" pitchFamily="34" charset="-120"/>
                        </a:rPr>
                        <a:t>AlertType / AlertSeverity.java</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c>
                  <a:txBody>
                    <a:bodyPr/>
                    <a:lstStyle/>
                    <a:p>
                      <a:pPr indent="0" marL="0">
                        <a:buNone/>
                      </a:pPr>
                      <a:r>
                        <a:rPr lang="en-US" sz="1300" dirty="0">
                          <a:solidFill>
                            <a:srgbClr val="24292A"/>
                          </a:solidFill>
                          <a:latin typeface="Calibri" pitchFamily="34" charset="0"/>
                          <a:ea typeface="Calibri" pitchFamily="34" charset="-122"/>
                          <a:cs typeface="Calibri" pitchFamily="34" charset="-120"/>
                        </a:rPr>
                        <a:t>OVERCROWDING, DELAY, STALE_TRACKING  ·  WARNING, CRITICAL.</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D656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t"/>
          <a:lstStyle/>
          <a:p>
            <a:pPr indent="0" marL="0">
              <a:buNone/>
            </a:pPr>
            <a:r>
              <a:rPr lang="en-US" sz="1200" b="1" spc="200" kern="0" dirty="0">
                <a:solidFill>
                  <a:srgbClr val="1F4D3A"/>
                </a:solidFill>
                <a:latin typeface="Calibri" pitchFamily="34" charset="0"/>
                <a:ea typeface="Calibri" pitchFamily="34" charset="-122"/>
                <a:cs typeface="Calibri" pitchFamily="34" charset="-120"/>
              </a:rPr>
              <a:t>SHARED  ·  AUTHENTICATION &amp; AUTHORIZATION</a:t>
            </a:r>
            <a:endParaRPr lang="en-US" sz="1200" dirty="0"/>
          </a:p>
        </p:txBody>
      </p:sp>
      <p:sp>
        <p:nvSpPr>
          <p:cNvPr id="3" name="Text 1"/>
          <p:cNvSpPr txBox="1"/>
          <p:nvPr/>
        </p:nvSpPr>
        <p:spPr>
          <a:xfrm>
            <a:off x="548640" y="658368"/>
            <a:ext cx="11064240" cy="594360"/>
          </a:xfrm>
          <a:prstGeom prst="rect">
            <a:avLst/>
          </a:prstGeom>
          <a:noFill/>
          <a:ln/>
        </p:spPr>
        <p:txBody>
          <a:bodyPr wrap="square" lIns="0" tIns="0" rIns="0" bIns="0" rtlCol="0" anchor="t"/>
          <a:lstStyle/>
          <a:p>
            <a:pPr indent="0" marL="0">
              <a:buNone/>
            </a:pPr>
            <a:r>
              <a:rPr lang="en-US" sz="3000" b="1" dirty="0">
                <a:solidFill>
                  <a:srgbClr val="24292A"/>
                </a:solidFill>
                <a:latin typeface="Calibri" pitchFamily="34" charset="0"/>
                <a:ea typeface="Calibri" pitchFamily="34" charset="-122"/>
                <a:cs typeface="Calibri" pitchFamily="34" charset="-120"/>
              </a:rPr>
              <a:t>Auth Service and security in every service</a:t>
            </a:r>
            <a:endParaRPr lang="en-US" sz="3000" dirty="0"/>
          </a:p>
        </p:txBody>
      </p:sp>
      <p:sp>
        <p:nvSpPr>
          <p:cNvPr id="4" name="Text 2"/>
          <p:cNvSpPr txBox="1"/>
          <p:nvPr/>
        </p:nvSpPr>
        <p:spPr>
          <a:xfrm>
            <a:off x="548640" y="1298448"/>
            <a:ext cx="10972800" cy="292608"/>
          </a:xfrm>
          <a:prstGeom prst="rect">
            <a:avLst/>
          </a:prstGeom>
          <a:noFill/>
          <a:ln/>
        </p:spPr>
        <p:txBody>
          <a:bodyPr wrap="square" lIns="0" tIns="0" rIns="0" bIns="0" rtlCol="0" anchor="t"/>
          <a:lstStyle/>
          <a:p>
            <a:pPr indent="0" marL="0">
              <a:buNone/>
            </a:pPr>
            <a:r>
              <a:rPr lang="en-US" sz="1500" dirty="0">
                <a:solidFill>
                  <a:srgbClr val="5D6560"/>
                </a:solidFill>
                <a:latin typeface="Calibri" pitchFamily="34" charset="0"/>
                <a:ea typeface="Calibri" pitchFamily="34" charset="-122"/>
                <a:cs typeface="Calibri" pitchFamily="34" charset="-120"/>
              </a:rPr>
              <a:t>Coordinated by Kawin A N  ·  each owner protects their own endpoints    |    Database: campusvolt_auth_db    |    Port 8081</a:t>
            </a:r>
            <a:endParaRPr lang="en-US" sz="1500" dirty="0"/>
          </a:p>
        </p:txBody>
      </p:sp>
      <p:sp>
        <p:nvSpPr>
          <p:cNvPr id="5" name="Text 3"/>
          <p:cNvSpPr txBox="1"/>
          <p:nvPr/>
        </p:nvSpPr>
        <p:spPr>
          <a:xfrm>
            <a:off x="548640" y="1783080"/>
            <a:ext cx="4114800" cy="274320"/>
          </a:xfrm>
          <a:prstGeom prst="rect">
            <a:avLst/>
          </a:prstGeom>
          <a:noFill/>
          <a:ln/>
        </p:spPr>
        <p:txBody>
          <a:bodyPr wrap="square" lIns="0" tIns="0" rIns="0" bIns="0" rtlCol="0" anchor="t"/>
          <a:lstStyle/>
          <a:p>
            <a:pPr indent="0" marL="0">
              <a:buNone/>
            </a:pPr>
            <a:r>
              <a:rPr lang="en-US" sz="1600" b="1" dirty="0">
                <a:solidFill>
                  <a:srgbClr val="1F4D3A"/>
                </a:solidFill>
                <a:latin typeface="Calibri" pitchFamily="34" charset="0"/>
                <a:ea typeface="Calibri" pitchFamily="34" charset="-122"/>
                <a:cs typeface="Calibri" pitchFamily="34" charset="-120"/>
              </a:rPr>
              <a:t>Work done</a:t>
            </a:r>
            <a:endParaRPr lang="en-US" sz="1600" dirty="0"/>
          </a:p>
        </p:txBody>
      </p:sp>
      <p:sp>
        <p:nvSpPr>
          <p:cNvPr id="6" name="Text 4"/>
          <p:cNvSpPr txBox="1"/>
          <p:nvPr/>
        </p:nvSpPr>
        <p:spPr>
          <a:xfrm>
            <a:off x="548640" y="2103120"/>
            <a:ext cx="4114800" cy="1874520"/>
          </a:xfrm>
          <a:prstGeom prst="rect">
            <a:avLst/>
          </a:prstGeom>
          <a:noFill/>
          <a:ln/>
        </p:spPr>
        <p:txBody>
          <a:bodyPr wrap="square" lIns="0" tIns="0" rIns="0" bIns="0" rtlCol="0" anchor="t"/>
          <a:lstStyle/>
          <a:p>
            <a:pPr marL="203200" indent="-203200">
              <a:spcAft>
                <a:spcPts val="700"/>
              </a:spcAft>
              <a:buSzPct val="100000"/>
              <a:buChar char="•"/>
            </a:pPr>
            <a:r>
              <a:rPr lang="en-US" sz="1500" dirty="0">
                <a:solidFill>
                  <a:srgbClr val="24292A"/>
                </a:solidFill>
                <a:latin typeface="Calibri" pitchFamily="34" charset="0"/>
                <a:ea typeface="Calibri" pitchFamily="34" charset="-122"/>
                <a:cs typeface="Calibri" pitchFamily="34" charset="-120"/>
              </a:rPr>
              <a:t>Registration and login with BCrypt-hashed passwords</a:t>
            </a:r>
            <a:endParaRPr lang="en-US" sz="1500" dirty="0"/>
          </a:p>
          <a:p>
            <a:pPr marL="203200" indent="-203200">
              <a:spcAft>
                <a:spcPts val="700"/>
              </a:spcAft>
              <a:buSzPct val="100000"/>
              <a:buChar char="•"/>
            </a:pPr>
            <a:r>
              <a:rPr lang="en-US" sz="1500" dirty="0">
                <a:solidFill>
                  <a:srgbClr val="24292A"/>
                </a:solidFill>
                <a:latin typeface="Calibri" pitchFamily="34" charset="0"/>
                <a:ea typeface="Calibri" pitchFamily="34" charset="-122"/>
                <a:cs typeface="Calibri" pitchFamily="34" charset="-120"/>
              </a:rPr>
              <a:t>JWT issued at login and checked by every service</a:t>
            </a:r>
            <a:endParaRPr lang="en-US" sz="1500" dirty="0"/>
          </a:p>
          <a:p>
            <a:pPr marL="203200" indent="-203200">
              <a:spcAft>
                <a:spcPts val="700"/>
              </a:spcAft>
              <a:buSzPct val="100000"/>
              <a:buChar char="•"/>
            </a:pPr>
            <a:r>
              <a:rPr lang="en-US" sz="1500" dirty="0">
                <a:solidFill>
                  <a:srgbClr val="24292A"/>
                </a:solidFill>
                <a:latin typeface="Calibri" pitchFamily="34" charset="0"/>
                <a:ea typeface="Calibri" pitchFamily="34" charset="-122"/>
                <a:cs typeface="Calibri" pitchFamily="34" charset="-120"/>
              </a:rPr>
              <a:t>ADMIN and STUDENT roles enforced on the backend</a:t>
            </a:r>
            <a:endParaRPr lang="en-US" sz="1500" dirty="0"/>
          </a:p>
          <a:p>
            <a:pPr marL="203200" indent="-203200">
              <a:spcAft>
                <a:spcPts val="700"/>
              </a:spcAft>
              <a:buSzPct val="100000"/>
              <a:buChar char="•"/>
            </a:pPr>
            <a:r>
              <a:rPr lang="en-US" sz="1500" dirty="0">
                <a:solidFill>
                  <a:srgbClr val="24292A"/>
                </a:solidFill>
                <a:latin typeface="Calibri" pitchFamily="34" charset="0"/>
                <a:ea typeface="Calibri" pitchFamily="34" charset="-122"/>
                <a:cs typeface="Calibri" pitchFamily="34" charset="-120"/>
              </a:rPr>
              <a:t>CORS set up for the React website</a:t>
            </a:r>
            <a:endParaRPr lang="en-US" sz="1500" dirty="0"/>
          </a:p>
        </p:txBody>
      </p:sp>
      <p:sp>
        <p:nvSpPr>
          <p:cNvPr id="7" name="Shape 5"/>
          <p:cNvSpPr/>
          <p:nvPr/>
        </p:nvSpPr>
        <p:spPr>
          <a:xfrm>
            <a:off x="530352" y="4005072"/>
            <a:ext cx="3634634" cy="2185416"/>
          </a:xfrm>
          <a:prstGeom prst="rect">
            <a:avLst/>
          </a:prstGeom>
          <a:solidFill>
            <a:srgbClr val="DDE1DE"/>
          </a:solidFill>
          <a:ln w="12700">
            <a:solidFill>
              <a:srgbClr val="DDE1DE"/>
            </a:solidFill>
            <a:prstDash val="solid"/>
          </a:ln>
        </p:spPr>
      </p:sp>
      <p:pic>
        <p:nvPicPr>
          <p:cNvPr id="8" name="Image 0" descr="C:\Users\KAWIN\AppData\Local\Temp\claude\C--Users-KAWIN\d7b2766c-ebc3-4c65-a6d5-4ec78576fc05\scratchpad\ui\deckshots\login.png">    </p:cNvPr>
          <p:cNvPicPr>
            <a:picLocks noChangeAspect="1"/>
          </p:cNvPicPr>
          <p:nvPr/>
        </p:nvPicPr>
        <p:blipFill>
          <a:blip r:embed="rId1"/>
          <a:stretch>
            <a:fillRect/>
          </a:stretch>
        </p:blipFill>
        <p:spPr>
          <a:xfrm>
            <a:off x="548640" y="4023360"/>
            <a:ext cx="3598058" cy="2148840"/>
          </a:xfrm>
          <a:prstGeom prst="rect">
            <a:avLst/>
          </a:prstGeom>
        </p:spPr>
      </p:pic>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29200" y="1783080"/>
          <a:ext cx="6611112" cy="914400"/>
        </p:xfrm>
        <a:graphic>
          <a:graphicData uri="http://schemas.openxmlformats.org/drawingml/2006/table">
            <a:tbl>
              <a:tblPr/>
              <a:tblGrid>
                <a:gridCol w="2834640"/>
                <a:gridCol w="3776472"/>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File</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1F4D3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it does</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1F4D3A"/>
                    </a:solidFill>
                  </a:tcPr>
                </a:tc>
              </a:tr>
              <a:tr h="0">
                <a:tc>
                  <a:txBody>
                    <a:bodyPr/>
                    <a:lstStyle/>
                    <a:p>
                      <a:pPr indent="0" marL="0">
                        <a:buNone/>
                      </a:pPr>
                      <a:r>
                        <a:rPr lang="en-US" sz="1300" b="1" dirty="0">
                          <a:solidFill>
                            <a:srgbClr val="1F4D3A"/>
                          </a:solidFill>
                          <a:latin typeface="Calibri" pitchFamily="34" charset="0"/>
                          <a:ea typeface="Calibri" pitchFamily="34" charset="-122"/>
                          <a:cs typeface="Calibri" pitchFamily="34" charset="-120"/>
                        </a:rPr>
                        <a:t>AuthController.java</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c>
                  <a:txBody>
                    <a:bodyPr/>
                    <a:lstStyle/>
                    <a:p>
                      <a:pPr indent="0" marL="0">
                        <a:buNone/>
                      </a:pPr>
                      <a:r>
                        <a:rPr lang="en-US" sz="1300" dirty="0">
                          <a:solidFill>
                            <a:srgbClr val="24292A"/>
                          </a:solidFill>
                          <a:latin typeface="Calibri" pitchFamily="34" charset="0"/>
                          <a:ea typeface="Calibri" pitchFamily="34" charset="-122"/>
                          <a:cs typeface="Calibri" pitchFamily="34" charset="-120"/>
                        </a:rPr>
                        <a:t>POST /api/auth/register, POST /api/auth/login, GET /api/auth/me.</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r>
              <a:tr h="0">
                <a:tc>
                  <a:txBody>
                    <a:bodyPr/>
                    <a:lstStyle/>
                    <a:p>
                      <a:pPr indent="0" marL="0">
                        <a:buNone/>
                      </a:pPr>
                      <a:r>
                        <a:rPr lang="en-US" sz="1300" b="1" dirty="0">
                          <a:solidFill>
                            <a:srgbClr val="1F4D3A"/>
                          </a:solidFill>
                          <a:latin typeface="Calibri" pitchFamily="34" charset="0"/>
                          <a:ea typeface="Calibri" pitchFamily="34" charset="-122"/>
                          <a:cs typeface="Calibri" pitchFamily="34" charset="-120"/>
                        </a:rPr>
                        <a:t>AuthService.java</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c>
                  <a:txBody>
                    <a:bodyPr/>
                    <a:lstStyle/>
                    <a:p>
                      <a:pPr indent="0" marL="0">
                        <a:buNone/>
                      </a:pPr>
                      <a:r>
                        <a:rPr lang="en-US" sz="1300" dirty="0">
                          <a:solidFill>
                            <a:srgbClr val="24292A"/>
                          </a:solidFill>
                          <a:latin typeface="Calibri" pitchFamily="34" charset="0"/>
                          <a:ea typeface="Calibri" pitchFamily="34" charset="-122"/>
                          <a:cs typeface="Calibri" pitchFamily="34" charset="-120"/>
                        </a:rPr>
                        <a:t>Hashes and checks passwords with BCrypt. New accounts are always STUDENT.</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F4D3A"/>
                          </a:solidFill>
                          <a:latin typeface="Calibri" pitchFamily="34" charset="0"/>
                          <a:ea typeface="Calibri" pitchFamily="34" charset="-122"/>
                          <a:cs typeface="Calibri" pitchFamily="34" charset="-120"/>
                        </a:rPr>
                        <a:t>JwtService.java</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c>
                  <a:txBody>
                    <a:bodyPr/>
                    <a:lstStyle/>
                    <a:p>
                      <a:pPr indent="0" marL="0">
                        <a:buNone/>
                      </a:pPr>
                      <a:r>
                        <a:rPr lang="en-US" sz="1300" dirty="0">
                          <a:solidFill>
                            <a:srgbClr val="24292A"/>
                          </a:solidFill>
                          <a:latin typeface="Calibri" pitchFamily="34" charset="0"/>
                          <a:ea typeface="Calibri" pitchFamily="34" charset="-122"/>
                          <a:cs typeface="Calibri" pitchFamily="34" charset="-120"/>
                        </a:rPr>
                        <a:t>Signs a JWT (HMAC-SHA256) holding email, name and role. Expires after 8 hours.</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r>
              <a:tr h="0">
                <a:tc>
                  <a:txBody>
                    <a:bodyPr/>
                    <a:lstStyle/>
                    <a:p>
                      <a:pPr indent="0" marL="0">
                        <a:buNone/>
                      </a:pPr>
                      <a:r>
                        <a:rPr lang="en-US" sz="1300" b="1" dirty="0">
                          <a:solidFill>
                            <a:srgbClr val="1F4D3A"/>
                          </a:solidFill>
                          <a:latin typeface="Calibri" pitchFamily="34" charset="0"/>
                          <a:ea typeface="Calibri" pitchFamily="34" charset="-122"/>
                          <a:cs typeface="Calibri" pitchFamily="34" charset="-120"/>
                        </a:rPr>
                        <a:t>JwtAuthFilter.java</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c>
                  <a:txBody>
                    <a:bodyPr/>
                    <a:lstStyle/>
                    <a:p>
                      <a:pPr indent="0" marL="0">
                        <a:buNone/>
                      </a:pPr>
                      <a:r>
                        <a:rPr lang="en-US" sz="1300" dirty="0">
                          <a:solidFill>
                            <a:srgbClr val="24292A"/>
                          </a:solidFill>
                          <a:latin typeface="Calibri" pitchFamily="34" charset="0"/>
                          <a:ea typeface="Calibri" pitchFamily="34" charset="-122"/>
                          <a:cs typeface="Calibri" pitchFamily="34" charset="-120"/>
                        </a:rPr>
                        <a:t>In every service: reads the Bearer token, verifies its signature, sets the user's role.</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F4D3A"/>
                          </a:solidFill>
                          <a:latin typeface="Calibri" pitchFamily="34" charset="0"/>
                          <a:ea typeface="Calibri" pitchFamily="34" charset="-122"/>
                          <a:cs typeface="Calibri" pitchFamily="34" charset="-120"/>
                        </a:rPr>
                        <a:t>SecurityConfig.java</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c>
                  <a:txBody>
                    <a:bodyPr/>
                    <a:lstStyle/>
                    <a:p>
                      <a:pPr indent="0" marL="0">
                        <a:buNone/>
                      </a:pPr>
                      <a:r>
                        <a:rPr lang="en-US" sz="1300" dirty="0">
                          <a:solidFill>
                            <a:srgbClr val="24292A"/>
                          </a:solidFill>
                          <a:latin typeface="Calibri" pitchFamily="34" charset="0"/>
                          <a:ea typeface="Calibri" pitchFamily="34" charset="-122"/>
                          <a:cs typeface="Calibri" pitchFamily="34" charset="-120"/>
                        </a:rPr>
                        <a:t>In every service: no server sessions, CORS, public login/register only, ADMIN rules via @PreAuthorize.</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r>
              <a:tr h="0">
                <a:tc>
                  <a:txBody>
                    <a:bodyPr/>
                    <a:lstStyle/>
                    <a:p>
                      <a:pPr indent="0" marL="0">
                        <a:buNone/>
                      </a:pPr>
                      <a:r>
                        <a:rPr lang="en-US" sz="1300" b="1" dirty="0">
                          <a:solidFill>
                            <a:srgbClr val="1F4D3A"/>
                          </a:solidFill>
                          <a:latin typeface="Calibri" pitchFamily="34" charset="0"/>
                          <a:ea typeface="Calibri" pitchFamily="34" charset="-122"/>
                          <a:cs typeface="Calibri" pitchFamily="34" charset="-120"/>
                        </a:rPr>
                        <a:t>User.java / Role.java</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c>
                  <a:txBody>
                    <a:bodyPr/>
                    <a:lstStyle/>
                    <a:p>
                      <a:pPr indent="0" marL="0">
                        <a:buNone/>
                      </a:pPr>
                      <a:r>
                        <a:rPr lang="en-US" sz="1300" dirty="0">
                          <a:solidFill>
                            <a:srgbClr val="24292A"/>
                          </a:solidFill>
                          <a:latin typeface="Calibri" pitchFamily="34" charset="0"/>
                          <a:ea typeface="Calibri" pitchFamily="34" charset="-122"/>
                          <a:cs typeface="Calibri" pitchFamily="34" charset="-120"/>
                        </a:rPr>
                        <a:t>Users table with a unique email, password hash and ADMIN | STUDENT role.</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F4D3A"/>
                          </a:solidFill>
                          <a:latin typeface="Calibri" pitchFamily="34" charset="0"/>
                          <a:ea typeface="Calibri" pitchFamily="34" charset="-122"/>
                          <a:cs typeface="Calibri" pitchFamily="34" charset="-120"/>
                        </a:rPr>
                        <a:t>AuthServiceApplication.java</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c>
                  <a:txBody>
                    <a:bodyPr/>
                    <a:lstStyle/>
                    <a:p>
                      <a:pPr indent="0" marL="0">
                        <a:buNone/>
                      </a:pPr>
                      <a:r>
                        <a:rPr lang="en-US" sz="1300" dirty="0">
                          <a:solidFill>
                            <a:srgbClr val="24292A"/>
                          </a:solidFill>
                          <a:latin typeface="Calibri" pitchFamily="34" charset="0"/>
                          <a:ea typeface="Calibri" pitchFamily="34" charset="-122"/>
                          <a:cs typeface="Calibri" pitchFamily="34" charset="-120"/>
                        </a:rPr>
                        <a:t>Defines the BCrypt encoder and creates the first admin from environment variables.</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r>
            </a:tbl>
          </a:graphicData>
        </a:graphic>
      </p:graphicFrame>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D656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t"/>
          <a:lstStyle/>
          <a:p>
            <a:pPr indent="0" marL="0">
              <a:buNone/>
            </a:pPr>
            <a:r>
              <a:rPr lang="en-US" sz="1200" b="1" spc="200" kern="0" dirty="0">
                <a:solidFill>
                  <a:srgbClr val="1F4D3A"/>
                </a:solidFill>
                <a:latin typeface="Calibri" pitchFamily="34" charset="0"/>
                <a:ea typeface="Calibri" pitchFamily="34" charset="-122"/>
                <a:cs typeface="Calibri" pitchFamily="34" charset="-120"/>
              </a:rPr>
              <a:t>SHARED  ·  REACT WEBSITE</a:t>
            </a:r>
            <a:endParaRPr lang="en-US" sz="1200" dirty="0"/>
          </a:p>
        </p:txBody>
      </p:sp>
      <p:sp>
        <p:nvSpPr>
          <p:cNvPr id="3" name="Text 1"/>
          <p:cNvSpPr txBox="1"/>
          <p:nvPr/>
        </p:nvSpPr>
        <p:spPr>
          <a:xfrm>
            <a:off x="548640" y="658368"/>
            <a:ext cx="11064240" cy="594360"/>
          </a:xfrm>
          <a:prstGeom prst="rect">
            <a:avLst/>
          </a:prstGeom>
          <a:noFill/>
          <a:ln/>
        </p:spPr>
        <p:txBody>
          <a:bodyPr wrap="square" lIns="0" tIns="0" rIns="0" bIns="0" rtlCol="0" anchor="t"/>
          <a:lstStyle/>
          <a:p>
            <a:pPr indent="0" marL="0">
              <a:buNone/>
            </a:pPr>
            <a:r>
              <a:rPr lang="en-US" sz="3000" b="1" dirty="0">
                <a:solidFill>
                  <a:srgbClr val="24292A"/>
                </a:solidFill>
                <a:latin typeface="Calibri" pitchFamily="34" charset="0"/>
                <a:ea typeface="Calibri" pitchFamily="34" charset="-122"/>
                <a:cs typeface="Calibri" pitchFamily="34" charset="-120"/>
              </a:rPr>
              <a:t>React Frontend</a:t>
            </a:r>
            <a:endParaRPr lang="en-US" sz="3000" dirty="0"/>
          </a:p>
        </p:txBody>
      </p:sp>
      <p:sp>
        <p:nvSpPr>
          <p:cNvPr id="4" name="Text 2"/>
          <p:cNvSpPr txBox="1"/>
          <p:nvPr/>
        </p:nvSpPr>
        <p:spPr>
          <a:xfrm>
            <a:off x="548640" y="1298448"/>
            <a:ext cx="10972800" cy="292608"/>
          </a:xfrm>
          <a:prstGeom prst="rect">
            <a:avLst/>
          </a:prstGeom>
          <a:noFill/>
          <a:ln/>
        </p:spPr>
        <p:txBody>
          <a:bodyPr wrap="square" lIns="0" tIns="0" rIns="0" bIns="0" rtlCol="0" anchor="t"/>
          <a:lstStyle/>
          <a:p>
            <a:pPr indent="0" marL="0">
              <a:buNone/>
            </a:pPr>
            <a:r>
              <a:rPr lang="en-US" sz="1500" dirty="0">
                <a:solidFill>
                  <a:srgbClr val="5D6560"/>
                </a:solidFill>
                <a:latin typeface="Calibri" pitchFamily="34" charset="0"/>
                <a:ea typeface="Calibri" pitchFamily="34" charset="-122"/>
                <a:cs typeface="Calibri" pitchFamily="34" charset="-120"/>
              </a:rPr>
              <a:t>Owner: Kawin A N  ·  2024115018    |    React + Vite    |    Port 5173</a:t>
            </a:r>
            <a:endParaRPr lang="en-US" sz="1500" dirty="0"/>
          </a:p>
        </p:txBody>
      </p:sp>
      <p:sp>
        <p:nvSpPr>
          <p:cNvPr id="5" name="Text 3"/>
          <p:cNvSpPr txBox="1"/>
          <p:nvPr/>
        </p:nvSpPr>
        <p:spPr>
          <a:xfrm>
            <a:off x="548640" y="1783080"/>
            <a:ext cx="4114800" cy="274320"/>
          </a:xfrm>
          <a:prstGeom prst="rect">
            <a:avLst/>
          </a:prstGeom>
          <a:noFill/>
          <a:ln/>
        </p:spPr>
        <p:txBody>
          <a:bodyPr wrap="square" lIns="0" tIns="0" rIns="0" bIns="0" rtlCol="0" anchor="t"/>
          <a:lstStyle/>
          <a:p>
            <a:pPr indent="0" marL="0">
              <a:buNone/>
            </a:pPr>
            <a:r>
              <a:rPr lang="en-US" sz="1600" b="1" dirty="0">
                <a:solidFill>
                  <a:srgbClr val="1F4D3A"/>
                </a:solidFill>
                <a:latin typeface="Calibri" pitchFamily="34" charset="0"/>
                <a:ea typeface="Calibri" pitchFamily="34" charset="-122"/>
                <a:cs typeface="Calibri" pitchFamily="34" charset="-120"/>
              </a:rPr>
              <a:t>Work done</a:t>
            </a:r>
            <a:endParaRPr lang="en-US" sz="1600" dirty="0"/>
          </a:p>
        </p:txBody>
      </p:sp>
      <p:sp>
        <p:nvSpPr>
          <p:cNvPr id="6" name="Text 4"/>
          <p:cNvSpPr txBox="1"/>
          <p:nvPr/>
        </p:nvSpPr>
        <p:spPr>
          <a:xfrm>
            <a:off x="548640" y="2103120"/>
            <a:ext cx="4114800" cy="1874520"/>
          </a:xfrm>
          <a:prstGeom prst="rect">
            <a:avLst/>
          </a:prstGeom>
          <a:noFill/>
          <a:ln/>
        </p:spPr>
        <p:txBody>
          <a:bodyPr wrap="square" lIns="0" tIns="0" rIns="0" bIns="0" rtlCol="0" anchor="t"/>
          <a:lstStyle/>
          <a:p>
            <a:pPr marL="203200" indent="-203200">
              <a:spcAft>
                <a:spcPts val="700"/>
              </a:spcAft>
              <a:buSzPct val="100000"/>
              <a:buChar char="•"/>
            </a:pPr>
            <a:r>
              <a:rPr lang="en-US" sz="1500" dirty="0">
                <a:solidFill>
                  <a:srgbClr val="24292A"/>
                </a:solidFill>
                <a:latin typeface="Calibri" pitchFamily="34" charset="0"/>
                <a:ea typeface="Calibri" pitchFamily="34" charset="-122"/>
                <a:cs typeface="Calibri" pitchFamily="34" charset="-120"/>
              </a:rPr>
              <a:t>Login, dashboard, fleet, trips, occupancy and profile pages</a:t>
            </a:r>
            <a:endParaRPr lang="en-US" sz="1500" dirty="0"/>
          </a:p>
          <a:p>
            <a:pPr marL="203200" indent="-203200">
              <a:spcAft>
                <a:spcPts val="700"/>
              </a:spcAft>
              <a:buSzPct val="100000"/>
              <a:buChar char="•"/>
            </a:pPr>
            <a:r>
              <a:rPr lang="en-US" sz="1500" dirty="0">
                <a:solidFill>
                  <a:srgbClr val="24292A"/>
                </a:solidFill>
                <a:latin typeface="Calibri" pitchFamily="34" charset="0"/>
                <a:ea typeface="Calibri" pitchFamily="34" charset="-122"/>
                <a:cs typeface="Calibri" pitchFamily="34" charset="-120"/>
              </a:rPr>
              <a:t>Connected to all four backend services</a:t>
            </a:r>
            <a:endParaRPr lang="en-US" sz="1500" dirty="0"/>
          </a:p>
          <a:p>
            <a:pPr marL="203200" indent="-203200">
              <a:spcAft>
                <a:spcPts val="700"/>
              </a:spcAft>
              <a:buSzPct val="100000"/>
              <a:buChar char="•"/>
            </a:pPr>
            <a:r>
              <a:rPr lang="en-US" sz="1500" dirty="0">
                <a:solidFill>
                  <a:srgbClr val="24292A"/>
                </a:solidFill>
                <a:latin typeface="Calibri" pitchFamily="34" charset="0"/>
                <a:ea typeface="Calibri" pitchFamily="34" charset="-122"/>
                <a:cs typeface="Calibri" pitchFamily="34" charset="-120"/>
              </a:rPr>
              <a:t>Form validation, loading, empty and error states</a:t>
            </a:r>
            <a:endParaRPr lang="en-US" sz="1500" dirty="0"/>
          </a:p>
          <a:p>
            <a:pPr marL="203200" indent="-203200">
              <a:spcAft>
                <a:spcPts val="700"/>
              </a:spcAft>
              <a:buSzPct val="100000"/>
              <a:buChar char="•"/>
            </a:pPr>
            <a:r>
              <a:rPr lang="en-US" sz="1500" dirty="0">
                <a:solidFill>
                  <a:srgbClr val="24292A"/>
                </a:solidFill>
                <a:latin typeface="Calibri" pitchFamily="34" charset="0"/>
                <a:ea typeface="Calibri" pitchFamily="34" charset="-122"/>
                <a:cs typeface="Calibri" pitchFamily="34" charset="-120"/>
              </a:rPr>
              <a:t>Responsive layout that works on phones</a:t>
            </a:r>
            <a:endParaRPr lang="en-US" sz="1500" dirty="0"/>
          </a:p>
        </p:txBody>
      </p:sp>
      <p:sp>
        <p:nvSpPr>
          <p:cNvPr id="7" name="Shape 5"/>
          <p:cNvSpPr/>
          <p:nvPr/>
        </p:nvSpPr>
        <p:spPr>
          <a:xfrm>
            <a:off x="530352" y="4005072"/>
            <a:ext cx="4151376" cy="1699641"/>
          </a:xfrm>
          <a:prstGeom prst="rect">
            <a:avLst/>
          </a:prstGeom>
          <a:solidFill>
            <a:srgbClr val="DDE1DE"/>
          </a:solidFill>
          <a:ln w="12700">
            <a:solidFill>
              <a:srgbClr val="DDE1DE"/>
            </a:solidFill>
            <a:prstDash val="solid"/>
          </a:ln>
        </p:spPr>
      </p:sp>
      <p:pic>
        <p:nvPicPr>
          <p:cNvPr id="8" name="Image 0" descr="C:\Users\KAWIN\AppData\Local\Temp\claude\C--Users-KAWIN\d7b2766c-ebc3-4c65-a6d5-4ec78576fc05\scratchpad\ui\deckshots\dashboard-crop.png">    </p:cNvPr>
          <p:cNvPicPr>
            <a:picLocks noChangeAspect="1"/>
          </p:cNvPicPr>
          <p:nvPr/>
        </p:nvPicPr>
        <p:blipFill>
          <a:blip r:embed="rId1"/>
          <a:stretch>
            <a:fillRect/>
          </a:stretch>
        </p:blipFill>
        <p:spPr>
          <a:xfrm>
            <a:off x="548640" y="4023360"/>
            <a:ext cx="4114800" cy="1663065"/>
          </a:xfrm>
          <a:prstGeom prst="rect">
            <a:avLst/>
          </a:prstGeom>
        </p:spPr>
      </p:pic>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029200" y="1783080"/>
          <a:ext cx="6611112" cy="914400"/>
        </p:xfrm>
        <a:graphic>
          <a:graphicData uri="http://schemas.openxmlformats.org/drawingml/2006/table">
            <a:tbl>
              <a:tblPr/>
              <a:tblGrid>
                <a:gridCol w="2834640"/>
                <a:gridCol w="3776472"/>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File</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1F4D3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it does</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1F4D3A"/>
                    </a:solidFill>
                  </a:tcPr>
                </a:tc>
              </a:tr>
              <a:tr h="0">
                <a:tc>
                  <a:txBody>
                    <a:bodyPr/>
                    <a:lstStyle/>
                    <a:p>
                      <a:pPr indent="0" marL="0">
                        <a:buNone/>
                      </a:pPr>
                      <a:r>
                        <a:rPr lang="en-US" sz="1300" b="1" dirty="0">
                          <a:solidFill>
                            <a:srgbClr val="1F4D3A"/>
                          </a:solidFill>
                          <a:latin typeface="Calibri" pitchFamily="34" charset="0"/>
                          <a:ea typeface="Calibri" pitchFamily="34" charset="-122"/>
                          <a:cs typeface="Calibri" pitchFamily="34" charset="-120"/>
                        </a:rPr>
                        <a:t>services/api.js</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c>
                  <a:txBody>
                    <a:bodyPr/>
                    <a:lstStyle/>
                    <a:p>
                      <a:pPr indent="0" marL="0">
                        <a:buNone/>
                      </a:pPr>
                      <a:r>
                        <a:rPr lang="en-US" sz="1300" dirty="0">
                          <a:solidFill>
                            <a:srgbClr val="24292A"/>
                          </a:solidFill>
                          <a:latin typeface="Calibri" pitchFamily="34" charset="0"/>
                          <a:ea typeface="Calibri" pitchFamily="34" charset="-122"/>
                          <a:cs typeface="Calibri" pitchFamily="34" charset="-120"/>
                        </a:rPr>
                        <a:t>The four service URLs in one place. Adds the JWT to every request and turns errors into readable messages.</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r>
              <a:tr h="0">
                <a:tc>
                  <a:txBody>
                    <a:bodyPr/>
                    <a:lstStyle/>
                    <a:p>
                      <a:pPr indent="0" marL="0">
                        <a:buNone/>
                      </a:pPr>
                      <a:r>
                        <a:rPr lang="en-US" sz="1300" b="1" dirty="0">
                          <a:solidFill>
                            <a:srgbClr val="1F4D3A"/>
                          </a:solidFill>
                          <a:latin typeface="Calibri" pitchFamily="34" charset="0"/>
                          <a:ea typeface="Calibri" pitchFamily="34" charset="-122"/>
                          <a:cs typeface="Calibri" pitchFamily="34" charset="-120"/>
                        </a:rPr>
                        <a:t>context/AuthContext.jsx</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c>
                  <a:txBody>
                    <a:bodyPr/>
                    <a:lstStyle/>
                    <a:p>
                      <a:pPr indent="0" marL="0">
                        <a:buNone/>
                      </a:pPr>
                      <a:r>
                        <a:rPr lang="en-US" sz="1300" dirty="0">
                          <a:solidFill>
                            <a:srgbClr val="24292A"/>
                          </a:solidFill>
                          <a:latin typeface="Calibri" pitchFamily="34" charset="0"/>
                          <a:ea typeface="Calibri" pitchFamily="34" charset="-122"/>
                          <a:cs typeface="Calibri" pitchFamily="34" charset="-120"/>
                        </a:rPr>
                        <a:t>Session state: login, register, logout. Signs the user out automatically when a token expires.</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F4D3A"/>
                          </a:solidFill>
                          <a:latin typeface="Calibri" pitchFamily="34" charset="0"/>
                          <a:ea typeface="Calibri" pitchFamily="34" charset="-122"/>
                          <a:cs typeface="Calibri" pitchFamily="34" charset="-120"/>
                        </a:rPr>
                        <a:t>components/Layout.jsx</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c>
                  <a:txBody>
                    <a:bodyPr/>
                    <a:lstStyle/>
                    <a:p>
                      <a:pPr indent="0" marL="0">
                        <a:buNone/>
                      </a:pPr>
                      <a:r>
                        <a:rPr lang="en-US" sz="1300" dirty="0">
                          <a:solidFill>
                            <a:srgbClr val="24292A"/>
                          </a:solidFill>
                          <a:latin typeface="Calibri" pitchFamily="34" charset="0"/>
                          <a:ea typeface="Calibri" pitchFamily="34" charset="-122"/>
                          <a:cs typeface="Calibri" pitchFamily="34" charset="-120"/>
                        </a:rPr>
                        <a:t>Sidebar navigation and signed-in user panel.</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r>
              <a:tr h="0">
                <a:tc>
                  <a:txBody>
                    <a:bodyPr/>
                    <a:lstStyle/>
                    <a:p>
                      <a:pPr indent="0" marL="0">
                        <a:buNone/>
                      </a:pPr>
                      <a:r>
                        <a:rPr lang="en-US" sz="1300" b="1" dirty="0">
                          <a:solidFill>
                            <a:srgbClr val="1F4D3A"/>
                          </a:solidFill>
                          <a:latin typeface="Calibri" pitchFamily="34" charset="0"/>
                          <a:ea typeface="Calibri" pitchFamily="34" charset="-122"/>
                          <a:cs typeface="Calibri" pitchFamily="34" charset="-120"/>
                        </a:rPr>
                        <a:t>components/ui.jsx</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c>
                  <a:txBody>
                    <a:bodyPr/>
                    <a:lstStyle/>
                    <a:p>
                      <a:pPr indent="0" marL="0">
                        <a:buNone/>
                      </a:pPr>
                      <a:r>
                        <a:rPr lang="en-US" sz="1300" dirty="0">
                          <a:solidFill>
                            <a:srgbClr val="24292A"/>
                          </a:solidFill>
                          <a:latin typeface="Calibri" pitchFamily="34" charset="0"/>
                          <a:ea typeface="Calibri" pitchFamily="34" charset="-122"/>
                          <a:cs typeface="Calibri" pitchFamily="34" charset="-120"/>
                        </a:rPr>
                        <a:t>Shared pieces: Panel, Badge, Modal, Field, Meter, Loading, EmptyState.</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F4D3A"/>
                          </a:solidFill>
                          <a:latin typeface="Calibri" pitchFamily="34" charset="0"/>
                          <a:ea typeface="Calibri" pitchFamily="34" charset="-122"/>
                          <a:cs typeface="Calibri" pitchFamily="34" charset="-120"/>
                        </a:rPr>
                        <a:t>components/RouteMap.jsx</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c>
                  <a:txBody>
                    <a:bodyPr/>
                    <a:lstStyle/>
                    <a:p>
                      <a:pPr indent="0" marL="0">
                        <a:buNone/>
                      </a:pPr>
                      <a:r>
                        <a:rPr lang="en-US" sz="1300" dirty="0">
                          <a:solidFill>
                            <a:srgbClr val="24292A"/>
                          </a:solidFill>
                          <a:latin typeface="Calibri" pitchFamily="34" charset="0"/>
                          <a:ea typeface="Calibri" pitchFamily="34" charset="-122"/>
                          <a:cs typeface="Calibri" pitchFamily="34" charset="-120"/>
                        </a:rPr>
                        <a:t>SVG drawing of route stops and the simulated vehicle position.</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r>
              <a:tr h="0">
                <a:tc>
                  <a:txBody>
                    <a:bodyPr/>
                    <a:lstStyle/>
                    <a:p>
                      <a:pPr indent="0" marL="0">
                        <a:buNone/>
                      </a:pPr>
                      <a:r>
                        <a:rPr lang="en-US" sz="1300" b="1" dirty="0">
                          <a:solidFill>
                            <a:srgbClr val="1F4D3A"/>
                          </a:solidFill>
                          <a:latin typeface="Calibri" pitchFamily="34" charset="0"/>
                          <a:ea typeface="Calibri" pitchFamily="34" charset="-122"/>
                          <a:cs typeface="Calibri" pitchFamily="34" charset="-120"/>
                        </a:rPr>
                        <a:t>pages/DashboardPage.jsx</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c>
                  <a:txBody>
                    <a:bodyPr/>
                    <a:lstStyle/>
                    <a:p>
                      <a:pPr indent="0" marL="0">
                        <a:buNone/>
                      </a:pPr>
                      <a:r>
                        <a:rPr lang="en-US" sz="1300" dirty="0">
                          <a:solidFill>
                            <a:srgbClr val="24292A"/>
                          </a:solidFill>
                          <a:latin typeface="Calibri" pitchFamily="34" charset="0"/>
                          <a:ea typeface="Calibri" pitchFamily="34" charset="-122"/>
                          <a:cs typeface="Calibri" pitchFamily="34" charset="-120"/>
                        </a:rPr>
                        <a:t>Totals from all three business services, refreshed every 10 seconds.</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F4D3A"/>
                          </a:solidFill>
                          <a:latin typeface="Calibri" pitchFamily="34" charset="0"/>
                          <a:ea typeface="Calibri" pitchFamily="34" charset="-122"/>
                          <a:cs typeface="Calibri" pitchFamily="34" charset="-120"/>
                        </a:rPr>
                        <a:t>pages/Fleet, Trips, Occupancy, Login, Profile</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c>
                  <a:txBody>
                    <a:bodyPr/>
                    <a:lstStyle/>
                    <a:p>
                      <a:pPr indent="0" marL="0">
                        <a:buNone/>
                      </a:pPr>
                      <a:r>
                        <a:rPr lang="en-US" sz="1300" dirty="0">
                          <a:solidFill>
                            <a:srgbClr val="24292A"/>
                          </a:solidFill>
                          <a:latin typeface="Calibri" pitchFamily="34" charset="0"/>
                          <a:ea typeface="Calibri" pitchFamily="34" charset="-122"/>
                          <a:cs typeface="Calibri" pitchFamily="34" charset="-120"/>
                        </a:rPr>
                        <a:t>One page per feature, with create and edit forms for admins.</a:t>
                      </a:r>
                      <a:endParaRPr lang="en-US" sz="1300" dirty="0">
                        <a:latin typeface="Calibri" charset="0"/>
                        <a:ea typeface="Calibri" charset="0"/>
                        <a:cs typeface="Calibri" charset="0"/>
                      </a:endParaRPr>
                    </a:p>
                  </a:txBody>
                  <a:tcPr marL="109728" marR="109728" marT="64008" marB="64008"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r>
            </a:tbl>
          </a:graphicData>
        </a:graphic>
      </p:graphicFrame>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D656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t"/>
          <a:lstStyle/>
          <a:p>
            <a:pPr indent="0" marL="0">
              <a:buNone/>
            </a:pPr>
            <a:r>
              <a:rPr lang="en-US" sz="1200" b="1" spc="200" kern="0" dirty="0">
                <a:solidFill>
                  <a:srgbClr val="1F4D3A"/>
                </a:solidFill>
                <a:latin typeface="Calibri" pitchFamily="34" charset="0"/>
                <a:ea typeface="Calibri" pitchFamily="34" charset="-122"/>
                <a:cs typeface="Calibri" pitchFamily="34" charset="-120"/>
              </a:rPr>
              <a:t>ENTITIES  ·  1 OF 2</a:t>
            </a:r>
            <a:endParaRPr lang="en-US" sz="1200" dirty="0"/>
          </a:p>
        </p:txBody>
      </p:sp>
      <p:sp>
        <p:nvSpPr>
          <p:cNvPr id="3" name="Text 1"/>
          <p:cNvSpPr txBox="1"/>
          <p:nvPr/>
        </p:nvSpPr>
        <p:spPr>
          <a:xfrm>
            <a:off x="548640" y="658368"/>
            <a:ext cx="11064240" cy="594360"/>
          </a:xfrm>
          <a:prstGeom prst="rect">
            <a:avLst/>
          </a:prstGeom>
          <a:noFill/>
          <a:ln/>
        </p:spPr>
        <p:txBody>
          <a:bodyPr wrap="square" lIns="0" tIns="0" rIns="0" bIns="0" rtlCol="0" anchor="t"/>
          <a:lstStyle/>
          <a:p>
            <a:pPr indent="0" marL="0">
              <a:buNone/>
            </a:pPr>
            <a:r>
              <a:rPr lang="en-US" sz="3000" b="1" dirty="0">
                <a:solidFill>
                  <a:srgbClr val="24292A"/>
                </a:solidFill>
                <a:latin typeface="Calibri" pitchFamily="34" charset="0"/>
                <a:ea typeface="Calibri" pitchFamily="34" charset="-122"/>
                <a:cs typeface="Calibri" pitchFamily="34" charset="-120"/>
              </a:rPr>
              <a:t>Users, vehicles and routes</a:t>
            </a:r>
            <a:endParaRPr lang="en-US" sz="3000" dirty="0"/>
          </a:p>
        </p:txBody>
      </p:sp>
      <p:sp>
        <p:nvSpPr>
          <p:cNvPr id="4" name="Text 2"/>
          <p:cNvSpPr txBox="1"/>
          <p:nvPr/>
        </p:nvSpPr>
        <p:spPr>
          <a:xfrm>
            <a:off x="548640" y="1463040"/>
            <a:ext cx="2624328" cy="320040"/>
          </a:xfrm>
          <a:prstGeom prst="rect">
            <a:avLst/>
          </a:prstGeom>
          <a:noFill/>
          <a:ln/>
        </p:spPr>
        <p:txBody>
          <a:bodyPr wrap="square" lIns="0" tIns="0" rIns="0" bIns="0" rtlCol="0" anchor="t"/>
          <a:lstStyle/>
          <a:p>
            <a:pPr indent="0" marL="0">
              <a:buNone/>
            </a:pPr>
            <a:r>
              <a:rPr lang="en-US" sz="1700" b="1" dirty="0">
                <a:solidFill>
                  <a:srgbClr val="1F4D3A"/>
                </a:solidFill>
                <a:latin typeface="Calibri" pitchFamily="34" charset="0"/>
                <a:ea typeface="Calibri" pitchFamily="34" charset="-122"/>
                <a:cs typeface="Calibri" pitchFamily="34" charset="-120"/>
              </a:rPr>
              <a:t>User</a:t>
            </a:r>
            <a:endParaRPr lang="en-US" sz="1700" dirty="0"/>
          </a:p>
        </p:txBody>
      </p:sp>
      <p:sp>
        <p:nvSpPr>
          <p:cNvPr id="5" name="Text 3"/>
          <p:cNvSpPr txBox="1"/>
          <p:nvPr/>
        </p:nvSpPr>
        <p:spPr>
          <a:xfrm>
            <a:off x="548640" y="1792224"/>
            <a:ext cx="2624328" cy="256032"/>
          </a:xfrm>
          <a:prstGeom prst="rect">
            <a:avLst/>
          </a:prstGeom>
          <a:noFill/>
          <a:ln/>
        </p:spPr>
        <p:txBody>
          <a:bodyPr wrap="square" lIns="0" tIns="0" rIns="0" bIns="0" rtlCol="0" anchor="t"/>
          <a:lstStyle/>
          <a:p>
            <a:pPr indent="0" marL="0">
              <a:buNone/>
            </a:pPr>
            <a:r>
              <a:rPr lang="en-US" sz="1100" dirty="0">
                <a:solidFill>
                  <a:srgbClr val="5D6560"/>
                </a:solidFill>
                <a:latin typeface="Calibri" pitchFamily="34" charset="0"/>
                <a:ea typeface="Calibri" pitchFamily="34" charset="-122"/>
                <a:cs typeface="Calibri" pitchFamily="34" charset="-120"/>
              </a:rPr>
              <a:t>Auth service · users</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2148840"/>
          <a:ext cx="2624328" cy="914400"/>
        </p:xfrm>
        <a:graphic>
          <a:graphicData uri="http://schemas.openxmlformats.org/drawingml/2006/table">
            <a:tbl>
              <a:tblPr/>
              <a:tblGrid>
                <a:gridCol w="1390894"/>
                <a:gridCol w="1233434"/>
              </a:tblGrid>
              <a:tr h="27432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Attribute</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1F4D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Data type</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1F4D3A"/>
                    </a:solidFill>
                  </a:tcPr>
                </a:tc>
              </a:tr>
              <a:tr h="274320">
                <a:tc>
                  <a:txBody>
                    <a:bodyPr/>
                    <a:lstStyle/>
                    <a:p>
                      <a:pPr indent="0" marL="0">
                        <a:buNone/>
                      </a:pPr>
                      <a:r>
                        <a:rPr lang="en-US" sz="1200" dirty="0">
                          <a:solidFill>
                            <a:srgbClr val="24292A"/>
                          </a:solidFill>
                          <a:latin typeface="Calibri" pitchFamily="34" charset="0"/>
                          <a:ea typeface="Calibri" pitchFamily="34" charset="-122"/>
                          <a:cs typeface="Calibri" pitchFamily="34" charset="-120"/>
                        </a:rPr>
                        <a:t>id</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c>
                  <a:txBody>
                    <a:bodyPr/>
                    <a:lstStyle/>
                    <a:p>
                      <a:pPr indent="0" marL="0">
                        <a:buNone/>
                      </a:pPr>
                      <a:r>
                        <a:rPr lang="en-US" sz="1200" dirty="0">
                          <a:solidFill>
                            <a:srgbClr val="5D6560"/>
                          </a:solidFill>
                          <a:latin typeface="Calibri" pitchFamily="34" charset="0"/>
                          <a:ea typeface="Calibri" pitchFamily="34" charset="-122"/>
                          <a:cs typeface="Calibri" pitchFamily="34" charset="-120"/>
                        </a:rPr>
                        <a:t>Long (PK)</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r>
              <a:tr h="274320">
                <a:tc>
                  <a:txBody>
                    <a:bodyPr/>
                    <a:lstStyle/>
                    <a:p>
                      <a:pPr indent="0" marL="0">
                        <a:buNone/>
                      </a:pPr>
                      <a:r>
                        <a:rPr lang="en-US" sz="1200" dirty="0">
                          <a:solidFill>
                            <a:srgbClr val="24292A"/>
                          </a:solidFill>
                          <a:latin typeface="Calibri" pitchFamily="34" charset="0"/>
                          <a:ea typeface="Calibri" pitchFamily="34" charset="-122"/>
                          <a:cs typeface="Calibri" pitchFamily="34" charset="-120"/>
                        </a:rPr>
                        <a:t>fullName</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c>
                  <a:txBody>
                    <a:bodyPr/>
                    <a:lstStyle/>
                    <a:p>
                      <a:pPr indent="0" marL="0">
                        <a:buNone/>
                      </a:pPr>
                      <a:r>
                        <a:rPr lang="en-US" sz="1200" dirty="0">
                          <a:solidFill>
                            <a:srgbClr val="5D6560"/>
                          </a:solidFill>
                          <a:latin typeface="Calibri" pitchFamily="34" charset="0"/>
                          <a:ea typeface="Calibri" pitchFamily="34" charset="-122"/>
                          <a:cs typeface="Calibri" pitchFamily="34" charset="-120"/>
                        </a:rPr>
                        <a:t>String</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4292A"/>
                          </a:solidFill>
                          <a:latin typeface="Calibri" pitchFamily="34" charset="0"/>
                          <a:ea typeface="Calibri" pitchFamily="34" charset="-122"/>
                          <a:cs typeface="Calibri" pitchFamily="34" charset="-120"/>
                        </a:rPr>
                        <a:t>email</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c>
                  <a:txBody>
                    <a:bodyPr/>
                    <a:lstStyle/>
                    <a:p>
                      <a:pPr indent="0" marL="0">
                        <a:buNone/>
                      </a:pPr>
                      <a:r>
                        <a:rPr lang="en-US" sz="1200" dirty="0">
                          <a:solidFill>
                            <a:srgbClr val="5D6560"/>
                          </a:solidFill>
                          <a:latin typeface="Calibri" pitchFamily="34" charset="0"/>
                          <a:ea typeface="Calibri" pitchFamily="34" charset="-122"/>
                          <a:cs typeface="Calibri" pitchFamily="34" charset="-120"/>
                        </a:rPr>
                        <a:t>String (unique)</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r>
              <a:tr h="274320">
                <a:tc>
                  <a:txBody>
                    <a:bodyPr/>
                    <a:lstStyle/>
                    <a:p>
                      <a:pPr indent="0" marL="0">
                        <a:buNone/>
                      </a:pPr>
                      <a:r>
                        <a:rPr lang="en-US" sz="1200" dirty="0">
                          <a:solidFill>
                            <a:srgbClr val="24292A"/>
                          </a:solidFill>
                          <a:latin typeface="Calibri" pitchFamily="34" charset="0"/>
                          <a:ea typeface="Calibri" pitchFamily="34" charset="-122"/>
                          <a:cs typeface="Calibri" pitchFamily="34" charset="-120"/>
                        </a:rPr>
                        <a:t>passwordHash</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c>
                  <a:txBody>
                    <a:bodyPr/>
                    <a:lstStyle/>
                    <a:p>
                      <a:pPr indent="0" marL="0">
                        <a:buNone/>
                      </a:pPr>
                      <a:r>
                        <a:rPr lang="en-US" sz="1200" dirty="0">
                          <a:solidFill>
                            <a:srgbClr val="5D6560"/>
                          </a:solidFill>
                          <a:latin typeface="Calibri" pitchFamily="34" charset="0"/>
                          <a:ea typeface="Calibri" pitchFamily="34" charset="-122"/>
                          <a:cs typeface="Calibri" pitchFamily="34" charset="-120"/>
                        </a:rPr>
                        <a:t>String (BCrypt)</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4292A"/>
                          </a:solidFill>
                          <a:latin typeface="Calibri" pitchFamily="34" charset="0"/>
                          <a:ea typeface="Calibri" pitchFamily="34" charset="-122"/>
                          <a:cs typeface="Calibri" pitchFamily="34" charset="-120"/>
                        </a:rPr>
                        <a:t>role</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c>
                  <a:txBody>
                    <a:bodyPr/>
                    <a:lstStyle/>
                    <a:p>
                      <a:pPr indent="0" marL="0">
                        <a:buNone/>
                      </a:pPr>
                      <a:r>
                        <a:rPr lang="en-US" sz="1200" dirty="0">
                          <a:solidFill>
                            <a:srgbClr val="5D6560"/>
                          </a:solidFill>
                          <a:latin typeface="Calibri" pitchFamily="34" charset="0"/>
                          <a:ea typeface="Calibri" pitchFamily="34" charset="-122"/>
                          <a:cs typeface="Calibri" pitchFamily="34" charset="-120"/>
                        </a:rPr>
                        <a:t>Role</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r>
              <a:tr h="274320">
                <a:tc>
                  <a:txBody>
                    <a:bodyPr/>
                    <a:lstStyle/>
                    <a:p>
                      <a:pPr indent="0" marL="0">
                        <a:buNone/>
                      </a:pPr>
                      <a:r>
                        <a:rPr lang="en-US" sz="1200" dirty="0">
                          <a:solidFill>
                            <a:srgbClr val="24292A"/>
                          </a:solidFill>
                          <a:latin typeface="Calibri" pitchFamily="34" charset="0"/>
                          <a:ea typeface="Calibri" pitchFamily="34" charset="-122"/>
                          <a:cs typeface="Calibri" pitchFamily="34" charset="-120"/>
                        </a:rPr>
                        <a:t>createdAt</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c>
                  <a:txBody>
                    <a:bodyPr/>
                    <a:lstStyle/>
                    <a:p>
                      <a:pPr indent="0" marL="0">
                        <a:buNone/>
                      </a:pPr>
                      <a:r>
                        <a:rPr lang="en-US" sz="1200" dirty="0">
                          <a:solidFill>
                            <a:srgbClr val="5D6560"/>
                          </a:solidFill>
                          <a:latin typeface="Calibri" pitchFamily="34" charset="0"/>
                          <a:ea typeface="Calibri" pitchFamily="34" charset="-122"/>
                          <a:cs typeface="Calibri" pitchFamily="34" charset="-120"/>
                        </a:rPr>
                        <a:t>Instant</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3355848" y="1463040"/>
            <a:ext cx="2624328" cy="320040"/>
          </a:xfrm>
          <a:prstGeom prst="rect">
            <a:avLst/>
          </a:prstGeom>
          <a:noFill/>
          <a:ln/>
        </p:spPr>
        <p:txBody>
          <a:bodyPr wrap="square" lIns="0" tIns="0" rIns="0" bIns="0" rtlCol="0" anchor="t"/>
          <a:lstStyle/>
          <a:p>
            <a:pPr indent="0" marL="0">
              <a:buNone/>
            </a:pPr>
            <a:r>
              <a:rPr lang="en-US" sz="1700" b="1" dirty="0">
                <a:solidFill>
                  <a:srgbClr val="1F4D3A"/>
                </a:solidFill>
                <a:latin typeface="Calibri" pitchFamily="34" charset="0"/>
                <a:ea typeface="Calibri" pitchFamily="34" charset="-122"/>
                <a:cs typeface="Calibri" pitchFamily="34" charset="-120"/>
              </a:rPr>
              <a:t>Vehicle</a:t>
            </a:r>
            <a:endParaRPr lang="en-US" sz="1700" dirty="0"/>
          </a:p>
        </p:txBody>
      </p:sp>
      <p:sp>
        <p:nvSpPr>
          <p:cNvPr id="8" name="Text 5"/>
          <p:cNvSpPr txBox="1"/>
          <p:nvPr/>
        </p:nvSpPr>
        <p:spPr>
          <a:xfrm>
            <a:off x="3355848" y="1792224"/>
            <a:ext cx="2624328" cy="256032"/>
          </a:xfrm>
          <a:prstGeom prst="rect">
            <a:avLst/>
          </a:prstGeom>
          <a:noFill/>
          <a:ln/>
        </p:spPr>
        <p:txBody>
          <a:bodyPr wrap="square" lIns="0" tIns="0" rIns="0" bIns="0" rtlCol="0" anchor="t"/>
          <a:lstStyle/>
          <a:p>
            <a:pPr indent="0" marL="0">
              <a:buNone/>
            </a:pPr>
            <a:r>
              <a:rPr lang="en-US" sz="1100" dirty="0">
                <a:solidFill>
                  <a:srgbClr val="5D6560"/>
                </a:solidFill>
                <a:latin typeface="Calibri" pitchFamily="34" charset="0"/>
                <a:ea typeface="Calibri" pitchFamily="34" charset="-122"/>
                <a:cs typeface="Calibri" pitchFamily="34" charset="-120"/>
              </a:rPr>
              <a:t>Fleet service · vehicles</a:t>
            </a:r>
            <a:endParaRPr lang="en-US" sz="1100" dirty="0"/>
          </a:p>
        </p:txBody>
      </p:sp>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3355848" y="2148840"/>
          <a:ext cx="2624328" cy="914400"/>
        </p:xfrm>
        <a:graphic>
          <a:graphicData uri="http://schemas.openxmlformats.org/drawingml/2006/table">
            <a:tbl>
              <a:tblPr/>
              <a:tblGrid>
                <a:gridCol w="1390894"/>
                <a:gridCol w="1233434"/>
              </a:tblGrid>
              <a:tr h="27432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Attribute</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1F4D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Data type</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1F4D3A"/>
                    </a:solidFill>
                  </a:tcPr>
                </a:tc>
              </a:tr>
              <a:tr h="274320">
                <a:tc>
                  <a:txBody>
                    <a:bodyPr/>
                    <a:lstStyle/>
                    <a:p>
                      <a:pPr indent="0" marL="0">
                        <a:buNone/>
                      </a:pPr>
                      <a:r>
                        <a:rPr lang="en-US" sz="1200" dirty="0">
                          <a:solidFill>
                            <a:srgbClr val="24292A"/>
                          </a:solidFill>
                          <a:latin typeface="Calibri" pitchFamily="34" charset="0"/>
                          <a:ea typeface="Calibri" pitchFamily="34" charset="-122"/>
                          <a:cs typeface="Calibri" pitchFamily="34" charset="-120"/>
                        </a:rPr>
                        <a:t>id</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c>
                  <a:txBody>
                    <a:bodyPr/>
                    <a:lstStyle/>
                    <a:p>
                      <a:pPr indent="0" marL="0">
                        <a:buNone/>
                      </a:pPr>
                      <a:r>
                        <a:rPr lang="en-US" sz="1200" dirty="0">
                          <a:solidFill>
                            <a:srgbClr val="5D6560"/>
                          </a:solidFill>
                          <a:latin typeface="Calibri" pitchFamily="34" charset="0"/>
                          <a:ea typeface="Calibri" pitchFamily="34" charset="-122"/>
                          <a:cs typeface="Calibri" pitchFamily="34" charset="-120"/>
                        </a:rPr>
                        <a:t>Long (PK)</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r>
              <a:tr h="274320">
                <a:tc>
                  <a:txBody>
                    <a:bodyPr/>
                    <a:lstStyle/>
                    <a:p>
                      <a:pPr indent="0" marL="0">
                        <a:buNone/>
                      </a:pPr>
                      <a:r>
                        <a:rPr lang="en-US" sz="1200" dirty="0">
                          <a:solidFill>
                            <a:srgbClr val="24292A"/>
                          </a:solidFill>
                          <a:latin typeface="Calibri" pitchFamily="34" charset="0"/>
                          <a:ea typeface="Calibri" pitchFamily="34" charset="-122"/>
                          <a:cs typeface="Calibri" pitchFamily="34" charset="-120"/>
                        </a:rPr>
                        <a:t>registrationNumber</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c>
                  <a:txBody>
                    <a:bodyPr/>
                    <a:lstStyle/>
                    <a:p>
                      <a:pPr indent="0" marL="0">
                        <a:buNone/>
                      </a:pPr>
                      <a:r>
                        <a:rPr lang="en-US" sz="1200" dirty="0">
                          <a:solidFill>
                            <a:srgbClr val="5D6560"/>
                          </a:solidFill>
                          <a:latin typeface="Calibri" pitchFamily="34" charset="0"/>
                          <a:ea typeface="Calibri" pitchFamily="34" charset="-122"/>
                          <a:cs typeface="Calibri" pitchFamily="34" charset="-120"/>
                        </a:rPr>
                        <a:t>String (unique)</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4292A"/>
                          </a:solidFill>
                          <a:latin typeface="Calibri" pitchFamily="34" charset="0"/>
                          <a:ea typeface="Calibri" pitchFamily="34" charset="-122"/>
                          <a:cs typeface="Calibri" pitchFamily="34" charset="-120"/>
                        </a:rPr>
                        <a:t>name</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c>
                  <a:txBody>
                    <a:bodyPr/>
                    <a:lstStyle/>
                    <a:p>
                      <a:pPr indent="0" marL="0">
                        <a:buNone/>
                      </a:pPr>
                      <a:r>
                        <a:rPr lang="en-US" sz="1200" dirty="0">
                          <a:solidFill>
                            <a:srgbClr val="5D6560"/>
                          </a:solidFill>
                          <a:latin typeface="Calibri" pitchFamily="34" charset="0"/>
                          <a:ea typeface="Calibri" pitchFamily="34" charset="-122"/>
                          <a:cs typeface="Calibri" pitchFamily="34" charset="-120"/>
                        </a:rPr>
                        <a:t>String</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r>
              <a:tr h="274320">
                <a:tc>
                  <a:txBody>
                    <a:bodyPr/>
                    <a:lstStyle/>
                    <a:p>
                      <a:pPr indent="0" marL="0">
                        <a:buNone/>
                      </a:pPr>
                      <a:r>
                        <a:rPr lang="en-US" sz="1200" dirty="0">
                          <a:solidFill>
                            <a:srgbClr val="24292A"/>
                          </a:solidFill>
                          <a:latin typeface="Calibri" pitchFamily="34" charset="0"/>
                          <a:ea typeface="Calibri" pitchFamily="34" charset="-122"/>
                          <a:cs typeface="Calibri" pitchFamily="34" charset="-120"/>
                        </a:rPr>
                        <a:t>capacity</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c>
                  <a:txBody>
                    <a:bodyPr/>
                    <a:lstStyle/>
                    <a:p>
                      <a:pPr indent="0" marL="0">
                        <a:buNone/>
                      </a:pPr>
                      <a:r>
                        <a:rPr lang="en-US" sz="1200" dirty="0">
                          <a:solidFill>
                            <a:srgbClr val="5D6560"/>
                          </a:solidFill>
                          <a:latin typeface="Calibri" pitchFamily="34" charset="0"/>
                          <a:ea typeface="Calibri" pitchFamily="34" charset="-122"/>
                          <a:cs typeface="Calibri" pitchFamily="34" charset="-120"/>
                        </a:rPr>
                        <a:t>Integer</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4292A"/>
                          </a:solidFill>
                          <a:latin typeface="Calibri" pitchFamily="34" charset="0"/>
                          <a:ea typeface="Calibri" pitchFamily="34" charset="-122"/>
                          <a:cs typeface="Calibri" pitchFamily="34" charset="-120"/>
                        </a:rPr>
                        <a:t>status</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c>
                  <a:txBody>
                    <a:bodyPr/>
                    <a:lstStyle/>
                    <a:p>
                      <a:pPr indent="0" marL="0">
                        <a:buNone/>
                      </a:pPr>
                      <a:r>
                        <a:rPr lang="en-US" sz="1200" dirty="0">
                          <a:solidFill>
                            <a:srgbClr val="5D6560"/>
                          </a:solidFill>
                          <a:latin typeface="Calibri" pitchFamily="34" charset="0"/>
                          <a:ea typeface="Calibri" pitchFamily="34" charset="-122"/>
                          <a:cs typeface="Calibri" pitchFamily="34" charset="-120"/>
                        </a:rPr>
                        <a:t>VehicleStatus</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r>
              <a:tr h="274320">
                <a:tc>
                  <a:txBody>
                    <a:bodyPr/>
                    <a:lstStyle/>
                    <a:p>
                      <a:pPr indent="0" marL="0">
                        <a:buNone/>
                      </a:pPr>
                      <a:r>
                        <a:rPr lang="en-US" sz="1200" dirty="0">
                          <a:solidFill>
                            <a:srgbClr val="24292A"/>
                          </a:solidFill>
                          <a:latin typeface="Calibri" pitchFamily="34" charset="0"/>
                          <a:ea typeface="Calibri" pitchFamily="34" charset="-122"/>
                          <a:cs typeface="Calibri" pitchFamily="34" charset="-120"/>
                        </a:rPr>
                        <a:t>batteryLevel</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c>
                  <a:txBody>
                    <a:bodyPr/>
                    <a:lstStyle/>
                    <a:p>
                      <a:pPr indent="0" marL="0">
                        <a:buNone/>
                      </a:pPr>
                      <a:r>
                        <a:rPr lang="en-US" sz="1200" dirty="0">
                          <a:solidFill>
                            <a:srgbClr val="5D6560"/>
                          </a:solidFill>
                          <a:latin typeface="Calibri" pitchFamily="34" charset="0"/>
                          <a:ea typeface="Calibri" pitchFamily="34" charset="-122"/>
                          <a:cs typeface="Calibri" pitchFamily="34" charset="-120"/>
                        </a:rPr>
                        <a:t>Integer</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4292A"/>
                          </a:solidFill>
                          <a:latin typeface="Calibri" pitchFamily="34" charset="0"/>
                          <a:ea typeface="Calibri" pitchFamily="34" charset="-122"/>
                          <a:cs typeface="Calibri" pitchFamily="34" charset="-120"/>
                        </a:rPr>
                        <a:t>route</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c>
                  <a:txBody>
                    <a:bodyPr/>
                    <a:lstStyle/>
                    <a:p>
                      <a:pPr indent="0" marL="0">
                        <a:buNone/>
                      </a:pPr>
                      <a:r>
                        <a:rPr lang="en-US" sz="1200" dirty="0">
                          <a:solidFill>
                            <a:srgbClr val="5D6560"/>
                          </a:solidFill>
                          <a:latin typeface="Calibri" pitchFamily="34" charset="0"/>
                          <a:ea typeface="Calibri" pitchFamily="34" charset="-122"/>
                          <a:cs typeface="Calibri" pitchFamily="34" charset="-120"/>
                        </a:rPr>
                        <a:t>Route (FK)</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r>
            </a:tbl>
          </a:graphicData>
        </a:graphic>
      </p:graphicFrame>
      <p:sp>
        <p:nvSpPr>
          <p:cNvPr id="10" name="Text 6"/>
          <p:cNvSpPr txBox="1"/>
          <p:nvPr/>
        </p:nvSpPr>
        <p:spPr>
          <a:xfrm>
            <a:off x="6163056" y="1463040"/>
            <a:ext cx="2624328" cy="320040"/>
          </a:xfrm>
          <a:prstGeom prst="rect">
            <a:avLst/>
          </a:prstGeom>
          <a:noFill/>
          <a:ln/>
        </p:spPr>
        <p:txBody>
          <a:bodyPr wrap="square" lIns="0" tIns="0" rIns="0" bIns="0" rtlCol="0" anchor="t"/>
          <a:lstStyle/>
          <a:p>
            <a:pPr indent="0" marL="0">
              <a:buNone/>
            </a:pPr>
            <a:r>
              <a:rPr lang="en-US" sz="1700" b="1" dirty="0">
                <a:solidFill>
                  <a:srgbClr val="1F4D3A"/>
                </a:solidFill>
                <a:latin typeface="Calibri" pitchFamily="34" charset="0"/>
                <a:ea typeface="Calibri" pitchFamily="34" charset="-122"/>
                <a:cs typeface="Calibri" pitchFamily="34" charset="-120"/>
              </a:rPr>
              <a:t>Route</a:t>
            </a:r>
            <a:endParaRPr lang="en-US" sz="1700" dirty="0"/>
          </a:p>
        </p:txBody>
      </p:sp>
      <p:sp>
        <p:nvSpPr>
          <p:cNvPr id="11" name="Text 7"/>
          <p:cNvSpPr txBox="1"/>
          <p:nvPr/>
        </p:nvSpPr>
        <p:spPr>
          <a:xfrm>
            <a:off x="6163056" y="1792224"/>
            <a:ext cx="2624328" cy="256032"/>
          </a:xfrm>
          <a:prstGeom prst="rect">
            <a:avLst/>
          </a:prstGeom>
          <a:noFill/>
          <a:ln/>
        </p:spPr>
        <p:txBody>
          <a:bodyPr wrap="square" lIns="0" tIns="0" rIns="0" bIns="0" rtlCol="0" anchor="t"/>
          <a:lstStyle/>
          <a:p>
            <a:pPr indent="0" marL="0">
              <a:buNone/>
            </a:pPr>
            <a:r>
              <a:rPr lang="en-US" sz="1100" dirty="0">
                <a:solidFill>
                  <a:srgbClr val="5D6560"/>
                </a:solidFill>
                <a:latin typeface="Calibri" pitchFamily="34" charset="0"/>
                <a:ea typeface="Calibri" pitchFamily="34" charset="-122"/>
                <a:cs typeface="Calibri" pitchFamily="34" charset="-120"/>
              </a:rPr>
              <a:t>Fleet service · routes</a:t>
            </a:r>
            <a:endParaRPr lang="en-US" sz="1100" dirty="0"/>
          </a:p>
        </p:txBody>
      </p:sp>
      <p:graphicFrame>
        <p:nvGraphicFramePr>
          <p:cNvPr id="28" name="Table 2"/>
          <p:cNvGraphicFramePr>
            <a:graphicFrameLocks noGrp="1"/>
          </p:cNvGraphicFramePr>
          <p:nvPr>
            <p:extLst>
              <p:ext uri="{D42A27DB-BD31-4B8C-83A1-F6EECF244321}">
                <p14:modId xmlns:p14="http://schemas.microsoft.com/office/powerpoint/2010/main" val="1579011935"/>
              </p:ext>
            </p:extLst>
          </p:nvPr>
        </p:nvGraphicFramePr>
        <p:xfrm>
          <a:off x="6163056" y="2148840"/>
          <a:ext cx="2624328" cy="914400"/>
        </p:xfrm>
        <a:graphic>
          <a:graphicData uri="http://schemas.openxmlformats.org/drawingml/2006/table">
            <a:tbl>
              <a:tblPr/>
              <a:tblGrid>
                <a:gridCol w="1390894"/>
                <a:gridCol w="1233434"/>
              </a:tblGrid>
              <a:tr h="27432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Attribute</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1F4D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Data type</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1F4D3A"/>
                    </a:solidFill>
                  </a:tcPr>
                </a:tc>
              </a:tr>
              <a:tr h="274320">
                <a:tc>
                  <a:txBody>
                    <a:bodyPr/>
                    <a:lstStyle/>
                    <a:p>
                      <a:pPr indent="0" marL="0">
                        <a:buNone/>
                      </a:pPr>
                      <a:r>
                        <a:rPr lang="en-US" sz="1200" dirty="0">
                          <a:solidFill>
                            <a:srgbClr val="24292A"/>
                          </a:solidFill>
                          <a:latin typeface="Calibri" pitchFamily="34" charset="0"/>
                          <a:ea typeface="Calibri" pitchFamily="34" charset="-122"/>
                          <a:cs typeface="Calibri" pitchFamily="34" charset="-120"/>
                        </a:rPr>
                        <a:t>id</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c>
                  <a:txBody>
                    <a:bodyPr/>
                    <a:lstStyle/>
                    <a:p>
                      <a:pPr indent="0" marL="0">
                        <a:buNone/>
                      </a:pPr>
                      <a:r>
                        <a:rPr lang="en-US" sz="1200" dirty="0">
                          <a:solidFill>
                            <a:srgbClr val="5D6560"/>
                          </a:solidFill>
                          <a:latin typeface="Calibri" pitchFamily="34" charset="0"/>
                          <a:ea typeface="Calibri" pitchFamily="34" charset="-122"/>
                          <a:cs typeface="Calibri" pitchFamily="34" charset="-120"/>
                        </a:rPr>
                        <a:t>Long (PK)</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r>
              <a:tr h="274320">
                <a:tc>
                  <a:txBody>
                    <a:bodyPr/>
                    <a:lstStyle/>
                    <a:p>
                      <a:pPr indent="0" marL="0">
                        <a:buNone/>
                      </a:pPr>
                      <a:r>
                        <a:rPr lang="en-US" sz="1200" dirty="0">
                          <a:solidFill>
                            <a:srgbClr val="24292A"/>
                          </a:solidFill>
                          <a:latin typeface="Calibri" pitchFamily="34" charset="0"/>
                          <a:ea typeface="Calibri" pitchFamily="34" charset="-122"/>
                          <a:cs typeface="Calibri" pitchFamily="34" charset="-120"/>
                        </a:rPr>
                        <a:t>name</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c>
                  <a:txBody>
                    <a:bodyPr/>
                    <a:lstStyle/>
                    <a:p>
                      <a:pPr indent="0" marL="0">
                        <a:buNone/>
                      </a:pPr>
                      <a:r>
                        <a:rPr lang="en-US" sz="1200" dirty="0">
                          <a:solidFill>
                            <a:srgbClr val="5D6560"/>
                          </a:solidFill>
                          <a:latin typeface="Calibri" pitchFamily="34" charset="0"/>
                          <a:ea typeface="Calibri" pitchFamily="34" charset="-122"/>
                          <a:cs typeface="Calibri" pitchFamily="34" charset="-120"/>
                        </a:rPr>
                        <a:t>String (unique)</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4292A"/>
                          </a:solidFill>
                          <a:latin typeface="Calibri" pitchFamily="34" charset="0"/>
                          <a:ea typeface="Calibri" pitchFamily="34" charset="-122"/>
                          <a:cs typeface="Calibri" pitchFamily="34" charset="-120"/>
                        </a:rPr>
                        <a:t>description</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c>
                  <a:txBody>
                    <a:bodyPr/>
                    <a:lstStyle/>
                    <a:p>
                      <a:pPr indent="0" marL="0">
                        <a:buNone/>
                      </a:pPr>
                      <a:r>
                        <a:rPr lang="en-US" sz="1200" dirty="0">
                          <a:solidFill>
                            <a:srgbClr val="5D6560"/>
                          </a:solidFill>
                          <a:latin typeface="Calibri" pitchFamily="34" charset="0"/>
                          <a:ea typeface="Calibri" pitchFamily="34" charset="-122"/>
                          <a:cs typeface="Calibri" pitchFamily="34" charset="-120"/>
                        </a:rPr>
                        <a:t>String</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r>
              <a:tr h="274320">
                <a:tc>
                  <a:txBody>
                    <a:bodyPr/>
                    <a:lstStyle/>
                    <a:p>
                      <a:pPr indent="0" marL="0">
                        <a:buNone/>
                      </a:pPr>
                      <a:r>
                        <a:rPr lang="en-US" sz="1200" dirty="0">
                          <a:solidFill>
                            <a:srgbClr val="24292A"/>
                          </a:solidFill>
                          <a:latin typeface="Calibri" pitchFamily="34" charset="0"/>
                          <a:ea typeface="Calibri" pitchFamily="34" charset="-122"/>
                          <a:cs typeface="Calibri" pitchFamily="34" charset="-120"/>
                        </a:rPr>
                        <a:t>distanceKm</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c>
                  <a:txBody>
                    <a:bodyPr/>
                    <a:lstStyle/>
                    <a:p>
                      <a:pPr indent="0" marL="0">
                        <a:buNone/>
                      </a:pPr>
                      <a:r>
                        <a:rPr lang="en-US" sz="1200" dirty="0">
                          <a:solidFill>
                            <a:srgbClr val="5D6560"/>
                          </a:solidFill>
                          <a:latin typeface="Calibri" pitchFamily="34" charset="0"/>
                          <a:ea typeface="Calibri" pitchFamily="34" charset="-122"/>
                          <a:cs typeface="Calibri" pitchFamily="34" charset="-120"/>
                        </a:rPr>
                        <a:t>Double</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4292A"/>
                          </a:solidFill>
                          <a:latin typeface="Calibri" pitchFamily="34" charset="0"/>
                          <a:ea typeface="Calibri" pitchFamily="34" charset="-122"/>
                          <a:cs typeface="Calibri" pitchFamily="34" charset="-120"/>
                        </a:rPr>
                        <a:t>stops</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c>
                  <a:txBody>
                    <a:bodyPr/>
                    <a:lstStyle/>
                    <a:p>
                      <a:pPr indent="0" marL="0">
                        <a:buNone/>
                      </a:pPr>
                      <a:r>
                        <a:rPr lang="en-US" sz="1200" dirty="0">
                          <a:solidFill>
                            <a:srgbClr val="5D6560"/>
                          </a:solidFill>
                          <a:latin typeface="Calibri" pitchFamily="34" charset="0"/>
                          <a:ea typeface="Calibri" pitchFamily="34" charset="-122"/>
                          <a:cs typeface="Calibri" pitchFamily="34" charset="-120"/>
                        </a:rPr>
                        <a:t>List&lt;RouteStop&gt;</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r>
            </a:tbl>
          </a:graphicData>
        </a:graphic>
      </p:graphicFrame>
      <p:sp>
        <p:nvSpPr>
          <p:cNvPr id="13" name="Text 8"/>
          <p:cNvSpPr txBox="1"/>
          <p:nvPr/>
        </p:nvSpPr>
        <p:spPr>
          <a:xfrm>
            <a:off x="8970264" y="1463040"/>
            <a:ext cx="2624328" cy="320040"/>
          </a:xfrm>
          <a:prstGeom prst="rect">
            <a:avLst/>
          </a:prstGeom>
          <a:noFill/>
          <a:ln/>
        </p:spPr>
        <p:txBody>
          <a:bodyPr wrap="square" lIns="0" tIns="0" rIns="0" bIns="0" rtlCol="0" anchor="t"/>
          <a:lstStyle/>
          <a:p>
            <a:pPr indent="0" marL="0">
              <a:buNone/>
            </a:pPr>
            <a:r>
              <a:rPr lang="en-US" sz="1700" b="1" dirty="0">
                <a:solidFill>
                  <a:srgbClr val="1F4D3A"/>
                </a:solidFill>
                <a:latin typeface="Calibri" pitchFamily="34" charset="0"/>
                <a:ea typeface="Calibri" pitchFamily="34" charset="-122"/>
                <a:cs typeface="Calibri" pitchFamily="34" charset="-120"/>
              </a:rPr>
              <a:t>RouteStop</a:t>
            </a:r>
            <a:endParaRPr lang="en-US" sz="1700" dirty="0"/>
          </a:p>
        </p:txBody>
      </p:sp>
      <p:sp>
        <p:nvSpPr>
          <p:cNvPr id="14" name="Text 9"/>
          <p:cNvSpPr txBox="1"/>
          <p:nvPr/>
        </p:nvSpPr>
        <p:spPr>
          <a:xfrm>
            <a:off x="8970264" y="1792224"/>
            <a:ext cx="2624328" cy="256032"/>
          </a:xfrm>
          <a:prstGeom prst="rect">
            <a:avLst/>
          </a:prstGeom>
          <a:noFill/>
          <a:ln/>
        </p:spPr>
        <p:txBody>
          <a:bodyPr wrap="square" lIns="0" tIns="0" rIns="0" bIns="0" rtlCol="0" anchor="t"/>
          <a:lstStyle/>
          <a:p>
            <a:pPr indent="0" marL="0">
              <a:buNone/>
            </a:pPr>
            <a:r>
              <a:rPr lang="en-US" sz="1100" dirty="0">
                <a:solidFill>
                  <a:srgbClr val="5D6560"/>
                </a:solidFill>
                <a:latin typeface="Calibri" pitchFamily="34" charset="0"/>
                <a:ea typeface="Calibri" pitchFamily="34" charset="-122"/>
                <a:cs typeface="Calibri" pitchFamily="34" charset="-120"/>
              </a:rPr>
              <a:t>Fleet service · route_stops</a:t>
            </a:r>
            <a:endParaRPr lang="en-US" sz="1100" dirty="0"/>
          </a:p>
        </p:txBody>
      </p:sp>
      <p:graphicFrame>
        <p:nvGraphicFramePr>
          <p:cNvPr id="37" name="Table 3"/>
          <p:cNvGraphicFramePr>
            <a:graphicFrameLocks noGrp="1"/>
          </p:cNvGraphicFramePr>
          <p:nvPr>
            <p:extLst>
              <p:ext uri="{D42A27DB-BD31-4B8C-83A1-F6EECF244321}">
                <p14:modId xmlns:p14="http://schemas.microsoft.com/office/powerpoint/2010/main" val="1579011935"/>
              </p:ext>
            </p:extLst>
          </p:nvPr>
        </p:nvGraphicFramePr>
        <p:xfrm>
          <a:off x="8970264" y="2148840"/>
          <a:ext cx="2624328" cy="914400"/>
        </p:xfrm>
        <a:graphic>
          <a:graphicData uri="http://schemas.openxmlformats.org/drawingml/2006/table">
            <a:tbl>
              <a:tblPr/>
              <a:tblGrid>
                <a:gridCol w="1390894"/>
                <a:gridCol w="1233434"/>
              </a:tblGrid>
              <a:tr h="27432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Attribute</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1F4D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Data type</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1F4D3A"/>
                    </a:solidFill>
                  </a:tcPr>
                </a:tc>
              </a:tr>
              <a:tr h="274320">
                <a:tc>
                  <a:txBody>
                    <a:bodyPr/>
                    <a:lstStyle/>
                    <a:p>
                      <a:pPr indent="0" marL="0">
                        <a:buNone/>
                      </a:pPr>
                      <a:r>
                        <a:rPr lang="en-US" sz="1200" dirty="0">
                          <a:solidFill>
                            <a:srgbClr val="24292A"/>
                          </a:solidFill>
                          <a:latin typeface="Calibri" pitchFamily="34" charset="0"/>
                          <a:ea typeface="Calibri" pitchFamily="34" charset="-122"/>
                          <a:cs typeface="Calibri" pitchFamily="34" charset="-120"/>
                        </a:rPr>
                        <a:t>id</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c>
                  <a:txBody>
                    <a:bodyPr/>
                    <a:lstStyle/>
                    <a:p>
                      <a:pPr indent="0" marL="0">
                        <a:buNone/>
                      </a:pPr>
                      <a:r>
                        <a:rPr lang="en-US" sz="1200" dirty="0">
                          <a:solidFill>
                            <a:srgbClr val="5D6560"/>
                          </a:solidFill>
                          <a:latin typeface="Calibri" pitchFamily="34" charset="0"/>
                          <a:ea typeface="Calibri" pitchFamily="34" charset="-122"/>
                          <a:cs typeface="Calibri" pitchFamily="34" charset="-120"/>
                        </a:rPr>
                        <a:t>Long (PK)</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r>
              <a:tr h="274320">
                <a:tc>
                  <a:txBody>
                    <a:bodyPr/>
                    <a:lstStyle/>
                    <a:p>
                      <a:pPr indent="0" marL="0">
                        <a:buNone/>
                      </a:pPr>
                      <a:r>
                        <a:rPr lang="en-US" sz="1200" dirty="0">
                          <a:solidFill>
                            <a:srgbClr val="24292A"/>
                          </a:solidFill>
                          <a:latin typeface="Calibri" pitchFamily="34" charset="0"/>
                          <a:ea typeface="Calibri" pitchFamily="34" charset="-122"/>
                          <a:cs typeface="Calibri" pitchFamily="34" charset="-120"/>
                        </a:rPr>
                        <a:t>name</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c>
                  <a:txBody>
                    <a:bodyPr/>
                    <a:lstStyle/>
                    <a:p>
                      <a:pPr indent="0" marL="0">
                        <a:buNone/>
                      </a:pPr>
                      <a:r>
                        <a:rPr lang="en-US" sz="1200" dirty="0">
                          <a:solidFill>
                            <a:srgbClr val="5D6560"/>
                          </a:solidFill>
                          <a:latin typeface="Calibri" pitchFamily="34" charset="0"/>
                          <a:ea typeface="Calibri" pitchFamily="34" charset="-122"/>
                          <a:cs typeface="Calibri" pitchFamily="34" charset="-120"/>
                        </a:rPr>
                        <a:t>String</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4292A"/>
                          </a:solidFill>
                          <a:latin typeface="Calibri" pitchFamily="34" charset="0"/>
                          <a:ea typeface="Calibri" pitchFamily="34" charset="-122"/>
                          <a:cs typeface="Calibri" pitchFamily="34" charset="-120"/>
                        </a:rPr>
                        <a:t>sequence</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c>
                  <a:txBody>
                    <a:bodyPr/>
                    <a:lstStyle/>
                    <a:p>
                      <a:pPr indent="0" marL="0">
                        <a:buNone/>
                      </a:pPr>
                      <a:r>
                        <a:rPr lang="en-US" sz="1200" dirty="0">
                          <a:solidFill>
                            <a:srgbClr val="5D6560"/>
                          </a:solidFill>
                          <a:latin typeface="Calibri" pitchFamily="34" charset="0"/>
                          <a:ea typeface="Calibri" pitchFamily="34" charset="-122"/>
                          <a:cs typeface="Calibri" pitchFamily="34" charset="-120"/>
                        </a:rPr>
                        <a:t>Integer</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r>
              <a:tr h="274320">
                <a:tc>
                  <a:txBody>
                    <a:bodyPr/>
                    <a:lstStyle/>
                    <a:p>
                      <a:pPr indent="0" marL="0">
                        <a:buNone/>
                      </a:pPr>
                      <a:r>
                        <a:rPr lang="en-US" sz="1200" dirty="0">
                          <a:solidFill>
                            <a:srgbClr val="24292A"/>
                          </a:solidFill>
                          <a:latin typeface="Calibri" pitchFamily="34" charset="0"/>
                          <a:ea typeface="Calibri" pitchFamily="34" charset="-122"/>
                          <a:cs typeface="Calibri" pitchFamily="34" charset="-120"/>
                        </a:rPr>
                        <a:t>latitude</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c>
                  <a:txBody>
                    <a:bodyPr/>
                    <a:lstStyle/>
                    <a:p>
                      <a:pPr indent="0" marL="0">
                        <a:buNone/>
                      </a:pPr>
                      <a:r>
                        <a:rPr lang="en-US" sz="1200" dirty="0">
                          <a:solidFill>
                            <a:srgbClr val="5D6560"/>
                          </a:solidFill>
                          <a:latin typeface="Calibri" pitchFamily="34" charset="0"/>
                          <a:ea typeface="Calibri" pitchFamily="34" charset="-122"/>
                          <a:cs typeface="Calibri" pitchFamily="34" charset="-120"/>
                        </a:rPr>
                        <a:t>Double</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4292A"/>
                          </a:solidFill>
                          <a:latin typeface="Calibri" pitchFamily="34" charset="0"/>
                          <a:ea typeface="Calibri" pitchFamily="34" charset="-122"/>
                          <a:cs typeface="Calibri" pitchFamily="34" charset="-120"/>
                        </a:rPr>
                        <a:t>longitude</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c>
                  <a:txBody>
                    <a:bodyPr/>
                    <a:lstStyle/>
                    <a:p>
                      <a:pPr indent="0" marL="0">
                        <a:buNone/>
                      </a:pPr>
                      <a:r>
                        <a:rPr lang="en-US" sz="1200" dirty="0">
                          <a:solidFill>
                            <a:srgbClr val="5D6560"/>
                          </a:solidFill>
                          <a:latin typeface="Calibri" pitchFamily="34" charset="0"/>
                          <a:ea typeface="Calibri" pitchFamily="34" charset="-122"/>
                          <a:cs typeface="Calibri" pitchFamily="34" charset="-120"/>
                        </a:rPr>
                        <a:t>Double</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r>
              <a:tr h="274320">
                <a:tc>
                  <a:txBody>
                    <a:bodyPr/>
                    <a:lstStyle/>
                    <a:p>
                      <a:pPr indent="0" marL="0">
                        <a:buNone/>
                      </a:pPr>
                      <a:r>
                        <a:rPr lang="en-US" sz="1200" dirty="0">
                          <a:solidFill>
                            <a:srgbClr val="24292A"/>
                          </a:solidFill>
                          <a:latin typeface="Calibri" pitchFamily="34" charset="0"/>
                          <a:ea typeface="Calibri" pitchFamily="34" charset="-122"/>
                          <a:cs typeface="Calibri" pitchFamily="34" charset="-120"/>
                        </a:rPr>
                        <a:t>route</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c>
                  <a:txBody>
                    <a:bodyPr/>
                    <a:lstStyle/>
                    <a:p>
                      <a:pPr indent="0" marL="0">
                        <a:buNone/>
                      </a:pPr>
                      <a:r>
                        <a:rPr lang="en-US" sz="1200" dirty="0">
                          <a:solidFill>
                            <a:srgbClr val="5D6560"/>
                          </a:solidFill>
                          <a:latin typeface="Calibri" pitchFamily="34" charset="0"/>
                          <a:ea typeface="Calibri" pitchFamily="34" charset="-122"/>
                          <a:cs typeface="Calibri" pitchFamily="34" charset="-120"/>
                        </a:rPr>
                        <a:t>Route (FK)</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r>
            </a:tbl>
          </a:graphicData>
        </a:graphic>
      </p:graphicFrame>
      <p:sp>
        <p:nvSpPr>
          <p:cNvPr id="16" name="Text 10"/>
          <p:cNvSpPr txBox="1"/>
          <p:nvPr/>
        </p:nvSpPr>
        <p:spPr>
          <a:xfrm>
            <a:off x="548640" y="5257800"/>
            <a:ext cx="11064240" cy="320040"/>
          </a:xfrm>
          <a:prstGeom prst="rect">
            <a:avLst/>
          </a:prstGeom>
          <a:noFill/>
          <a:ln/>
        </p:spPr>
        <p:txBody>
          <a:bodyPr wrap="square" lIns="0" tIns="0" rIns="0" bIns="0" rtlCol="0" anchor="t"/>
          <a:lstStyle/>
          <a:p>
            <a:pPr indent="0" marL="0">
              <a:buNone/>
            </a:pPr>
            <a:r>
              <a:rPr lang="en-US" sz="1400" b="1" dirty="0">
                <a:solidFill>
                  <a:srgbClr val="1F4D3A"/>
                </a:solidFill>
                <a:latin typeface="Calibri" pitchFamily="34" charset="0"/>
                <a:ea typeface="Calibri" pitchFamily="34" charset="-122"/>
                <a:cs typeface="Calibri" pitchFamily="34" charset="-120"/>
              </a:rPr>
              <a:t>Enums  </a:t>
            </a:r>
            <a:pPr indent="0" marL="0">
              <a:buNone/>
            </a:pPr>
            <a:r>
              <a:rPr lang="en-US" sz="1400" dirty="0">
                <a:solidFill>
                  <a:srgbClr val="5D6560"/>
                </a:solidFill>
                <a:latin typeface="Calibri" pitchFamily="34" charset="0"/>
                <a:ea typeface="Calibri" pitchFamily="34" charset="-122"/>
                <a:cs typeface="Calibri" pitchFamily="34" charset="-120"/>
              </a:rPr>
              <a:t>Role: ADMIN, STUDENT    ·    VehicleStatus: ACTIVE, CHARGING, MAINTENANCE, OUT_OF_SERVICE</a:t>
            </a:r>
            <a:endParaRPr lang="en-US" sz="1400" dirty="0"/>
          </a:p>
        </p:txBody>
      </p:sp>
      <p:sp>
        <p:nvSpPr>
          <p:cNvPr id="17" name="Text 11"/>
          <p:cNvSpPr txBox="1"/>
          <p:nvPr/>
        </p:nvSpPr>
        <p:spPr>
          <a:xfrm>
            <a:off x="548640" y="5669280"/>
            <a:ext cx="11064240" cy="320040"/>
          </a:xfrm>
          <a:prstGeom prst="rect">
            <a:avLst/>
          </a:prstGeom>
          <a:noFill/>
          <a:ln/>
        </p:spPr>
        <p:txBody>
          <a:bodyPr wrap="square" lIns="0" tIns="0" rIns="0" bIns="0" rtlCol="0" anchor="t"/>
          <a:lstStyle/>
          <a:p>
            <a:pPr indent="0" marL="0">
              <a:buNone/>
            </a:pPr>
            <a:r>
              <a:rPr lang="en-US" sz="1400" dirty="0">
                <a:solidFill>
                  <a:srgbClr val="5D6560"/>
                </a:solidFill>
                <a:latin typeface="Calibri" pitchFamily="34" charset="0"/>
                <a:ea typeface="Calibri" pitchFamily="34" charset="-122"/>
                <a:cs typeface="Calibri" pitchFamily="34" charset="-120"/>
              </a:rPr>
              <a:t>A Route has many RouteStops (one-to-many, kept in travel order). A Vehicle belongs to at most one Route (many-to-one).</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D656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t"/>
          <a:lstStyle/>
          <a:p>
            <a:pPr indent="0" marL="0">
              <a:buNone/>
            </a:pPr>
            <a:r>
              <a:rPr lang="en-US" sz="1200" b="1" spc="200" kern="0" dirty="0">
                <a:solidFill>
                  <a:srgbClr val="1F4D3A"/>
                </a:solidFill>
                <a:latin typeface="Calibri" pitchFamily="34" charset="0"/>
                <a:ea typeface="Calibri" pitchFamily="34" charset="-122"/>
                <a:cs typeface="Calibri" pitchFamily="34" charset="-120"/>
              </a:rPr>
              <a:t>ENTITIES  ·  2 OF 2</a:t>
            </a:r>
            <a:endParaRPr lang="en-US" sz="1200" dirty="0"/>
          </a:p>
        </p:txBody>
      </p:sp>
      <p:sp>
        <p:nvSpPr>
          <p:cNvPr id="3" name="Text 1"/>
          <p:cNvSpPr txBox="1"/>
          <p:nvPr/>
        </p:nvSpPr>
        <p:spPr>
          <a:xfrm>
            <a:off x="548640" y="658368"/>
            <a:ext cx="11064240" cy="594360"/>
          </a:xfrm>
          <a:prstGeom prst="rect">
            <a:avLst/>
          </a:prstGeom>
          <a:noFill/>
          <a:ln/>
        </p:spPr>
        <p:txBody>
          <a:bodyPr wrap="square" lIns="0" tIns="0" rIns="0" bIns="0" rtlCol="0" anchor="t"/>
          <a:lstStyle/>
          <a:p>
            <a:pPr indent="0" marL="0">
              <a:buNone/>
            </a:pPr>
            <a:r>
              <a:rPr lang="en-US" sz="3000" b="1" dirty="0">
                <a:solidFill>
                  <a:srgbClr val="24292A"/>
                </a:solidFill>
                <a:latin typeface="Calibri" pitchFamily="34" charset="0"/>
                <a:ea typeface="Calibri" pitchFamily="34" charset="-122"/>
                <a:cs typeface="Calibri" pitchFamily="34" charset="-120"/>
              </a:rPr>
              <a:t>Trips, occupancy and alerts</a:t>
            </a:r>
            <a:endParaRPr lang="en-US" sz="3000" dirty="0"/>
          </a:p>
        </p:txBody>
      </p:sp>
      <p:sp>
        <p:nvSpPr>
          <p:cNvPr id="4" name="Text 2"/>
          <p:cNvSpPr txBox="1"/>
          <p:nvPr/>
        </p:nvSpPr>
        <p:spPr>
          <a:xfrm>
            <a:off x="548640" y="1463040"/>
            <a:ext cx="2624328" cy="320040"/>
          </a:xfrm>
          <a:prstGeom prst="rect">
            <a:avLst/>
          </a:prstGeom>
          <a:noFill/>
          <a:ln/>
        </p:spPr>
        <p:txBody>
          <a:bodyPr wrap="square" lIns="0" tIns="0" rIns="0" bIns="0" rtlCol="0" anchor="t"/>
          <a:lstStyle/>
          <a:p>
            <a:pPr indent="0" marL="0">
              <a:buNone/>
            </a:pPr>
            <a:r>
              <a:rPr lang="en-US" sz="1700" b="1" dirty="0">
                <a:solidFill>
                  <a:srgbClr val="1F4D3A"/>
                </a:solidFill>
                <a:latin typeface="Calibri" pitchFamily="34" charset="0"/>
                <a:ea typeface="Calibri" pitchFamily="34" charset="-122"/>
                <a:cs typeface="Calibri" pitchFamily="34" charset="-120"/>
              </a:rPr>
              <a:t>Trip</a:t>
            </a:r>
            <a:endParaRPr lang="en-US" sz="1700" dirty="0"/>
          </a:p>
        </p:txBody>
      </p:sp>
      <p:sp>
        <p:nvSpPr>
          <p:cNvPr id="5" name="Text 3"/>
          <p:cNvSpPr txBox="1"/>
          <p:nvPr/>
        </p:nvSpPr>
        <p:spPr>
          <a:xfrm>
            <a:off x="548640" y="1792224"/>
            <a:ext cx="2624328" cy="256032"/>
          </a:xfrm>
          <a:prstGeom prst="rect">
            <a:avLst/>
          </a:prstGeom>
          <a:noFill/>
          <a:ln/>
        </p:spPr>
        <p:txBody>
          <a:bodyPr wrap="square" lIns="0" tIns="0" rIns="0" bIns="0" rtlCol="0" anchor="t"/>
          <a:lstStyle/>
          <a:p>
            <a:pPr indent="0" marL="0">
              <a:buNone/>
            </a:pPr>
            <a:r>
              <a:rPr lang="en-US" sz="1100" dirty="0">
                <a:solidFill>
                  <a:srgbClr val="5D6560"/>
                </a:solidFill>
                <a:latin typeface="Calibri" pitchFamily="34" charset="0"/>
                <a:ea typeface="Calibri" pitchFamily="34" charset="-122"/>
                <a:cs typeface="Calibri" pitchFamily="34" charset="-120"/>
              </a:rPr>
              <a:t>Trip service · trips</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2148840"/>
          <a:ext cx="2624328" cy="914400"/>
        </p:xfrm>
        <a:graphic>
          <a:graphicData uri="http://schemas.openxmlformats.org/drawingml/2006/table">
            <a:tbl>
              <a:tblPr/>
              <a:tblGrid>
                <a:gridCol w="1390894"/>
                <a:gridCol w="1233434"/>
              </a:tblGrid>
              <a:tr h="27432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Attribute</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1F4D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Data type</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1F4D3A"/>
                    </a:solidFill>
                  </a:tcPr>
                </a:tc>
              </a:tr>
              <a:tr h="274320">
                <a:tc>
                  <a:txBody>
                    <a:bodyPr/>
                    <a:lstStyle/>
                    <a:p>
                      <a:pPr indent="0" marL="0">
                        <a:buNone/>
                      </a:pPr>
                      <a:r>
                        <a:rPr lang="en-US" sz="1200" dirty="0">
                          <a:solidFill>
                            <a:srgbClr val="24292A"/>
                          </a:solidFill>
                          <a:latin typeface="Calibri" pitchFamily="34" charset="0"/>
                          <a:ea typeface="Calibri" pitchFamily="34" charset="-122"/>
                          <a:cs typeface="Calibri" pitchFamily="34" charset="-120"/>
                        </a:rPr>
                        <a:t>id</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c>
                  <a:txBody>
                    <a:bodyPr/>
                    <a:lstStyle/>
                    <a:p>
                      <a:pPr indent="0" marL="0">
                        <a:buNone/>
                      </a:pPr>
                      <a:r>
                        <a:rPr lang="en-US" sz="1200" dirty="0">
                          <a:solidFill>
                            <a:srgbClr val="5D6560"/>
                          </a:solidFill>
                          <a:latin typeface="Calibri" pitchFamily="34" charset="0"/>
                          <a:ea typeface="Calibri" pitchFamily="34" charset="-122"/>
                          <a:cs typeface="Calibri" pitchFamily="34" charset="-120"/>
                        </a:rPr>
                        <a:t>Long (PK)</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r>
              <a:tr h="274320">
                <a:tc>
                  <a:txBody>
                    <a:bodyPr/>
                    <a:lstStyle/>
                    <a:p>
                      <a:pPr indent="0" marL="0">
                        <a:buNone/>
                      </a:pPr>
                      <a:r>
                        <a:rPr lang="en-US" sz="1200" dirty="0">
                          <a:solidFill>
                            <a:srgbClr val="24292A"/>
                          </a:solidFill>
                          <a:latin typeface="Calibri" pitchFamily="34" charset="0"/>
                          <a:ea typeface="Calibri" pitchFamily="34" charset="-122"/>
                          <a:cs typeface="Calibri" pitchFamily="34" charset="-120"/>
                        </a:rPr>
                        <a:t>vehicleId</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c>
                  <a:txBody>
                    <a:bodyPr/>
                    <a:lstStyle/>
                    <a:p>
                      <a:pPr indent="0" marL="0">
                        <a:buNone/>
                      </a:pPr>
                      <a:r>
                        <a:rPr lang="en-US" sz="1200" dirty="0">
                          <a:solidFill>
                            <a:srgbClr val="5D6560"/>
                          </a:solidFill>
                          <a:latin typeface="Calibri" pitchFamily="34" charset="0"/>
                          <a:ea typeface="Calibri" pitchFamily="34" charset="-122"/>
                          <a:cs typeface="Calibri" pitchFamily="34" charset="-120"/>
                        </a:rPr>
                        <a:t>Long</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4292A"/>
                          </a:solidFill>
                          <a:latin typeface="Calibri" pitchFamily="34" charset="0"/>
                          <a:ea typeface="Calibri" pitchFamily="34" charset="-122"/>
                          <a:cs typeface="Calibri" pitchFamily="34" charset="-120"/>
                        </a:rPr>
                        <a:t>vehicleName</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c>
                  <a:txBody>
                    <a:bodyPr/>
                    <a:lstStyle/>
                    <a:p>
                      <a:pPr indent="0" marL="0">
                        <a:buNone/>
                      </a:pPr>
                      <a:r>
                        <a:rPr lang="en-US" sz="1200" dirty="0">
                          <a:solidFill>
                            <a:srgbClr val="5D6560"/>
                          </a:solidFill>
                          <a:latin typeface="Calibri" pitchFamily="34" charset="0"/>
                          <a:ea typeface="Calibri" pitchFamily="34" charset="-122"/>
                          <a:cs typeface="Calibri" pitchFamily="34" charset="-120"/>
                        </a:rPr>
                        <a:t>String</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r>
              <a:tr h="274320">
                <a:tc>
                  <a:txBody>
                    <a:bodyPr/>
                    <a:lstStyle/>
                    <a:p>
                      <a:pPr indent="0" marL="0">
                        <a:buNone/>
                      </a:pPr>
                      <a:r>
                        <a:rPr lang="en-US" sz="1200" dirty="0">
                          <a:solidFill>
                            <a:srgbClr val="24292A"/>
                          </a:solidFill>
                          <a:latin typeface="Calibri" pitchFamily="34" charset="0"/>
                          <a:ea typeface="Calibri" pitchFamily="34" charset="-122"/>
                          <a:cs typeface="Calibri" pitchFamily="34" charset="-120"/>
                        </a:rPr>
                        <a:t>routeId</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c>
                  <a:txBody>
                    <a:bodyPr/>
                    <a:lstStyle/>
                    <a:p>
                      <a:pPr indent="0" marL="0">
                        <a:buNone/>
                      </a:pPr>
                      <a:r>
                        <a:rPr lang="en-US" sz="1200" dirty="0">
                          <a:solidFill>
                            <a:srgbClr val="5D6560"/>
                          </a:solidFill>
                          <a:latin typeface="Calibri" pitchFamily="34" charset="0"/>
                          <a:ea typeface="Calibri" pitchFamily="34" charset="-122"/>
                          <a:cs typeface="Calibri" pitchFamily="34" charset="-120"/>
                        </a:rPr>
                        <a:t>Long</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4292A"/>
                          </a:solidFill>
                          <a:latin typeface="Calibri" pitchFamily="34" charset="0"/>
                          <a:ea typeface="Calibri" pitchFamily="34" charset="-122"/>
                          <a:cs typeface="Calibri" pitchFamily="34" charset="-120"/>
                        </a:rPr>
                        <a:t>routeName</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c>
                  <a:txBody>
                    <a:bodyPr/>
                    <a:lstStyle/>
                    <a:p>
                      <a:pPr indent="0" marL="0">
                        <a:buNone/>
                      </a:pPr>
                      <a:r>
                        <a:rPr lang="en-US" sz="1200" dirty="0">
                          <a:solidFill>
                            <a:srgbClr val="5D6560"/>
                          </a:solidFill>
                          <a:latin typeface="Calibri" pitchFamily="34" charset="0"/>
                          <a:ea typeface="Calibri" pitchFamily="34" charset="-122"/>
                          <a:cs typeface="Calibri" pitchFamily="34" charset="-120"/>
                        </a:rPr>
                        <a:t>String</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r>
              <a:tr h="274320">
                <a:tc>
                  <a:txBody>
                    <a:bodyPr/>
                    <a:lstStyle/>
                    <a:p>
                      <a:pPr indent="0" marL="0">
                        <a:buNone/>
                      </a:pPr>
                      <a:r>
                        <a:rPr lang="en-US" sz="1200" dirty="0">
                          <a:solidFill>
                            <a:srgbClr val="24292A"/>
                          </a:solidFill>
                          <a:latin typeface="Calibri" pitchFamily="34" charset="0"/>
                          <a:ea typeface="Calibri" pitchFamily="34" charset="-122"/>
                          <a:cs typeface="Calibri" pitchFamily="34" charset="-120"/>
                        </a:rPr>
                        <a:t>routeDistanceKm</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c>
                  <a:txBody>
                    <a:bodyPr/>
                    <a:lstStyle/>
                    <a:p>
                      <a:pPr indent="0" marL="0">
                        <a:buNone/>
                      </a:pPr>
                      <a:r>
                        <a:rPr lang="en-US" sz="1200" dirty="0">
                          <a:solidFill>
                            <a:srgbClr val="5D6560"/>
                          </a:solidFill>
                          <a:latin typeface="Calibri" pitchFamily="34" charset="0"/>
                          <a:ea typeface="Calibri" pitchFamily="34" charset="-122"/>
                          <a:cs typeface="Calibri" pitchFamily="34" charset="-120"/>
                        </a:rPr>
                        <a:t>Double</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4292A"/>
                          </a:solidFill>
                          <a:latin typeface="Calibri" pitchFamily="34" charset="0"/>
                          <a:ea typeface="Calibri" pitchFamily="34" charset="-122"/>
                          <a:cs typeface="Calibri" pitchFamily="34" charset="-120"/>
                        </a:rPr>
                        <a:t>routePath</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c>
                  <a:txBody>
                    <a:bodyPr/>
                    <a:lstStyle/>
                    <a:p>
                      <a:pPr indent="0" marL="0">
                        <a:buNone/>
                      </a:pPr>
                      <a:r>
                        <a:rPr lang="en-US" sz="1200" dirty="0">
                          <a:solidFill>
                            <a:srgbClr val="5D6560"/>
                          </a:solidFill>
                          <a:latin typeface="Calibri" pitchFamily="34" charset="0"/>
                          <a:ea typeface="Calibri" pitchFamily="34" charset="-122"/>
                          <a:cs typeface="Calibri" pitchFamily="34" charset="-120"/>
                        </a:rPr>
                        <a:t>String (text)</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r>
              <a:tr h="274320">
                <a:tc>
                  <a:txBody>
                    <a:bodyPr/>
                    <a:lstStyle/>
                    <a:p>
                      <a:pPr indent="0" marL="0">
                        <a:buNone/>
                      </a:pPr>
                      <a:r>
                        <a:rPr lang="en-US" sz="1200" dirty="0">
                          <a:solidFill>
                            <a:srgbClr val="24292A"/>
                          </a:solidFill>
                          <a:latin typeface="Calibri" pitchFamily="34" charset="0"/>
                          <a:ea typeface="Calibri" pitchFamily="34" charset="-122"/>
                          <a:cs typeface="Calibri" pitchFamily="34" charset="-120"/>
                        </a:rPr>
                        <a:t>status</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c>
                  <a:txBody>
                    <a:bodyPr/>
                    <a:lstStyle/>
                    <a:p>
                      <a:pPr indent="0" marL="0">
                        <a:buNone/>
                      </a:pPr>
                      <a:r>
                        <a:rPr lang="en-US" sz="1200" dirty="0">
                          <a:solidFill>
                            <a:srgbClr val="5D6560"/>
                          </a:solidFill>
                          <a:latin typeface="Calibri" pitchFamily="34" charset="0"/>
                          <a:ea typeface="Calibri" pitchFamily="34" charset="-122"/>
                          <a:cs typeface="Calibri" pitchFamily="34" charset="-120"/>
                        </a:rPr>
                        <a:t>TripStatus</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4292A"/>
                          </a:solidFill>
                          <a:latin typeface="Calibri" pitchFamily="34" charset="0"/>
                          <a:ea typeface="Calibri" pitchFamily="34" charset="-122"/>
                          <a:cs typeface="Calibri" pitchFamily="34" charset="-120"/>
                        </a:rPr>
                        <a:t>scheduledStart</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c>
                  <a:txBody>
                    <a:bodyPr/>
                    <a:lstStyle/>
                    <a:p>
                      <a:pPr indent="0" marL="0">
                        <a:buNone/>
                      </a:pPr>
                      <a:r>
                        <a:rPr lang="en-US" sz="1200" dirty="0">
                          <a:solidFill>
                            <a:srgbClr val="5D6560"/>
                          </a:solidFill>
                          <a:latin typeface="Calibri" pitchFamily="34" charset="0"/>
                          <a:ea typeface="Calibri" pitchFamily="34" charset="-122"/>
                          <a:cs typeface="Calibri" pitchFamily="34" charset="-120"/>
                        </a:rPr>
                        <a:t>Instant</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r>
            </a:tbl>
          </a:graphicData>
        </a:graphic>
      </p:graphicFrame>
      <p:sp>
        <p:nvSpPr>
          <p:cNvPr id="7" name="Text 4"/>
          <p:cNvSpPr txBox="1"/>
          <p:nvPr/>
        </p:nvSpPr>
        <p:spPr>
          <a:xfrm>
            <a:off x="3355848" y="1463040"/>
            <a:ext cx="2624328" cy="320040"/>
          </a:xfrm>
          <a:prstGeom prst="rect">
            <a:avLst/>
          </a:prstGeom>
          <a:noFill/>
          <a:ln/>
        </p:spPr>
        <p:txBody>
          <a:bodyPr wrap="square" lIns="0" tIns="0" rIns="0" bIns="0" rtlCol="0" anchor="t"/>
          <a:lstStyle/>
          <a:p>
            <a:pPr indent="0" marL="0">
              <a:buNone/>
            </a:pPr>
            <a:r>
              <a:rPr lang="en-US" sz="1700" b="1" dirty="0">
                <a:solidFill>
                  <a:srgbClr val="1F4D3A"/>
                </a:solidFill>
                <a:latin typeface="Calibri" pitchFamily="34" charset="0"/>
                <a:ea typeface="Calibri" pitchFamily="34" charset="-122"/>
                <a:cs typeface="Calibri" pitchFamily="34" charset="-120"/>
              </a:rPr>
              <a:t> </a:t>
            </a:r>
            <a:endParaRPr lang="en-US" sz="1700" dirty="0"/>
          </a:p>
        </p:txBody>
      </p:sp>
      <p:sp>
        <p:nvSpPr>
          <p:cNvPr id="8" name="Text 5"/>
          <p:cNvSpPr txBox="1"/>
          <p:nvPr/>
        </p:nvSpPr>
        <p:spPr>
          <a:xfrm>
            <a:off x="3355848" y="1792224"/>
            <a:ext cx="2624328" cy="256032"/>
          </a:xfrm>
          <a:prstGeom prst="rect">
            <a:avLst/>
          </a:prstGeom>
          <a:noFill/>
          <a:ln/>
        </p:spPr>
        <p:txBody>
          <a:bodyPr wrap="square" lIns="0" tIns="0" rIns="0" bIns="0" rtlCol="0" anchor="t"/>
          <a:lstStyle/>
          <a:p>
            <a:pPr indent="0" marL="0">
              <a:buNone/>
            </a:pPr>
            <a:r>
              <a:rPr lang="en-US" sz="1100" dirty="0">
                <a:solidFill>
                  <a:srgbClr val="5D6560"/>
                </a:solidFill>
                <a:latin typeface="Calibri" pitchFamily="34" charset="0"/>
                <a:ea typeface="Calibri" pitchFamily="34" charset="-122"/>
                <a:cs typeface="Calibri" pitchFamily="34" charset="-120"/>
              </a:rPr>
              <a:t>continued</a:t>
            </a:r>
            <a:endParaRPr lang="en-US" sz="1100" dirty="0"/>
          </a:p>
        </p:txBody>
      </p:sp>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3355848" y="2148840"/>
          <a:ext cx="2624328" cy="914400"/>
        </p:xfrm>
        <a:graphic>
          <a:graphicData uri="http://schemas.openxmlformats.org/drawingml/2006/table">
            <a:tbl>
              <a:tblPr/>
              <a:tblGrid>
                <a:gridCol w="1390894"/>
                <a:gridCol w="1233434"/>
              </a:tblGrid>
              <a:tr h="27432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Attribute</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1F4D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Data type</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1F4D3A"/>
                    </a:solidFill>
                  </a:tcPr>
                </a:tc>
              </a:tr>
              <a:tr h="274320">
                <a:tc>
                  <a:txBody>
                    <a:bodyPr/>
                    <a:lstStyle/>
                    <a:p>
                      <a:pPr indent="0" marL="0">
                        <a:buNone/>
                      </a:pPr>
                      <a:r>
                        <a:rPr lang="en-US" sz="1200" dirty="0">
                          <a:solidFill>
                            <a:srgbClr val="24292A"/>
                          </a:solidFill>
                          <a:latin typeface="Calibri" pitchFamily="34" charset="0"/>
                          <a:ea typeface="Calibri" pitchFamily="34" charset="-122"/>
                          <a:cs typeface="Calibri" pitchFamily="34" charset="-120"/>
                        </a:rPr>
                        <a:t>startedAt</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c>
                  <a:txBody>
                    <a:bodyPr/>
                    <a:lstStyle/>
                    <a:p>
                      <a:pPr indent="0" marL="0">
                        <a:buNone/>
                      </a:pPr>
                      <a:r>
                        <a:rPr lang="en-US" sz="1200" dirty="0">
                          <a:solidFill>
                            <a:srgbClr val="5D6560"/>
                          </a:solidFill>
                          <a:latin typeface="Calibri" pitchFamily="34" charset="0"/>
                          <a:ea typeface="Calibri" pitchFamily="34" charset="-122"/>
                          <a:cs typeface="Calibri" pitchFamily="34" charset="-120"/>
                        </a:rPr>
                        <a:t>Instant</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r>
              <a:tr h="274320">
                <a:tc>
                  <a:txBody>
                    <a:bodyPr/>
                    <a:lstStyle/>
                    <a:p>
                      <a:pPr indent="0" marL="0">
                        <a:buNone/>
                      </a:pPr>
                      <a:r>
                        <a:rPr lang="en-US" sz="1200" dirty="0">
                          <a:solidFill>
                            <a:srgbClr val="24292A"/>
                          </a:solidFill>
                          <a:latin typeface="Calibri" pitchFamily="34" charset="0"/>
                          <a:ea typeface="Calibri" pitchFamily="34" charset="-122"/>
                          <a:cs typeface="Calibri" pitchFamily="34" charset="-120"/>
                        </a:rPr>
                        <a:t>completedAt</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c>
                  <a:txBody>
                    <a:bodyPr/>
                    <a:lstStyle/>
                    <a:p>
                      <a:pPr indent="0" marL="0">
                        <a:buNone/>
                      </a:pPr>
                      <a:r>
                        <a:rPr lang="en-US" sz="1200" dirty="0">
                          <a:solidFill>
                            <a:srgbClr val="5D6560"/>
                          </a:solidFill>
                          <a:latin typeface="Calibri" pitchFamily="34" charset="0"/>
                          <a:ea typeface="Calibri" pitchFamily="34" charset="-122"/>
                          <a:cs typeface="Calibri" pitchFamily="34" charset="-120"/>
                        </a:rPr>
                        <a:t>Instant</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4292A"/>
                          </a:solidFill>
                          <a:latin typeface="Calibri" pitchFamily="34" charset="0"/>
                          <a:ea typeface="Calibri" pitchFamily="34" charset="-122"/>
                          <a:cs typeface="Calibri" pitchFamily="34" charset="-120"/>
                        </a:rPr>
                        <a:t>progressKm</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c>
                  <a:txBody>
                    <a:bodyPr/>
                    <a:lstStyle/>
                    <a:p>
                      <a:pPr indent="0" marL="0">
                        <a:buNone/>
                      </a:pPr>
                      <a:r>
                        <a:rPr lang="en-US" sz="1200" dirty="0">
                          <a:solidFill>
                            <a:srgbClr val="5D6560"/>
                          </a:solidFill>
                          <a:latin typeface="Calibri" pitchFamily="34" charset="0"/>
                          <a:ea typeface="Calibri" pitchFamily="34" charset="-122"/>
                          <a:cs typeface="Calibri" pitchFamily="34" charset="-120"/>
                        </a:rPr>
                        <a:t>double</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r>
              <a:tr h="274320">
                <a:tc>
                  <a:txBody>
                    <a:bodyPr/>
                    <a:lstStyle/>
                    <a:p>
                      <a:pPr indent="0" marL="0">
                        <a:buNone/>
                      </a:pPr>
                      <a:r>
                        <a:rPr lang="en-US" sz="1200" dirty="0">
                          <a:solidFill>
                            <a:srgbClr val="24292A"/>
                          </a:solidFill>
                          <a:latin typeface="Calibri" pitchFamily="34" charset="0"/>
                          <a:ea typeface="Calibri" pitchFamily="34" charset="-122"/>
                          <a:cs typeface="Calibri" pitchFamily="34" charset="-120"/>
                        </a:rPr>
                        <a:t>latitude</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c>
                  <a:txBody>
                    <a:bodyPr/>
                    <a:lstStyle/>
                    <a:p>
                      <a:pPr indent="0" marL="0">
                        <a:buNone/>
                      </a:pPr>
                      <a:r>
                        <a:rPr lang="en-US" sz="1200" dirty="0">
                          <a:solidFill>
                            <a:srgbClr val="5D6560"/>
                          </a:solidFill>
                          <a:latin typeface="Calibri" pitchFamily="34" charset="0"/>
                          <a:ea typeface="Calibri" pitchFamily="34" charset="-122"/>
                          <a:cs typeface="Calibri" pitchFamily="34" charset="-120"/>
                        </a:rPr>
                        <a:t>Double</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4292A"/>
                          </a:solidFill>
                          <a:latin typeface="Calibri" pitchFamily="34" charset="0"/>
                          <a:ea typeface="Calibri" pitchFamily="34" charset="-122"/>
                          <a:cs typeface="Calibri" pitchFamily="34" charset="-120"/>
                        </a:rPr>
                        <a:t>longitude</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c>
                  <a:txBody>
                    <a:bodyPr/>
                    <a:lstStyle/>
                    <a:p>
                      <a:pPr indent="0" marL="0">
                        <a:buNone/>
                      </a:pPr>
                      <a:r>
                        <a:rPr lang="en-US" sz="1200" dirty="0">
                          <a:solidFill>
                            <a:srgbClr val="5D6560"/>
                          </a:solidFill>
                          <a:latin typeface="Calibri" pitchFamily="34" charset="0"/>
                          <a:ea typeface="Calibri" pitchFamily="34" charset="-122"/>
                          <a:cs typeface="Calibri" pitchFamily="34" charset="-120"/>
                        </a:rPr>
                        <a:t>Double</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r>
              <a:tr h="274320">
                <a:tc>
                  <a:txBody>
                    <a:bodyPr/>
                    <a:lstStyle/>
                    <a:p>
                      <a:pPr indent="0" marL="0">
                        <a:buNone/>
                      </a:pPr>
                      <a:r>
                        <a:rPr lang="en-US" sz="1200" dirty="0">
                          <a:solidFill>
                            <a:srgbClr val="24292A"/>
                          </a:solidFill>
                          <a:latin typeface="Calibri" pitchFamily="34" charset="0"/>
                          <a:ea typeface="Calibri" pitchFamily="34" charset="-122"/>
                          <a:cs typeface="Calibri" pitchFamily="34" charset="-120"/>
                        </a:rPr>
                        <a:t>speedKmh</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c>
                  <a:txBody>
                    <a:bodyPr/>
                    <a:lstStyle/>
                    <a:p>
                      <a:pPr indent="0" marL="0">
                        <a:buNone/>
                      </a:pPr>
                      <a:r>
                        <a:rPr lang="en-US" sz="1200" dirty="0">
                          <a:solidFill>
                            <a:srgbClr val="5D6560"/>
                          </a:solidFill>
                          <a:latin typeface="Calibri" pitchFamily="34" charset="0"/>
                          <a:ea typeface="Calibri" pitchFamily="34" charset="-122"/>
                          <a:cs typeface="Calibri" pitchFamily="34" charset="-120"/>
                        </a:rPr>
                        <a:t>Double</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4292A"/>
                          </a:solidFill>
                          <a:latin typeface="Calibri" pitchFamily="34" charset="0"/>
                          <a:ea typeface="Calibri" pitchFamily="34" charset="-122"/>
                          <a:cs typeface="Calibri" pitchFamily="34" charset="-120"/>
                        </a:rPr>
                        <a:t>lastLocationUpdate</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c>
                  <a:txBody>
                    <a:bodyPr/>
                    <a:lstStyle/>
                    <a:p>
                      <a:pPr indent="0" marL="0">
                        <a:buNone/>
                      </a:pPr>
                      <a:r>
                        <a:rPr lang="en-US" sz="1200" dirty="0">
                          <a:solidFill>
                            <a:srgbClr val="5D6560"/>
                          </a:solidFill>
                          <a:latin typeface="Calibri" pitchFamily="34" charset="0"/>
                          <a:ea typeface="Calibri" pitchFamily="34" charset="-122"/>
                          <a:cs typeface="Calibri" pitchFamily="34" charset="-120"/>
                        </a:rPr>
                        <a:t>Instant</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r>
              <a:tr h="274320">
                <a:tc>
                  <a:txBody>
                    <a:bodyPr/>
                    <a:lstStyle/>
                    <a:p>
                      <a:pPr indent="0" marL="0">
                        <a:buNone/>
                      </a:pPr>
                      <a:r>
                        <a:rPr lang="en-US" sz="1200" dirty="0">
                          <a:solidFill>
                            <a:srgbClr val="24292A"/>
                          </a:solidFill>
                          <a:latin typeface="Calibri" pitchFamily="34" charset="0"/>
                          <a:ea typeface="Calibri" pitchFamily="34" charset="-122"/>
                          <a:cs typeface="Calibri" pitchFamily="34" charset="-120"/>
                        </a:rPr>
                        <a:t>simulationPaused</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c>
                  <a:txBody>
                    <a:bodyPr/>
                    <a:lstStyle/>
                    <a:p>
                      <a:pPr indent="0" marL="0">
                        <a:buNone/>
                      </a:pPr>
                      <a:r>
                        <a:rPr lang="en-US" sz="1200" dirty="0">
                          <a:solidFill>
                            <a:srgbClr val="5D6560"/>
                          </a:solidFill>
                          <a:latin typeface="Calibri" pitchFamily="34" charset="0"/>
                          <a:ea typeface="Calibri" pitchFamily="34" charset="-122"/>
                          <a:cs typeface="Calibri" pitchFamily="34" charset="-120"/>
                        </a:rPr>
                        <a:t>boolean</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r>
            </a:tbl>
          </a:graphicData>
        </a:graphic>
      </p:graphicFrame>
      <p:sp>
        <p:nvSpPr>
          <p:cNvPr id="10" name="Text 6"/>
          <p:cNvSpPr txBox="1"/>
          <p:nvPr/>
        </p:nvSpPr>
        <p:spPr>
          <a:xfrm>
            <a:off x="6163056" y="1463040"/>
            <a:ext cx="2624328" cy="320040"/>
          </a:xfrm>
          <a:prstGeom prst="rect">
            <a:avLst/>
          </a:prstGeom>
          <a:noFill/>
          <a:ln/>
        </p:spPr>
        <p:txBody>
          <a:bodyPr wrap="square" lIns="0" tIns="0" rIns="0" bIns="0" rtlCol="0" anchor="t"/>
          <a:lstStyle/>
          <a:p>
            <a:pPr indent="0" marL="0">
              <a:buNone/>
            </a:pPr>
            <a:r>
              <a:rPr lang="en-US" sz="1700" b="1" dirty="0">
                <a:solidFill>
                  <a:srgbClr val="1F4D3A"/>
                </a:solidFill>
                <a:latin typeface="Calibri" pitchFamily="34" charset="0"/>
                <a:ea typeface="Calibri" pitchFamily="34" charset="-122"/>
                <a:cs typeface="Calibri" pitchFamily="34" charset="-120"/>
              </a:rPr>
              <a:t>VehicleOccupancy</a:t>
            </a:r>
            <a:endParaRPr lang="en-US" sz="1700" dirty="0"/>
          </a:p>
        </p:txBody>
      </p:sp>
      <p:sp>
        <p:nvSpPr>
          <p:cNvPr id="11" name="Text 7"/>
          <p:cNvSpPr txBox="1"/>
          <p:nvPr/>
        </p:nvSpPr>
        <p:spPr>
          <a:xfrm>
            <a:off x="6163056" y="1792224"/>
            <a:ext cx="2624328" cy="256032"/>
          </a:xfrm>
          <a:prstGeom prst="rect">
            <a:avLst/>
          </a:prstGeom>
          <a:noFill/>
          <a:ln/>
        </p:spPr>
        <p:txBody>
          <a:bodyPr wrap="square" lIns="0" tIns="0" rIns="0" bIns="0" rtlCol="0" anchor="t"/>
          <a:lstStyle/>
          <a:p>
            <a:pPr indent="0" marL="0">
              <a:buNone/>
            </a:pPr>
            <a:r>
              <a:rPr lang="en-US" sz="1100" dirty="0">
                <a:solidFill>
                  <a:srgbClr val="5D6560"/>
                </a:solidFill>
                <a:latin typeface="Calibri" pitchFamily="34" charset="0"/>
                <a:ea typeface="Calibri" pitchFamily="34" charset="-122"/>
                <a:cs typeface="Calibri" pitchFamily="34" charset="-120"/>
              </a:rPr>
              <a:t>Occupancy service · vehicle_occupancy</a:t>
            </a:r>
            <a:endParaRPr lang="en-US" sz="1100" dirty="0"/>
          </a:p>
        </p:txBody>
      </p:sp>
      <p:graphicFrame>
        <p:nvGraphicFramePr>
          <p:cNvPr id="31" name="Table 2"/>
          <p:cNvGraphicFramePr>
            <a:graphicFrameLocks noGrp="1"/>
          </p:cNvGraphicFramePr>
          <p:nvPr>
            <p:extLst>
              <p:ext uri="{D42A27DB-BD31-4B8C-83A1-F6EECF244321}">
                <p14:modId xmlns:p14="http://schemas.microsoft.com/office/powerpoint/2010/main" val="1579011935"/>
              </p:ext>
            </p:extLst>
          </p:nvPr>
        </p:nvGraphicFramePr>
        <p:xfrm>
          <a:off x="6163056" y="2148840"/>
          <a:ext cx="2624328" cy="914400"/>
        </p:xfrm>
        <a:graphic>
          <a:graphicData uri="http://schemas.openxmlformats.org/drawingml/2006/table">
            <a:tbl>
              <a:tblPr/>
              <a:tblGrid>
                <a:gridCol w="1390894"/>
                <a:gridCol w="1233434"/>
              </a:tblGrid>
              <a:tr h="27432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Attribute</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1F4D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Data type</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1F4D3A"/>
                    </a:solidFill>
                  </a:tcPr>
                </a:tc>
              </a:tr>
              <a:tr h="274320">
                <a:tc>
                  <a:txBody>
                    <a:bodyPr/>
                    <a:lstStyle/>
                    <a:p>
                      <a:pPr indent="0" marL="0">
                        <a:buNone/>
                      </a:pPr>
                      <a:r>
                        <a:rPr lang="en-US" sz="1200" dirty="0">
                          <a:solidFill>
                            <a:srgbClr val="24292A"/>
                          </a:solidFill>
                          <a:latin typeface="Calibri" pitchFamily="34" charset="0"/>
                          <a:ea typeface="Calibri" pitchFamily="34" charset="-122"/>
                          <a:cs typeface="Calibri" pitchFamily="34" charset="-120"/>
                        </a:rPr>
                        <a:t>vehicleId</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c>
                  <a:txBody>
                    <a:bodyPr/>
                    <a:lstStyle/>
                    <a:p>
                      <a:pPr indent="0" marL="0">
                        <a:buNone/>
                      </a:pPr>
                      <a:r>
                        <a:rPr lang="en-US" sz="1200" dirty="0">
                          <a:solidFill>
                            <a:srgbClr val="5D6560"/>
                          </a:solidFill>
                          <a:latin typeface="Calibri" pitchFamily="34" charset="0"/>
                          <a:ea typeface="Calibri" pitchFamily="34" charset="-122"/>
                          <a:cs typeface="Calibri" pitchFamily="34" charset="-120"/>
                        </a:rPr>
                        <a:t>Long (PK)</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r>
              <a:tr h="274320">
                <a:tc>
                  <a:txBody>
                    <a:bodyPr/>
                    <a:lstStyle/>
                    <a:p>
                      <a:pPr indent="0" marL="0">
                        <a:buNone/>
                      </a:pPr>
                      <a:r>
                        <a:rPr lang="en-US" sz="1200" dirty="0">
                          <a:solidFill>
                            <a:srgbClr val="24292A"/>
                          </a:solidFill>
                          <a:latin typeface="Calibri" pitchFamily="34" charset="0"/>
                          <a:ea typeface="Calibri" pitchFamily="34" charset="-122"/>
                          <a:cs typeface="Calibri" pitchFamily="34" charset="-120"/>
                        </a:rPr>
                        <a:t>vehicleName</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c>
                  <a:txBody>
                    <a:bodyPr/>
                    <a:lstStyle/>
                    <a:p>
                      <a:pPr indent="0" marL="0">
                        <a:buNone/>
                      </a:pPr>
                      <a:r>
                        <a:rPr lang="en-US" sz="1200" dirty="0">
                          <a:solidFill>
                            <a:srgbClr val="5D6560"/>
                          </a:solidFill>
                          <a:latin typeface="Calibri" pitchFamily="34" charset="0"/>
                          <a:ea typeface="Calibri" pitchFamily="34" charset="-122"/>
                          <a:cs typeface="Calibri" pitchFamily="34" charset="-120"/>
                        </a:rPr>
                        <a:t>String</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4292A"/>
                          </a:solidFill>
                          <a:latin typeface="Calibri" pitchFamily="34" charset="0"/>
                          <a:ea typeface="Calibri" pitchFamily="34" charset="-122"/>
                          <a:cs typeface="Calibri" pitchFamily="34" charset="-120"/>
                        </a:rPr>
                        <a:t>capacity</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c>
                  <a:txBody>
                    <a:bodyPr/>
                    <a:lstStyle/>
                    <a:p>
                      <a:pPr indent="0" marL="0">
                        <a:buNone/>
                      </a:pPr>
                      <a:r>
                        <a:rPr lang="en-US" sz="1200" dirty="0">
                          <a:solidFill>
                            <a:srgbClr val="5D6560"/>
                          </a:solidFill>
                          <a:latin typeface="Calibri" pitchFamily="34" charset="0"/>
                          <a:ea typeface="Calibri" pitchFamily="34" charset="-122"/>
                          <a:cs typeface="Calibri" pitchFamily="34" charset="-120"/>
                        </a:rPr>
                        <a:t>Integer</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r>
              <a:tr h="274320">
                <a:tc>
                  <a:txBody>
                    <a:bodyPr/>
                    <a:lstStyle/>
                    <a:p>
                      <a:pPr indent="0" marL="0">
                        <a:buNone/>
                      </a:pPr>
                      <a:r>
                        <a:rPr lang="en-US" sz="1200" dirty="0">
                          <a:solidFill>
                            <a:srgbClr val="24292A"/>
                          </a:solidFill>
                          <a:latin typeface="Calibri" pitchFamily="34" charset="0"/>
                          <a:ea typeface="Calibri" pitchFamily="34" charset="-122"/>
                          <a:cs typeface="Calibri" pitchFamily="34" charset="-120"/>
                        </a:rPr>
                        <a:t>passengerCount</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c>
                  <a:txBody>
                    <a:bodyPr/>
                    <a:lstStyle/>
                    <a:p>
                      <a:pPr indent="0" marL="0">
                        <a:buNone/>
                      </a:pPr>
                      <a:r>
                        <a:rPr lang="en-US" sz="1200" dirty="0">
                          <a:solidFill>
                            <a:srgbClr val="5D6560"/>
                          </a:solidFill>
                          <a:latin typeface="Calibri" pitchFamily="34" charset="0"/>
                          <a:ea typeface="Calibri" pitchFamily="34" charset="-122"/>
                          <a:cs typeface="Calibri" pitchFamily="34" charset="-120"/>
                        </a:rPr>
                        <a:t>Integer</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4292A"/>
                          </a:solidFill>
                          <a:latin typeface="Calibri" pitchFamily="34" charset="0"/>
                          <a:ea typeface="Calibri" pitchFamily="34" charset="-122"/>
                          <a:cs typeface="Calibri" pitchFamily="34" charset="-120"/>
                        </a:rPr>
                        <a:t>updatedAt</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c>
                  <a:txBody>
                    <a:bodyPr/>
                    <a:lstStyle/>
                    <a:p>
                      <a:pPr indent="0" marL="0">
                        <a:buNone/>
                      </a:pPr>
                      <a:r>
                        <a:rPr lang="en-US" sz="1200" dirty="0">
                          <a:solidFill>
                            <a:srgbClr val="5D6560"/>
                          </a:solidFill>
                          <a:latin typeface="Calibri" pitchFamily="34" charset="0"/>
                          <a:ea typeface="Calibri" pitchFamily="34" charset="-122"/>
                          <a:cs typeface="Calibri" pitchFamily="34" charset="-120"/>
                        </a:rPr>
                        <a:t>Instant</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r>
              <a:tr h="274320">
                <a:tc>
                  <a:txBody>
                    <a:bodyPr/>
                    <a:lstStyle/>
                    <a:p>
                      <a:pPr indent="0" marL="0">
                        <a:buNone/>
                      </a:pPr>
                      <a:r>
                        <a:rPr lang="en-US" sz="1200" dirty="0">
                          <a:solidFill>
                            <a:srgbClr val="24292A"/>
                          </a:solidFill>
                          <a:latin typeface="Calibri" pitchFamily="34" charset="0"/>
                          <a:ea typeface="Calibri" pitchFamily="34" charset="-122"/>
                          <a:cs typeface="Calibri" pitchFamily="34" charset="-120"/>
                        </a:rPr>
                        <a:t>updatedBy</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c>
                  <a:txBody>
                    <a:bodyPr/>
                    <a:lstStyle/>
                    <a:p>
                      <a:pPr indent="0" marL="0">
                        <a:buNone/>
                      </a:pPr>
                      <a:r>
                        <a:rPr lang="en-US" sz="1200" dirty="0">
                          <a:solidFill>
                            <a:srgbClr val="5D6560"/>
                          </a:solidFill>
                          <a:latin typeface="Calibri" pitchFamily="34" charset="0"/>
                          <a:ea typeface="Calibri" pitchFamily="34" charset="-122"/>
                          <a:cs typeface="Calibri" pitchFamily="34" charset="-120"/>
                        </a:rPr>
                        <a:t>String</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r>
            </a:tbl>
          </a:graphicData>
        </a:graphic>
      </p:graphicFrame>
      <p:sp>
        <p:nvSpPr>
          <p:cNvPr id="13" name="Text 8"/>
          <p:cNvSpPr txBox="1"/>
          <p:nvPr/>
        </p:nvSpPr>
        <p:spPr>
          <a:xfrm>
            <a:off x="8970264" y="1463040"/>
            <a:ext cx="2670048" cy="320040"/>
          </a:xfrm>
          <a:prstGeom prst="rect">
            <a:avLst/>
          </a:prstGeom>
          <a:noFill/>
          <a:ln/>
        </p:spPr>
        <p:txBody>
          <a:bodyPr wrap="square" lIns="0" tIns="0" rIns="0" bIns="0" rtlCol="0" anchor="t"/>
          <a:lstStyle/>
          <a:p>
            <a:pPr indent="0" marL="0">
              <a:buNone/>
            </a:pPr>
            <a:r>
              <a:rPr lang="en-US" sz="1700" b="1" dirty="0">
                <a:solidFill>
                  <a:srgbClr val="1F4D3A"/>
                </a:solidFill>
                <a:latin typeface="Calibri" pitchFamily="34" charset="0"/>
                <a:ea typeface="Calibri" pitchFamily="34" charset="-122"/>
                <a:cs typeface="Calibri" pitchFamily="34" charset="-120"/>
              </a:rPr>
              <a:t>Alert</a:t>
            </a:r>
            <a:endParaRPr lang="en-US" sz="1700" dirty="0"/>
          </a:p>
        </p:txBody>
      </p:sp>
      <p:sp>
        <p:nvSpPr>
          <p:cNvPr id="14" name="Text 9"/>
          <p:cNvSpPr txBox="1"/>
          <p:nvPr/>
        </p:nvSpPr>
        <p:spPr>
          <a:xfrm>
            <a:off x="8970264" y="1792224"/>
            <a:ext cx="2670048" cy="256032"/>
          </a:xfrm>
          <a:prstGeom prst="rect">
            <a:avLst/>
          </a:prstGeom>
          <a:noFill/>
          <a:ln/>
        </p:spPr>
        <p:txBody>
          <a:bodyPr wrap="square" lIns="0" tIns="0" rIns="0" bIns="0" rtlCol="0" anchor="t"/>
          <a:lstStyle/>
          <a:p>
            <a:pPr indent="0" marL="0">
              <a:buNone/>
            </a:pPr>
            <a:r>
              <a:rPr lang="en-US" sz="1100" dirty="0">
                <a:solidFill>
                  <a:srgbClr val="5D6560"/>
                </a:solidFill>
                <a:latin typeface="Calibri" pitchFamily="34" charset="0"/>
                <a:ea typeface="Calibri" pitchFamily="34" charset="-122"/>
                <a:cs typeface="Calibri" pitchFamily="34" charset="-120"/>
              </a:rPr>
              <a:t>Occupancy service · alerts</a:t>
            </a:r>
            <a:endParaRPr lang="en-US" sz="1100" dirty="0"/>
          </a:p>
        </p:txBody>
      </p:sp>
      <p:graphicFrame>
        <p:nvGraphicFramePr>
          <p:cNvPr id="41" name="Table 3"/>
          <p:cNvGraphicFramePr>
            <a:graphicFrameLocks noGrp="1"/>
          </p:cNvGraphicFramePr>
          <p:nvPr>
            <p:extLst>
              <p:ext uri="{D42A27DB-BD31-4B8C-83A1-F6EECF244321}">
                <p14:modId xmlns:p14="http://schemas.microsoft.com/office/powerpoint/2010/main" val="1579011935"/>
              </p:ext>
            </p:extLst>
          </p:nvPr>
        </p:nvGraphicFramePr>
        <p:xfrm>
          <a:off x="8970264" y="2148840"/>
          <a:ext cx="2670048" cy="914400"/>
        </p:xfrm>
        <a:graphic>
          <a:graphicData uri="http://schemas.openxmlformats.org/drawingml/2006/table">
            <a:tbl>
              <a:tblPr/>
              <a:tblGrid>
                <a:gridCol w="1415125"/>
                <a:gridCol w="1254923"/>
              </a:tblGrid>
              <a:tr h="27432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Attribute</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1F4D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Data type</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1F4D3A"/>
                    </a:solidFill>
                  </a:tcPr>
                </a:tc>
              </a:tr>
              <a:tr h="274320">
                <a:tc>
                  <a:txBody>
                    <a:bodyPr/>
                    <a:lstStyle/>
                    <a:p>
                      <a:pPr indent="0" marL="0">
                        <a:buNone/>
                      </a:pPr>
                      <a:r>
                        <a:rPr lang="en-US" sz="1200" dirty="0">
                          <a:solidFill>
                            <a:srgbClr val="24292A"/>
                          </a:solidFill>
                          <a:latin typeface="Calibri" pitchFamily="34" charset="0"/>
                          <a:ea typeface="Calibri" pitchFamily="34" charset="-122"/>
                          <a:cs typeface="Calibri" pitchFamily="34" charset="-120"/>
                        </a:rPr>
                        <a:t>id</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c>
                  <a:txBody>
                    <a:bodyPr/>
                    <a:lstStyle/>
                    <a:p>
                      <a:pPr indent="0" marL="0">
                        <a:buNone/>
                      </a:pPr>
                      <a:r>
                        <a:rPr lang="en-US" sz="1200" dirty="0">
                          <a:solidFill>
                            <a:srgbClr val="5D6560"/>
                          </a:solidFill>
                          <a:latin typeface="Calibri" pitchFamily="34" charset="0"/>
                          <a:ea typeface="Calibri" pitchFamily="34" charset="-122"/>
                          <a:cs typeface="Calibri" pitchFamily="34" charset="-120"/>
                        </a:rPr>
                        <a:t>Long (PK)</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r>
              <a:tr h="274320">
                <a:tc>
                  <a:txBody>
                    <a:bodyPr/>
                    <a:lstStyle/>
                    <a:p>
                      <a:pPr indent="0" marL="0">
                        <a:buNone/>
                      </a:pPr>
                      <a:r>
                        <a:rPr lang="en-US" sz="1200" dirty="0">
                          <a:solidFill>
                            <a:srgbClr val="24292A"/>
                          </a:solidFill>
                          <a:latin typeface="Calibri" pitchFamily="34" charset="0"/>
                          <a:ea typeface="Calibri" pitchFamily="34" charset="-122"/>
                          <a:cs typeface="Calibri" pitchFamily="34" charset="-120"/>
                        </a:rPr>
                        <a:t>type</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c>
                  <a:txBody>
                    <a:bodyPr/>
                    <a:lstStyle/>
                    <a:p>
                      <a:pPr indent="0" marL="0">
                        <a:buNone/>
                      </a:pPr>
                      <a:r>
                        <a:rPr lang="en-US" sz="1200" dirty="0">
                          <a:solidFill>
                            <a:srgbClr val="5D6560"/>
                          </a:solidFill>
                          <a:latin typeface="Calibri" pitchFamily="34" charset="0"/>
                          <a:ea typeface="Calibri" pitchFamily="34" charset="-122"/>
                          <a:cs typeface="Calibri" pitchFamily="34" charset="-120"/>
                        </a:rPr>
                        <a:t>AlertType</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4292A"/>
                          </a:solidFill>
                          <a:latin typeface="Calibri" pitchFamily="34" charset="0"/>
                          <a:ea typeface="Calibri" pitchFamily="34" charset="-122"/>
                          <a:cs typeface="Calibri" pitchFamily="34" charset="-120"/>
                        </a:rPr>
                        <a:t>severity</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c>
                  <a:txBody>
                    <a:bodyPr/>
                    <a:lstStyle/>
                    <a:p>
                      <a:pPr indent="0" marL="0">
                        <a:buNone/>
                      </a:pPr>
                      <a:r>
                        <a:rPr lang="en-US" sz="1200" dirty="0">
                          <a:solidFill>
                            <a:srgbClr val="5D6560"/>
                          </a:solidFill>
                          <a:latin typeface="Calibri" pitchFamily="34" charset="0"/>
                          <a:ea typeface="Calibri" pitchFamily="34" charset="-122"/>
                          <a:cs typeface="Calibri" pitchFamily="34" charset="-120"/>
                        </a:rPr>
                        <a:t>AlertSeverity</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r>
              <a:tr h="274320">
                <a:tc>
                  <a:txBody>
                    <a:bodyPr/>
                    <a:lstStyle/>
                    <a:p>
                      <a:pPr indent="0" marL="0">
                        <a:buNone/>
                      </a:pPr>
                      <a:r>
                        <a:rPr lang="en-US" sz="1200" dirty="0">
                          <a:solidFill>
                            <a:srgbClr val="24292A"/>
                          </a:solidFill>
                          <a:latin typeface="Calibri" pitchFamily="34" charset="0"/>
                          <a:ea typeface="Calibri" pitchFamily="34" charset="-122"/>
                          <a:cs typeface="Calibri" pitchFamily="34" charset="-120"/>
                        </a:rPr>
                        <a:t>conditionKey</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c>
                  <a:txBody>
                    <a:bodyPr/>
                    <a:lstStyle/>
                    <a:p>
                      <a:pPr indent="0" marL="0">
                        <a:buNone/>
                      </a:pPr>
                      <a:r>
                        <a:rPr lang="en-US" sz="1200" dirty="0">
                          <a:solidFill>
                            <a:srgbClr val="5D6560"/>
                          </a:solidFill>
                          <a:latin typeface="Calibri" pitchFamily="34" charset="0"/>
                          <a:ea typeface="Calibri" pitchFamily="34" charset="-122"/>
                          <a:cs typeface="Calibri" pitchFamily="34" charset="-120"/>
                        </a:rPr>
                        <a:t>String</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4292A"/>
                          </a:solidFill>
                          <a:latin typeface="Calibri" pitchFamily="34" charset="0"/>
                          <a:ea typeface="Calibri" pitchFamily="34" charset="-122"/>
                          <a:cs typeface="Calibri" pitchFamily="34" charset="-120"/>
                        </a:rPr>
                        <a:t>vehicleId</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c>
                  <a:txBody>
                    <a:bodyPr/>
                    <a:lstStyle/>
                    <a:p>
                      <a:pPr indent="0" marL="0">
                        <a:buNone/>
                      </a:pPr>
                      <a:r>
                        <a:rPr lang="en-US" sz="1200" dirty="0">
                          <a:solidFill>
                            <a:srgbClr val="5D6560"/>
                          </a:solidFill>
                          <a:latin typeface="Calibri" pitchFamily="34" charset="0"/>
                          <a:ea typeface="Calibri" pitchFamily="34" charset="-122"/>
                          <a:cs typeface="Calibri" pitchFamily="34" charset="-120"/>
                        </a:rPr>
                        <a:t>Long</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r>
              <a:tr h="274320">
                <a:tc>
                  <a:txBody>
                    <a:bodyPr/>
                    <a:lstStyle/>
                    <a:p>
                      <a:pPr indent="0" marL="0">
                        <a:buNone/>
                      </a:pPr>
                      <a:r>
                        <a:rPr lang="en-US" sz="1200" dirty="0">
                          <a:solidFill>
                            <a:srgbClr val="24292A"/>
                          </a:solidFill>
                          <a:latin typeface="Calibri" pitchFamily="34" charset="0"/>
                          <a:ea typeface="Calibri" pitchFamily="34" charset="-122"/>
                          <a:cs typeface="Calibri" pitchFamily="34" charset="-120"/>
                        </a:rPr>
                        <a:t>vehicleName</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c>
                  <a:txBody>
                    <a:bodyPr/>
                    <a:lstStyle/>
                    <a:p>
                      <a:pPr indent="0" marL="0">
                        <a:buNone/>
                      </a:pPr>
                      <a:r>
                        <a:rPr lang="en-US" sz="1200" dirty="0">
                          <a:solidFill>
                            <a:srgbClr val="5D6560"/>
                          </a:solidFill>
                          <a:latin typeface="Calibri" pitchFamily="34" charset="0"/>
                          <a:ea typeface="Calibri" pitchFamily="34" charset="-122"/>
                          <a:cs typeface="Calibri" pitchFamily="34" charset="-120"/>
                        </a:rPr>
                        <a:t>String</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4292A"/>
                          </a:solidFill>
                          <a:latin typeface="Calibri" pitchFamily="34" charset="0"/>
                          <a:ea typeface="Calibri" pitchFamily="34" charset="-122"/>
                          <a:cs typeface="Calibri" pitchFamily="34" charset="-120"/>
                        </a:rPr>
                        <a:t>message</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c>
                  <a:txBody>
                    <a:bodyPr/>
                    <a:lstStyle/>
                    <a:p>
                      <a:pPr indent="0" marL="0">
                        <a:buNone/>
                      </a:pPr>
                      <a:r>
                        <a:rPr lang="en-US" sz="1200" dirty="0">
                          <a:solidFill>
                            <a:srgbClr val="5D6560"/>
                          </a:solidFill>
                          <a:latin typeface="Calibri" pitchFamily="34" charset="0"/>
                          <a:ea typeface="Calibri" pitchFamily="34" charset="-122"/>
                          <a:cs typeface="Calibri" pitchFamily="34" charset="-120"/>
                        </a:rPr>
                        <a:t>String</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r>
              <a:tr h="274320">
                <a:tc>
                  <a:txBody>
                    <a:bodyPr/>
                    <a:lstStyle/>
                    <a:p>
                      <a:pPr indent="0" marL="0">
                        <a:buNone/>
                      </a:pPr>
                      <a:r>
                        <a:rPr lang="en-US" sz="1200" dirty="0">
                          <a:solidFill>
                            <a:srgbClr val="24292A"/>
                          </a:solidFill>
                          <a:latin typeface="Calibri" pitchFamily="34" charset="0"/>
                          <a:ea typeface="Calibri" pitchFamily="34" charset="-122"/>
                          <a:cs typeface="Calibri" pitchFamily="34" charset="-120"/>
                        </a:rPr>
                        <a:t>active</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c>
                  <a:txBody>
                    <a:bodyPr/>
                    <a:lstStyle/>
                    <a:p>
                      <a:pPr indent="0" marL="0">
                        <a:buNone/>
                      </a:pPr>
                      <a:r>
                        <a:rPr lang="en-US" sz="1200" dirty="0">
                          <a:solidFill>
                            <a:srgbClr val="5D6560"/>
                          </a:solidFill>
                          <a:latin typeface="Calibri" pitchFamily="34" charset="0"/>
                          <a:ea typeface="Calibri" pitchFamily="34" charset="-122"/>
                          <a:cs typeface="Calibri" pitchFamily="34" charset="-120"/>
                        </a:rPr>
                        <a:t>boolean</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4292A"/>
                          </a:solidFill>
                          <a:latin typeface="Calibri" pitchFamily="34" charset="0"/>
                          <a:ea typeface="Calibri" pitchFamily="34" charset="-122"/>
                          <a:cs typeface="Calibri" pitchFamily="34" charset="-120"/>
                        </a:rPr>
                        <a:t>createdAt</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c>
                  <a:txBody>
                    <a:bodyPr/>
                    <a:lstStyle/>
                    <a:p>
                      <a:pPr indent="0" marL="0">
                        <a:buNone/>
                      </a:pPr>
                      <a:r>
                        <a:rPr lang="en-US" sz="1200" dirty="0">
                          <a:solidFill>
                            <a:srgbClr val="5D6560"/>
                          </a:solidFill>
                          <a:latin typeface="Calibri" pitchFamily="34" charset="0"/>
                          <a:ea typeface="Calibri" pitchFamily="34" charset="-122"/>
                          <a:cs typeface="Calibri" pitchFamily="34" charset="-120"/>
                        </a:rPr>
                        <a:t>Instant</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r>
              <a:tr h="274320">
                <a:tc>
                  <a:txBody>
                    <a:bodyPr/>
                    <a:lstStyle/>
                    <a:p>
                      <a:pPr indent="0" marL="0">
                        <a:buNone/>
                      </a:pPr>
                      <a:r>
                        <a:rPr lang="en-US" sz="1200" dirty="0">
                          <a:solidFill>
                            <a:srgbClr val="24292A"/>
                          </a:solidFill>
                          <a:latin typeface="Calibri" pitchFamily="34" charset="0"/>
                          <a:ea typeface="Calibri" pitchFamily="34" charset="-122"/>
                          <a:cs typeface="Calibri" pitchFamily="34" charset="-120"/>
                        </a:rPr>
                        <a:t>resolvedAt</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c>
                  <a:txBody>
                    <a:bodyPr/>
                    <a:lstStyle/>
                    <a:p>
                      <a:pPr indent="0" marL="0">
                        <a:buNone/>
                      </a:pPr>
                      <a:r>
                        <a:rPr lang="en-US" sz="1200" dirty="0">
                          <a:solidFill>
                            <a:srgbClr val="5D6560"/>
                          </a:solidFill>
                          <a:latin typeface="Calibri" pitchFamily="34" charset="0"/>
                          <a:ea typeface="Calibri" pitchFamily="34" charset="-122"/>
                          <a:cs typeface="Calibri" pitchFamily="34" charset="-120"/>
                        </a:rPr>
                        <a:t>Instant</a:t>
                      </a:r>
                      <a:endParaRPr lang="en-US" sz="1200" dirty="0">
                        <a:latin typeface="Calibri" charset="0"/>
                        <a:ea typeface="Calibri" charset="0"/>
                        <a:cs typeface="Calibri" charset="0"/>
                      </a:endParaRPr>
                    </a:p>
                  </a:txBody>
                  <a:tcPr marL="73152" marR="73152" marT="27432" marB="27432"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r>
            </a:tbl>
          </a:graphicData>
        </a:graphic>
      </p:graphicFrame>
      <p:sp>
        <p:nvSpPr>
          <p:cNvPr id="16" name="Text 10"/>
          <p:cNvSpPr txBox="1"/>
          <p:nvPr/>
        </p:nvSpPr>
        <p:spPr>
          <a:xfrm>
            <a:off x="548640" y="5321808"/>
            <a:ext cx="11064240" cy="548640"/>
          </a:xfrm>
          <a:prstGeom prst="rect">
            <a:avLst/>
          </a:prstGeom>
          <a:noFill/>
          <a:ln/>
        </p:spPr>
        <p:txBody>
          <a:bodyPr wrap="square" lIns="0" tIns="0" rIns="0" bIns="0" rtlCol="0" anchor="t"/>
          <a:lstStyle/>
          <a:p>
            <a:pPr indent="0" marL="0">
              <a:buNone/>
            </a:pPr>
            <a:r>
              <a:rPr lang="en-US" sz="1400" b="1" dirty="0">
                <a:solidFill>
                  <a:srgbClr val="1F4D3A"/>
                </a:solidFill>
                <a:latin typeface="Calibri" pitchFamily="34" charset="0"/>
                <a:ea typeface="Calibri" pitchFamily="34" charset="-122"/>
                <a:cs typeface="Calibri" pitchFamily="34" charset="-120"/>
              </a:rPr>
              <a:t>Enums  </a:t>
            </a:r>
            <a:pPr indent="0" marL="0">
              <a:buNone/>
            </a:pPr>
            <a:r>
              <a:rPr lang="en-US" sz="1400" dirty="0">
                <a:solidFill>
                  <a:srgbClr val="5D6560"/>
                </a:solidFill>
                <a:latin typeface="Calibri" pitchFamily="34" charset="0"/>
                <a:ea typeface="Calibri" pitchFamily="34" charset="-122"/>
                <a:cs typeface="Calibri" pitchFamily="34" charset="-120"/>
              </a:rPr>
              <a:t>TripStatus: SCHEDULED, IN_PROGRESS, COMPLETED, CANCELLED    ·    AlertType: OVERCROWDING, DELAY, STALE_TRACKING</a:t>
            </a:r>
            <a:endParaRPr lang="en-US" sz="1400" dirty="0"/>
          </a:p>
          <a:p>
            <a:pPr indent="0" marL="0">
              <a:buNone/>
            </a:pPr>
            <a:r>
              <a:rPr lang="en-US" sz="1400" dirty="0">
                <a:solidFill>
                  <a:srgbClr val="5D6560"/>
                </a:solidFill>
                <a:latin typeface="Calibri" pitchFamily="34" charset="0"/>
                <a:ea typeface="Calibri" pitchFamily="34" charset="-122"/>
                <a:cs typeface="Calibri" pitchFamily="34" charset="-120"/>
              </a:rPr>
              <a:t>AlertSeverity: WARNING, CRITICAL</a:t>
            </a:r>
            <a:endParaRPr lang="en-US" sz="1400" dirty="0"/>
          </a:p>
        </p:txBody>
      </p:sp>
      <p:sp>
        <p:nvSpPr>
          <p:cNvPr id="17" name="Text 11"/>
          <p:cNvSpPr txBox="1"/>
          <p:nvPr/>
        </p:nvSpPr>
        <p:spPr>
          <a:xfrm>
            <a:off x="548640" y="5943600"/>
            <a:ext cx="11064240" cy="320040"/>
          </a:xfrm>
          <a:prstGeom prst="rect">
            <a:avLst/>
          </a:prstGeom>
          <a:noFill/>
          <a:ln/>
        </p:spPr>
        <p:txBody>
          <a:bodyPr wrap="square" lIns="0" tIns="0" rIns="0" bIns="0" rtlCol="0" anchor="t"/>
          <a:lstStyle/>
          <a:p>
            <a:pPr indent="0" marL="0">
              <a:buNone/>
            </a:pPr>
            <a:r>
              <a:rPr lang="en-US" sz="1400" dirty="0">
                <a:solidFill>
                  <a:srgbClr val="5D6560"/>
                </a:solidFill>
                <a:latin typeface="Calibri" pitchFamily="34" charset="0"/>
                <a:ea typeface="Calibri" pitchFamily="34" charset="-122"/>
                <a:cs typeface="Calibri" pitchFamily="34" charset="-120"/>
              </a:rPr>
              <a:t>Trip and occupancy keep a copy of vehicle and route names, because a service never reads another service's database.</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D656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t"/>
          <a:lstStyle/>
          <a:p>
            <a:pPr indent="0" marL="0">
              <a:buNone/>
            </a:pPr>
            <a:r>
              <a:rPr lang="en-US" sz="1200" b="1" spc="200" kern="0" dirty="0">
                <a:solidFill>
                  <a:srgbClr val="1F4D3A"/>
                </a:solidFill>
                <a:latin typeface="Calibri" pitchFamily="34" charset="0"/>
                <a:ea typeface="Calibri" pitchFamily="34" charset="-122"/>
                <a:cs typeface="Calibri" pitchFamily="34" charset="-120"/>
              </a:rPr>
              <a:t>TECH STACK</a:t>
            </a:r>
            <a:endParaRPr lang="en-US" sz="1200" dirty="0"/>
          </a:p>
        </p:txBody>
      </p:sp>
      <p:sp>
        <p:nvSpPr>
          <p:cNvPr id="3" name="Text 1"/>
          <p:cNvSpPr txBox="1"/>
          <p:nvPr/>
        </p:nvSpPr>
        <p:spPr>
          <a:xfrm>
            <a:off x="548640" y="658368"/>
            <a:ext cx="11064240" cy="594360"/>
          </a:xfrm>
          <a:prstGeom prst="rect">
            <a:avLst/>
          </a:prstGeom>
          <a:noFill/>
          <a:ln/>
        </p:spPr>
        <p:txBody>
          <a:bodyPr wrap="square" lIns="0" tIns="0" rIns="0" bIns="0" rtlCol="0" anchor="t"/>
          <a:lstStyle/>
          <a:p>
            <a:pPr indent="0" marL="0">
              <a:buNone/>
            </a:pPr>
            <a:r>
              <a:rPr lang="en-US" sz="3000" b="1" dirty="0">
                <a:solidFill>
                  <a:srgbClr val="24292A"/>
                </a:solidFill>
                <a:latin typeface="Calibri" pitchFamily="34" charset="0"/>
                <a:ea typeface="Calibri" pitchFamily="34" charset="-122"/>
                <a:cs typeface="Calibri" pitchFamily="34" charset="-120"/>
              </a:rPr>
              <a:t>What we used and why</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1371600"/>
                <a:gridCol w="2926080"/>
                <a:gridCol w="6793992"/>
              </a:tblGrid>
              <a:tr h="41148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Layer</a:t>
                      </a:r>
                      <a:endParaRPr lang="en-US" sz="1400" dirty="0">
                        <a:latin typeface="Calibri" charset="0"/>
                        <a:ea typeface="Calibri" charset="0"/>
                        <a:cs typeface="Calibri" charset="0"/>
                      </a:endParaRPr>
                    </a:p>
                  </a:txBody>
                  <a:tcPr marL="128016" marR="128016" marT="36576" marB="36576"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1F4D3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Technology</a:t>
                      </a:r>
                      <a:endParaRPr lang="en-US" sz="1400" dirty="0">
                        <a:latin typeface="Calibri" charset="0"/>
                        <a:ea typeface="Calibri" charset="0"/>
                        <a:cs typeface="Calibri" charset="0"/>
                      </a:endParaRPr>
                    </a:p>
                  </a:txBody>
                  <a:tcPr marL="128016" marR="128016" marT="36576" marB="36576"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1F4D3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Why we used it</a:t>
                      </a:r>
                      <a:endParaRPr lang="en-US" sz="1400" dirty="0">
                        <a:latin typeface="Calibri" charset="0"/>
                        <a:ea typeface="Calibri" charset="0"/>
                        <a:cs typeface="Calibri" charset="0"/>
                      </a:endParaRPr>
                    </a:p>
                  </a:txBody>
                  <a:tcPr marL="128016" marR="128016" marT="36576" marB="36576"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1F4D3A"/>
                    </a:solidFill>
                  </a:tcPr>
                </a:tc>
              </a:tr>
              <a:tr h="411480">
                <a:tc>
                  <a:txBody>
                    <a:bodyPr/>
                    <a:lstStyle/>
                    <a:p>
                      <a:pPr indent="0" marL="0">
                        <a:buNone/>
                      </a:pPr>
                      <a:r>
                        <a:rPr lang="en-US" sz="1400" dirty="0">
                          <a:solidFill>
                            <a:srgbClr val="5D6560"/>
                          </a:solidFill>
                          <a:latin typeface="Calibri" pitchFamily="34" charset="0"/>
                          <a:ea typeface="Calibri" pitchFamily="34" charset="-122"/>
                          <a:cs typeface="Calibri" pitchFamily="34" charset="-120"/>
                        </a:rPr>
                        <a:t>Frontend</a:t>
                      </a:r>
                      <a:endParaRPr lang="en-US" sz="1400" dirty="0">
                        <a:latin typeface="Calibri" charset="0"/>
                        <a:ea typeface="Calibri" charset="0"/>
                        <a:cs typeface="Calibri" charset="0"/>
                      </a:endParaRPr>
                    </a:p>
                  </a:txBody>
                  <a:tcPr marL="128016" marR="128016" marT="36576" marB="36576"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c>
                  <a:txBody>
                    <a:bodyPr/>
                    <a:lstStyle/>
                    <a:p>
                      <a:pPr indent="0" marL="0">
                        <a:buNone/>
                      </a:pPr>
                      <a:r>
                        <a:rPr lang="en-US" sz="1400" b="1" dirty="0">
                          <a:solidFill>
                            <a:srgbClr val="1F4D3A"/>
                          </a:solidFill>
                          <a:latin typeface="Calibri" pitchFamily="34" charset="0"/>
                          <a:ea typeface="Calibri" pitchFamily="34" charset="-122"/>
                          <a:cs typeface="Calibri" pitchFamily="34" charset="-120"/>
                        </a:rPr>
                        <a:t>React 18</a:t>
                      </a:r>
                      <a:endParaRPr lang="en-US" sz="1400" dirty="0">
                        <a:latin typeface="Calibri" charset="0"/>
                        <a:ea typeface="Calibri" charset="0"/>
                        <a:cs typeface="Calibri" charset="0"/>
                      </a:endParaRPr>
                    </a:p>
                  </a:txBody>
                  <a:tcPr marL="128016" marR="128016" marT="36576" marB="36576"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c>
                  <a:txBody>
                    <a:bodyPr/>
                    <a:lstStyle/>
                    <a:p>
                      <a:pPr indent="0" marL="0">
                        <a:buNone/>
                      </a:pPr>
                      <a:r>
                        <a:rPr lang="en-US" sz="1400" dirty="0">
                          <a:solidFill>
                            <a:srgbClr val="24292A"/>
                          </a:solidFill>
                          <a:latin typeface="Calibri" pitchFamily="34" charset="0"/>
                          <a:ea typeface="Calibri" pitchFamily="34" charset="-122"/>
                          <a:cs typeface="Calibri" pitchFamily="34" charset="-120"/>
                        </a:rPr>
                        <a:t>Pages built from reusable components such as tables, forms and badges.</a:t>
                      </a:r>
                      <a:endParaRPr lang="en-US" sz="1400" dirty="0">
                        <a:latin typeface="Calibri" charset="0"/>
                        <a:ea typeface="Calibri" charset="0"/>
                        <a:cs typeface="Calibri" charset="0"/>
                      </a:endParaRPr>
                    </a:p>
                  </a:txBody>
                  <a:tcPr marL="128016" marR="128016" marT="36576" marB="36576"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r>
              <a:tr h="411480">
                <a:tc>
                  <a:txBody>
                    <a:bodyPr/>
                    <a:lstStyle/>
                    <a:p>
                      <a:pPr indent="0" marL="0">
                        <a:buNone/>
                      </a:pPr>
                      <a:r>
                        <a:rPr lang="en-US" sz="1400" dirty="0">
                          <a:solidFill>
                            <a:srgbClr val="5D6560"/>
                          </a:solidFill>
                          <a:latin typeface="Calibri" pitchFamily="34" charset="0"/>
                          <a:ea typeface="Calibri" pitchFamily="34" charset="-122"/>
                          <a:cs typeface="Calibri" pitchFamily="34" charset="-120"/>
                        </a:rPr>
                        <a:t>Frontend</a:t>
                      </a:r>
                      <a:endParaRPr lang="en-US" sz="1400" dirty="0">
                        <a:latin typeface="Calibri" charset="0"/>
                        <a:ea typeface="Calibri" charset="0"/>
                        <a:cs typeface="Calibri" charset="0"/>
                      </a:endParaRPr>
                    </a:p>
                  </a:txBody>
                  <a:tcPr marL="128016" marR="128016" marT="36576" marB="36576"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c>
                  <a:txBody>
                    <a:bodyPr/>
                    <a:lstStyle/>
                    <a:p>
                      <a:pPr indent="0" marL="0">
                        <a:buNone/>
                      </a:pPr>
                      <a:r>
                        <a:rPr lang="en-US" sz="1400" b="1" dirty="0">
                          <a:solidFill>
                            <a:srgbClr val="1F4D3A"/>
                          </a:solidFill>
                          <a:latin typeface="Calibri" pitchFamily="34" charset="0"/>
                          <a:ea typeface="Calibri" pitchFamily="34" charset="-122"/>
                          <a:cs typeface="Calibri" pitchFamily="34" charset="-120"/>
                        </a:rPr>
                        <a:t>Vite</a:t>
                      </a:r>
                      <a:endParaRPr lang="en-US" sz="1400" dirty="0">
                        <a:latin typeface="Calibri" charset="0"/>
                        <a:ea typeface="Calibri" charset="0"/>
                        <a:cs typeface="Calibri" charset="0"/>
                      </a:endParaRPr>
                    </a:p>
                  </a:txBody>
                  <a:tcPr marL="128016" marR="128016" marT="36576" marB="36576"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c>
                  <a:txBody>
                    <a:bodyPr/>
                    <a:lstStyle/>
                    <a:p>
                      <a:pPr indent="0" marL="0">
                        <a:buNone/>
                      </a:pPr>
                      <a:r>
                        <a:rPr lang="en-US" sz="1400" dirty="0">
                          <a:solidFill>
                            <a:srgbClr val="24292A"/>
                          </a:solidFill>
                          <a:latin typeface="Calibri" pitchFamily="34" charset="0"/>
                          <a:ea typeface="Calibri" pitchFamily="34" charset="-122"/>
                          <a:cs typeface="Calibri" pitchFamily="34" charset="-120"/>
                        </a:rPr>
                        <a:t>Fast development server and a simple production build.</a:t>
                      </a:r>
                      <a:endParaRPr lang="en-US" sz="1400" dirty="0">
                        <a:latin typeface="Calibri" charset="0"/>
                        <a:ea typeface="Calibri" charset="0"/>
                        <a:cs typeface="Calibri" charset="0"/>
                      </a:endParaRPr>
                    </a:p>
                  </a:txBody>
                  <a:tcPr marL="128016" marR="128016" marT="36576" marB="36576"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r>
              <a:tr h="411480">
                <a:tc>
                  <a:txBody>
                    <a:bodyPr/>
                    <a:lstStyle/>
                    <a:p>
                      <a:pPr indent="0" marL="0">
                        <a:buNone/>
                      </a:pPr>
                      <a:r>
                        <a:rPr lang="en-US" sz="1400" dirty="0">
                          <a:solidFill>
                            <a:srgbClr val="5D6560"/>
                          </a:solidFill>
                          <a:latin typeface="Calibri" pitchFamily="34" charset="0"/>
                          <a:ea typeface="Calibri" pitchFamily="34" charset="-122"/>
                          <a:cs typeface="Calibri" pitchFamily="34" charset="-120"/>
                        </a:rPr>
                        <a:t>Frontend</a:t>
                      </a:r>
                      <a:endParaRPr lang="en-US" sz="1400" dirty="0">
                        <a:latin typeface="Calibri" charset="0"/>
                        <a:ea typeface="Calibri" charset="0"/>
                        <a:cs typeface="Calibri" charset="0"/>
                      </a:endParaRPr>
                    </a:p>
                  </a:txBody>
                  <a:tcPr marL="128016" marR="128016" marT="36576" marB="36576"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c>
                  <a:txBody>
                    <a:bodyPr/>
                    <a:lstStyle/>
                    <a:p>
                      <a:pPr indent="0" marL="0">
                        <a:buNone/>
                      </a:pPr>
                      <a:r>
                        <a:rPr lang="en-US" sz="1400" b="1" dirty="0">
                          <a:solidFill>
                            <a:srgbClr val="1F4D3A"/>
                          </a:solidFill>
                          <a:latin typeface="Calibri" pitchFamily="34" charset="0"/>
                          <a:ea typeface="Calibri" pitchFamily="34" charset="-122"/>
                          <a:cs typeface="Calibri" pitchFamily="34" charset="-120"/>
                        </a:rPr>
                        <a:t>React Router + Fetch API</a:t>
                      </a:r>
                      <a:endParaRPr lang="en-US" sz="1400" dirty="0">
                        <a:latin typeface="Calibri" charset="0"/>
                        <a:ea typeface="Calibri" charset="0"/>
                        <a:cs typeface="Calibri" charset="0"/>
                      </a:endParaRPr>
                    </a:p>
                  </a:txBody>
                  <a:tcPr marL="128016" marR="128016" marT="36576" marB="36576"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c>
                  <a:txBody>
                    <a:bodyPr/>
                    <a:lstStyle/>
                    <a:p>
                      <a:pPr indent="0" marL="0">
                        <a:buNone/>
                      </a:pPr>
                      <a:r>
                        <a:rPr lang="en-US" sz="1400" dirty="0">
                          <a:solidFill>
                            <a:srgbClr val="24292A"/>
                          </a:solidFill>
                          <a:latin typeface="Calibri" pitchFamily="34" charset="0"/>
                          <a:ea typeface="Calibri" pitchFamily="34" charset="-122"/>
                          <a:cs typeface="Calibri" pitchFamily="34" charset="-120"/>
                        </a:rPr>
                        <a:t>Page navigation without reloads. Fetch is built into the browser, so no extra HTTP library.</a:t>
                      </a:r>
                      <a:endParaRPr lang="en-US" sz="1400" dirty="0">
                        <a:latin typeface="Calibri" charset="0"/>
                        <a:ea typeface="Calibri" charset="0"/>
                        <a:cs typeface="Calibri" charset="0"/>
                      </a:endParaRPr>
                    </a:p>
                  </a:txBody>
                  <a:tcPr marL="128016" marR="128016" marT="36576" marB="36576"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r>
              <a:tr h="411480">
                <a:tc>
                  <a:txBody>
                    <a:bodyPr/>
                    <a:lstStyle/>
                    <a:p>
                      <a:pPr indent="0" marL="0">
                        <a:buNone/>
                      </a:pPr>
                      <a:r>
                        <a:rPr lang="en-US" sz="1400" dirty="0">
                          <a:solidFill>
                            <a:srgbClr val="5D6560"/>
                          </a:solidFill>
                          <a:latin typeface="Calibri" pitchFamily="34" charset="0"/>
                          <a:ea typeface="Calibri" pitchFamily="34" charset="-122"/>
                          <a:cs typeface="Calibri" pitchFamily="34" charset="-120"/>
                        </a:rPr>
                        <a:t>Backend</a:t>
                      </a:r>
                      <a:endParaRPr lang="en-US" sz="1400" dirty="0">
                        <a:latin typeface="Calibri" charset="0"/>
                        <a:ea typeface="Calibri" charset="0"/>
                        <a:cs typeface="Calibri" charset="0"/>
                      </a:endParaRPr>
                    </a:p>
                  </a:txBody>
                  <a:tcPr marL="128016" marR="128016" marT="36576" marB="36576"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c>
                  <a:txBody>
                    <a:bodyPr/>
                    <a:lstStyle/>
                    <a:p>
                      <a:pPr indent="0" marL="0">
                        <a:buNone/>
                      </a:pPr>
                      <a:r>
                        <a:rPr lang="en-US" sz="1400" b="1" dirty="0">
                          <a:solidFill>
                            <a:srgbClr val="1F4D3A"/>
                          </a:solidFill>
                          <a:latin typeface="Calibri" pitchFamily="34" charset="0"/>
                          <a:ea typeface="Calibri" pitchFamily="34" charset="-122"/>
                          <a:cs typeface="Calibri" pitchFamily="34" charset="-120"/>
                        </a:rPr>
                        <a:t>Java 21 + Spring Boot 3.5</a:t>
                      </a:r>
                      <a:endParaRPr lang="en-US" sz="1400" dirty="0">
                        <a:latin typeface="Calibri" charset="0"/>
                        <a:ea typeface="Calibri" charset="0"/>
                        <a:cs typeface="Calibri" charset="0"/>
                      </a:endParaRPr>
                    </a:p>
                  </a:txBody>
                  <a:tcPr marL="128016" marR="128016" marT="36576" marB="36576"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c>
                  <a:txBody>
                    <a:bodyPr/>
                    <a:lstStyle/>
                    <a:p>
                      <a:pPr indent="0" marL="0">
                        <a:buNone/>
                      </a:pPr>
                      <a:r>
                        <a:rPr lang="en-US" sz="1400" dirty="0">
                          <a:solidFill>
                            <a:srgbClr val="24292A"/>
                          </a:solidFill>
                          <a:latin typeface="Calibri" pitchFamily="34" charset="0"/>
                          <a:ea typeface="Calibri" pitchFamily="34" charset="-122"/>
                          <a:cs typeface="Calibri" pitchFamily="34" charset="-120"/>
                        </a:rPr>
                        <a:t>Mature framework for REST services. Each service starts on its own with little setup.</a:t>
                      </a:r>
                      <a:endParaRPr lang="en-US" sz="1400" dirty="0">
                        <a:latin typeface="Calibri" charset="0"/>
                        <a:ea typeface="Calibri" charset="0"/>
                        <a:cs typeface="Calibri" charset="0"/>
                      </a:endParaRPr>
                    </a:p>
                  </a:txBody>
                  <a:tcPr marL="128016" marR="128016" marT="36576" marB="36576"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r>
              <a:tr h="411480">
                <a:tc>
                  <a:txBody>
                    <a:bodyPr/>
                    <a:lstStyle/>
                    <a:p>
                      <a:pPr indent="0" marL="0">
                        <a:buNone/>
                      </a:pPr>
                      <a:r>
                        <a:rPr lang="en-US" sz="1400" dirty="0">
                          <a:solidFill>
                            <a:srgbClr val="5D6560"/>
                          </a:solidFill>
                          <a:latin typeface="Calibri" pitchFamily="34" charset="0"/>
                          <a:ea typeface="Calibri" pitchFamily="34" charset="-122"/>
                          <a:cs typeface="Calibri" pitchFamily="34" charset="-120"/>
                        </a:rPr>
                        <a:t>Backend</a:t>
                      </a:r>
                      <a:endParaRPr lang="en-US" sz="1400" dirty="0">
                        <a:latin typeface="Calibri" charset="0"/>
                        <a:ea typeface="Calibri" charset="0"/>
                        <a:cs typeface="Calibri" charset="0"/>
                      </a:endParaRPr>
                    </a:p>
                  </a:txBody>
                  <a:tcPr marL="128016" marR="128016" marT="36576" marB="36576"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c>
                  <a:txBody>
                    <a:bodyPr/>
                    <a:lstStyle/>
                    <a:p>
                      <a:pPr indent="0" marL="0">
                        <a:buNone/>
                      </a:pPr>
                      <a:r>
                        <a:rPr lang="en-US" sz="1400" b="1" dirty="0">
                          <a:solidFill>
                            <a:srgbClr val="1F4D3A"/>
                          </a:solidFill>
                          <a:latin typeface="Calibri" pitchFamily="34" charset="0"/>
                          <a:ea typeface="Calibri" pitchFamily="34" charset="-122"/>
                          <a:cs typeface="Calibri" pitchFamily="34" charset="-120"/>
                        </a:rPr>
                        <a:t>Spring Web + Validation</a:t>
                      </a:r>
                      <a:endParaRPr lang="en-US" sz="1400" dirty="0">
                        <a:latin typeface="Calibri" charset="0"/>
                        <a:ea typeface="Calibri" charset="0"/>
                        <a:cs typeface="Calibri" charset="0"/>
                      </a:endParaRPr>
                    </a:p>
                  </a:txBody>
                  <a:tcPr marL="128016" marR="128016" marT="36576" marB="36576"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c>
                  <a:txBody>
                    <a:bodyPr/>
                    <a:lstStyle/>
                    <a:p>
                      <a:pPr indent="0" marL="0">
                        <a:buNone/>
                      </a:pPr>
                      <a:r>
                        <a:rPr lang="en-US" sz="1400" dirty="0">
                          <a:solidFill>
                            <a:srgbClr val="24292A"/>
                          </a:solidFill>
                          <a:latin typeface="Calibri" pitchFamily="34" charset="0"/>
                          <a:ea typeface="Calibri" pitchFamily="34" charset="-122"/>
                          <a:cs typeface="Calibri" pitchFamily="34" charset="-120"/>
                        </a:rPr>
                        <a:t>REST controllers, JSON handling, and request checks with @NotNull, @Min, @Max.</a:t>
                      </a:r>
                      <a:endParaRPr lang="en-US" sz="1400" dirty="0">
                        <a:latin typeface="Calibri" charset="0"/>
                        <a:ea typeface="Calibri" charset="0"/>
                        <a:cs typeface="Calibri" charset="0"/>
                      </a:endParaRPr>
                    </a:p>
                  </a:txBody>
                  <a:tcPr marL="128016" marR="128016" marT="36576" marB="36576"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r>
              <a:tr h="411480">
                <a:tc>
                  <a:txBody>
                    <a:bodyPr/>
                    <a:lstStyle/>
                    <a:p>
                      <a:pPr indent="0" marL="0">
                        <a:buNone/>
                      </a:pPr>
                      <a:r>
                        <a:rPr lang="en-US" sz="1400" dirty="0">
                          <a:solidFill>
                            <a:srgbClr val="5D6560"/>
                          </a:solidFill>
                          <a:latin typeface="Calibri" pitchFamily="34" charset="0"/>
                          <a:ea typeface="Calibri" pitchFamily="34" charset="-122"/>
                          <a:cs typeface="Calibri" pitchFamily="34" charset="-120"/>
                        </a:rPr>
                        <a:t>Data</a:t>
                      </a:r>
                      <a:endParaRPr lang="en-US" sz="1400" dirty="0">
                        <a:latin typeface="Calibri" charset="0"/>
                        <a:ea typeface="Calibri" charset="0"/>
                        <a:cs typeface="Calibri" charset="0"/>
                      </a:endParaRPr>
                    </a:p>
                  </a:txBody>
                  <a:tcPr marL="128016" marR="128016" marT="36576" marB="36576"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c>
                  <a:txBody>
                    <a:bodyPr/>
                    <a:lstStyle/>
                    <a:p>
                      <a:pPr indent="0" marL="0">
                        <a:buNone/>
                      </a:pPr>
                      <a:r>
                        <a:rPr lang="en-US" sz="1400" b="1" dirty="0">
                          <a:solidFill>
                            <a:srgbClr val="1F4D3A"/>
                          </a:solidFill>
                          <a:latin typeface="Calibri" pitchFamily="34" charset="0"/>
                          <a:ea typeface="Calibri" pitchFamily="34" charset="-122"/>
                          <a:cs typeface="Calibri" pitchFamily="34" charset="-120"/>
                        </a:rPr>
                        <a:t>Spring Data JPA + Hibernate</a:t>
                      </a:r>
                      <a:endParaRPr lang="en-US" sz="1400" dirty="0">
                        <a:latin typeface="Calibri" charset="0"/>
                        <a:ea typeface="Calibri" charset="0"/>
                        <a:cs typeface="Calibri" charset="0"/>
                      </a:endParaRPr>
                    </a:p>
                  </a:txBody>
                  <a:tcPr marL="128016" marR="128016" marT="36576" marB="36576"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c>
                  <a:txBody>
                    <a:bodyPr/>
                    <a:lstStyle/>
                    <a:p>
                      <a:pPr indent="0" marL="0">
                        <a:buNone/>
                      </a:pPr>
                      <a:r>
                        <a:rPr lang="en-US" sz="1400" dirty="0">
                          <a:solidFill>
                            <a:srgbClr val="24292A"/>
                          </a:solidFill>
                          <a:latin typeface="Calibri" pitchFamily="34" charset="0"/>
                          <a:ea typeface="Calibri" pitchFamily="34" charset="-122"/>
                          <a:cs typeface="Calibri" pitchFamily="34" charset="-120"/>
                        </a:rPr>
                        <a:t>Maps entities to tables. Repositories give CRUD without hand-written SQL.</a:t>
                      </a:r>
                      <a:endParaRPr lang="en-US" sz="1400" dirty="0">
                        <a:latin typeface="Calibri" charset="0"/>
                        <a:ea typeface="Calibri" charset="0"/>
                        <a:cs typeface="Calibri" charset="0"/>
                      </a:endParaRPr>
                    </a:p>
                  </a:txBody>
                  <a:tcPr marL="128016" marR="128016" marT="36576" marB="36576"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r>
              <a:tr h="411480">
                <a:tc>
                  <a:txBody>
                    <a:bodyPr/>
                    <a:lstStyle/>
                    <a:p>
                      <a:pPr indent="0" marL="0">
                        <a:buNone/>
                      </a:pPr>
                      <a:r>
                        <a:rPr lang="en-US" sz="1400" dirty="0">
                          <a:solidFill>
                            <a:srgbClr val="5D6560"/>
                          </a:solidFill>
                          <a:latin typeface="Calibri" pitchFamily="34" charset="0"/>
                          <a:ea typeface="Calibri" pitchFamily="34" charset="-122"/>
                          <a:cs typeface="Calibri" pitchFamily="34" charset="-120"/>
                        </a:rPr>
                        <a:t>Data</a:t>
                      </a:r>
                      <a:endParaRPr lang="en-US" sz="1400" dirty="0">
                        <a:latin typeface="Calibri" charset="0"/>
                        <a:ea typeface="Calibri" charset="0"/>
                        <a:cs typeface="Calibri" charset="0"/>
                      </a:endParaRPr>
                    </a:p>
                  </a:txBody>
                  <a:tcPr marL="128016" marR="128016" marT="36576" marB="36576"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c>
                  <a:txBody>
                    <a:bodyPr/>
                    <a:lstStyle/>
                    <a:p>
                      <a:pPr indent="0" marL="0">
                        <a:buNone/>
                      </a:pPr>
                      <a:r>
                        <a:rPr lang="en-US" sz="1400" b="1" dirty="0">
                          <a:solidFill>
                            <a:srgbClr val="1F4D3A"/>
                          </a:solidFill>
                          <a:latin typeface="Calibri" pitchFamily="34" charset="0"/>
                          <a:ea typeface="Calibri" pitchFamily="34" charset="-122"/>
                          <a:cs typeface="Calibri" pitchFamily="34" charset="-120"/>
                        </a:rPr>
                        <a:t>PostgreSQL</a:t>
                      </a:r>
                      <a:endParaRPr lang="en-US" sz="1400" dirty="0">
                        <a:latin typeface="Calibri" charset="0"/>
                        <a:ea typeface="Calibri" charset="0"/>
                        <a:cs typeface="Calibri" charset="0"/>
                      </a:endParaRPr>
                    </a:p>
                  </a:txBody>
                  <a:tcPr marL="128016" marR="128016" marT="36576" marB="36576"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c>
                  <a:txBody>
                    <a:bodyPr/>
                    <a:lstStyle/>
                    <a:p>
                      <a:pPr indent="0" marL="0">
                        <a:buNone/>
                      </a:pPr>
                      <a:r>
                        <a:rPr lang="en-US" sz="1400" dirty="0">
                          <a:solidFill>
                            <a:srgbClr val="24292A"/>
                          </a:solidFill>
                          <a:latin typeface="Calibri" pitchFamily="34" charset="0"/>
                          <a:ea typeface="Calibri" pitchFamily="34" charset="-122"/>
                          <a:cs typeface="Calibri" pitchFamily="34" charset="-120"/>
                        </a:rPr>
                        <a:t>Reliable relational database. One server holds four separate databases, one per service.</a:t>
                      </a:r>
                      <a:endParaRPr lang="en-US" sz="1400" dirty="0">
                        <a:latin typeface="Calibri" charset="0"/>
                        <a:ea typeface="Calibri" charset="0"/>
                        <a:cs typeface="Calibri" charset="0"/>
                      </a:endParaRPr>
                    </a:p>
                  </a:txBody>
                  <a:tcPr marL="128016" marR="128016" marT="36576" marB="36576"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r>
              <a:tr h="411480">
                <a:tc>
                  <a:txBody>
                    <a:bodyPr/>
                    <a:lstStyle/>
                    <a:p>
                      <a:pPr indent="0" marL="0">
                        <a:buNone/>
                      </a:pPr>
                      <a:r>
                        <a:rPr lang="en-US" sz="1400" dirty="0">
                          <a:solidFill>
                            <a:srgbClr val="5D6560"/>
                          </a:solidFill>
                          <a:latin typeface="Calibri" pitchFamily="34" charset="0"/>
                          <a:ea typeface="Calibri" pitchFamily="34" charset="-122"/>
                          <a:cs typeface="Calibri" pitchFamily="34" charset="-120"/>
                        </a:rPr>
                        <a:t>Security</a:t>
                      </a:r>
                      <a:endParaRPr lang="en-US" sz="1400" dirty="0">
                        <a:latin typeface="Calibri" charset="0"/>
                        <a:ea typeface="Calibri" charset="0"/>
                        <a:cs typeface="Calibri" charset="0"/>
                      </a:endParaRPr>
                    </a:p>
                  </a:txBody>
                  <a:tcPr marL="128016" marR="128016" marT="36576" marB="36576"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c>
                  <a:txBody>
                    <a:bodyPr/>
                    <a:lstStyle/>
                    <a:p>
                      <a:pPr indent="0" marL="0">
                        <a:buNone/>
                      </a:pPr>
                      <a:r>
                        <a:rPr lang="en-US" sz="1400" b="1" dirty="0">
                          <a:solidFill>
                            <a:srgbClr val="1F4D3A"/>
                          </a:solidFill>
                          <a:latin typeface="Calibri" pitchFamily="34" charset="0"/>
                          <a:ea typeface="Calibri" pitchFamily="34" charset="-122"/>
                          <a:cs typeface="Calibri" pitchFamily="34" charset="-120"/>
                        </a:rPr>
                        <a:t>Spring Security + JWT (jjwt)</a:t>
                      </a:r>
                      <a:endParaRPr lang="en-US" sz="1400" dirty="0">
                        <a:latin typeface="Calibri" charset="0"/>
                        <a:ea typeface="Calibri" charset="0"/>
                        <a:cs typeface="Calibri" charset="0"/>
                      </a:endParaRPr>
                    </a:p>
                  </a:txBody>
                  <a:tcPr marL="128016" marR="128016" marT="36576" marB="36576"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c>
                  <a:txBody>
                    <a:bodyPr/>
                    <a:lstStyle/>
                    <a:p>
                      <a:pPr indent="0" marL="0">
                        <a:buNone/>
                      </a:pPr>
                      <a:r>
                        <a:rPr lang="en-US" sz="1400" dirty="0">
                          <a:solidFill>
                            <a:srgbClr val="24292A"/>
                          </a:solidFill>
                          <a:latin typeface="Calibri" pitchFamily="34" charset="0"/>
                          <a:ea typeface="Calibri" pitchFamily="34" charset="-122"/>
                          <a:cs typeface="Calibri" pitchFamily="34" charset="-120"/>
                        </a:rPr>
                        <a:t>Stateless login. Every service verifies the token itself, with no session store.</a:t>
                      </a:r>
                      <a:endParaRPr lang="en-US" sz="1400" dirty="0">
                        <a:latin typeface="Calibri" charset="0"/>
                        <a:ea typeface="Calibri" charset="0"/>
                        <a:cs typeface="Calibri" charset="0"/>
                      </a:endParaRPr>
                    </a:p>
                  </a:txBody>
                  <a:tcPr marL="128016" marR="128016" marT="36576" marB="36576"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r>
              <a:tr h="411480">
                <a:tc>
                  <a:txBody>
                    <a:bodyPr/>
                    <a:lstStyle/>
                    <a:p>
                      <a:pPr indent="0" marL="0">
                        <a:buNone/>
                      </a:pPr>
                      <a:r>
                        <a:rPr lang="en-US" sz="1400" dirty="0">
                          <a:solidFill>
                            <a:srgbClr val="5D6560"/>
                          </a:solidFill>
                          <a:latin typeface="Calibri" pitchFamily="34" charset="0"/>
                          <a:ea typeface="Calibri" pitchFamily="34" charset="-122"/>
                          <a:cs typeface="Calibri" pitchFamily="34" charset="-120"/>
                        </a:rPr>
                        <a:t>Security</a:t>
                      </a:r>
                      <a:endParaRPr lang="en-US" sz="1400" dirty="0">
                        <a:latin typeface="Calibri" charset="0"/>
                        <a:ea typeface="Calibri" charset="0"/>
                        <a:cs typeface="Calibri" charset="0"/>
                      </a:endParaRPr>
                    </a:p>
                  </a:txBody>
                  <a:tcPr marL="128016" marR="128016" marT="36576" marB="36576"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c>
                  <a:txBody>
                    <a:bodyPr/>
                    <a:lstStyle/>
                    <a:p>
                      <a:pPr indent="0" marL="0">
                        <a:buNone/>
                      </a:pPr>
                      <a:r>
                        <a:rPr lang="en-US" sz="1400" b="1" dirty="0">
                          <a:solidFill>
                            <a:srgbClr val="1F4D3A"/>
                          </a:solidFill>
                          <a:latin typeface="Calibri" pitchFamily="34" charset="0"/>
                          <a:ea typeface="Calibri" pitchFamily="34" charset="-122"/>
                          <a:cs typeface="Calibri" pitchFamily="34" charset="-120"/>
                        </a:rPr>
                        <a:t>BCrypt</a:t>
                      </a:r>
                      <a:endParaRPr lang="en-US" sz="1400" dirty="0">
                        <a:latin typeface="Calibri" charset="0"/>
                        <a:ea typeface="Calibri" charset="0"/>
                        <a:cs typeface="Calibri" charset="0"/>
                      </a:endParaRPr>
                    </a:p>
                  </a:txBody>
                  <a:tcPr marL="128016" marR="128016" marT="36576" marB="36576"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c>
                  <a:txBody>
                    <a:bodyPr/>
                    <a:lstStyle/>
                    <a:p>
                      <a:pPr indent="0" marL="0">
                        <a:buNone/>
                      </a:pPr>
                      <a:r>
                        <a:rPr lang="en-US" sz="1400" dirty="0">
                          <a:solidFill>
                            <a:srgbClr val="24292A"/>
                          </a:solidFill>
                          <a:latin typeface="Calibri" pitchFamily="34" charset="0"/>
                          <a:ea typeface="Calibri" pitchFamily="34" charset="-122"/>
                          <a:cs typeface="Calibri" pitchFamily="34" charset="-120"/>
                        </a:rPr>
                        <a:t>Salted, deliberately slow password hashing. Plain-text passwords are never stored.</a:t>
                      </a:r>
                      <a:endParaRPr lang="en-US" sz="1400" dirty="0">
                        <a:latin typeface="Calibri" charset="0"/>
                        <a:ea typeface="Calibri" charset="0"/>
                        <a:cs typeface="Calibri" charset="0"/>
                      </a:endParaRPr>
                    </a:p>
                  </a:txBody>
                  <a:tcPr marL="128016" marR="128016" marT="36576" marB="36576"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5F6F5"/>
                    </a:solidFill>
                  </a:tcPr>
                </a:tc>
              </a:tr>
              <a:tr h="411480">
                <a:tc>
                  <a:txBody>
                    <a:bodyPr/>
                    <a:lstStyle/>
                    <a:p>
                      <a:pPr indent="0" marL="0">
                        <a:buNone/>
                      </a:pPr>
                      <a:r>
                        <a:rPr lang="en-US" sz="1400" dirty="0">
                          <a:solidFill>
                            <a:srgbClr val="5D6560"/>
                          </a:solidFill>
                          <a:latin typeface="Calibri" pitchFamily="34" charset="0"/>
                          <a:ea typeface="Calibri" pitchFamily="34" charset="-122"/>
                          <a:cs typeface="Calibri" pitchFamily="34" charset="-120"/>
                        </a:rPr>
                        <a:t>Build</a:t>
                      </a:r>
                      <a:endParaRPr lang="en-US" sz="1400" dirty="0">
                        <a:latin typeface="Calibri" charset="0"/>
                        <a:ea typeface="Calibri" charset="0"/>
                        <a:cs typeface="Calibri" charset="0"/>
                      </a:endParaRPr>
                    </a:p>
                  </a:txBody>
                  <a:tcPr marL="128016" marR="128016" marT="36576" marB="36576"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c>
                  <a:txBody>
                    <a:bodyPr/>
                    <a:lstStyle/>
                    <a:p>
                      <a:pPr indent="0" marL="0">
                        <a:buNone/>
                      </a:pPr>
                      <a:r>
                        <a:rPr lang="en-US" sz="1400" b="1" dirty="0">
                          <a:solidFill>
                            <a:srgbClr val="1F4D3A"/>
                          </a:solidFill>
                          <a:latin typeface="Calibri" pitchFamily="34" charset="0"/>
                          <a:ea typeface="Calibri" pitchFamily="34" charset="-122"/>
                          <a:cs typeface="Calibri" pitchFamily="34" charset="-120"/>
                        </a:rPr>
                        <a:t>Maven  ·  npm</a:t>
                      </a:r>
                      <a:endParaRPr lang="en-US" sz="1400" dirty="0">
                        <a:latin typeface="Calibri" charset="0"/>
                        <a:ea typeface="Calibri" charset="0"/>
                        <a:cs typeface="Calibri" charset="0"/>
                      </a:endParaRPr>
                    </a:p>
                  </a:txBody>
                  <a:tcPr marL="128016" marR="128016" marT="36576" marB="36576"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c>
                  <a:txBody>
                    <a:bodyPr/>
                    <a:lstStyle/>
                    <a:p>
                      <a:pPr indent="0" marL="0">
                        <a:buNone/>
                      </a:pPr>
                      <a:r>
                        <a:rPr lang="en-US" sz="1400" dirty="0">
                          <a:solidFill>
                            <a:srgbClr val="24292A"/>
                          </a:solidFill>
                          <a:latin typeface="Calibri" pitchFamily="34" charset="0"/>
                          <a:ea typeface="Calibri" pitchFamily="34" charset="-122"/>
                          <a:cs typeface="Calibri" pitchFamily="34" charset="-120"/>
                        </a:rPr>
                        <a:t>One Maven build per service and one npm build for the website.</a:t>
                      </a:r>
                      <a:endParaRPr lang="en-US" sz="1400" dirty="0">
                        <a:latin typeface="Calibri" charset="0"/>
                        <a:ea typeface="Calibri" charset="0"/>
                        <a:cs typeface="Calibri" charset="0"/>
                      </a:endParaRPr>
                    </a:p>
                  </a:txBody>
                  <a:tcPr marL="128016" marR="128016" marT="36576" marB="36576" anchor="ctr">
                    <a:lnL w="9525" cap="flat" cmpd="sng" algn="ctr">
                      <a:solidFill>
                        <a:srgbClr val="DDE1DE"/>
                      </a:solidFill>
                      <a:prstDash val="solid"/>
                      <a:round/>
                      <a:headEnd type="none" w="med" len="med"/>
                      <a:tailEnd type="none" w="med" len="med"/>
                    </a:lnL>
                    <a:lnR w="9525" cap="flat" cmpd="sng" algn="ctr">
                      <a:solidFill>
                        <a:srgbClr val="DDE1DE"/>
                      </a:solidFill>
                      <a:prstDash val="solid"/>
                      <a:round/>
                      <a:headEnd type="none" w="med" len="med"/>
                      <a:tailEnd type="none" w="med" len="med"/>
                    </a:lnR>
                    <a:lnT w="9525" cap="flat" cmpd="sng" algn="ctr">
                      <a:solidFill>
                        <a:srgbClr val="DDE1DE"/>
                      </a:solidFill>
                      <a:prstDash val="solid"/>
                      <a:round/>
                      <a:headEnd type="none" w="med" len="med"/>
                      <a:tailEnd type="none" w="med" len="med"/>
                    </a:lnT>
                    <a:lnB w="9525" cap="flat" cmpd="sng" algn="ctr">
                      <a:solidFill>
                        <a:srgbClr val="DDE1D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D656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t"/>
          <a:lstStyle/>
          <a:p>
            <a:pPr indent="0" marL="0">
              <a:buNone/>
            </a:pPr>
            <a:r>
              <a:rPr lang="en-US" sz="1200" b="1" spc="200" kern="0" dirty="0">
                <a:solidFill>
                  <a:srgbClr val="1F4D3A"/>
                </a:solidFill>
                <a:latin typeface="Calibri" pitchFamily="34" charset="0"/>
                <a:ea typeface="Calibri" pitchFamily="34" charset="-122"/>
                <a:cs typeface="Calibri" pitchFamily="34" charset="-120"/>
              </a:rPr>
              <a:t>ARCHITECTURE</a:t>
            </a:r>
            <a:endParaRPr lang="en-US" sz="1200" dirty="0"/>
          </a:p>
        </p:txBody>
      </p:sp>
      <p:sp>
        <p:nvSpPr>
          <p:cNvPr id="3" name="Text 1"/>
          <p:cNvSpPr txBox="1"/>
          <p:nvPr/>
        </p:nvSpPr>
        <p:spPr>
          <a:xfrm>
            <a:off x="548640" y="658368"/>
            <a:ext cx="11064240" cy="594360"/>
          </a:xfrm>
          <a:prstGeom prst="rect">
            <a:avLst/>
          </a:prstGeom>
          <a:noFill/>
          <a:ln/>
        </p:spPr>
        <p:txBody>
          <a:bodyPr wrap="square" lIns="0" tIns="0" rIns="0" bIns="0" rtlCol="0" anchor="t"/>
          <a:lstStyle/>
          <a:p>
            <a:pPr indent="0" marL="0">
              <a:buNone/>
            </a:pPr>
            <a:r>
              <a:rPr lang="en-US" sz="3000" b="1" dirty="0">
                <a:solidFill>
                  <a:srgbClr val="24292A"/>
                </a:solidFill>
                <a:latin typeface="Calibri" pitchFamily="34" charset="0"/>
                <a:ea typeface="Calibri" pitchFamily="34" charset="-122"/>
                <a:cs typeface="Calibri" pitchFamily="34" charset="-120"/>
              </a:rPr>
              <a:t>How the pieces connect</a:t>
            </a:r>
            <a:endParaRPr lang="en-US" sz="3000" dirty="0"/>
          </a:p>
        </p:txBody>
      </p:sp>
      <p:sp>
        <p:nvSpPr>
          <p:cNvPr id="4" name="Shape 2"/>
          <p:cNvSpPr/>
          <p:nvPr/>
        </p:nvSpPr>
        <p:spPr>
          <a:xfrm>
            <a:off x="548640" y="2788920"/>
            <a:ext cx="2377440" cy="1691640"/>
          </a:xfrm>
          <a:prstGeom prst="rect">
            <a:avLst/>
          </a:prstGeom>
          <a:solidFill>
            <a:srgbClr val="1F4D3A"/>
          </a:solidFill>
          <a:ln w="15875">
            <a:solidFill>
              <a:srgbClr val="1F4D3A"/>
            </a:solidFill>
            <a:prstDash val="solid"/>
          </a:ln>
        </p:spPr>
      </p:sp>
      <p:sp>
        <p:nvSpPr>
          <p:cNvPr id="5" name="Text 3"/>
          <p:cNvSpPr txBox="1"/>
          <p:nvPr/>
        </p:nvSpPr>
        <p:spPr>
          <a:xfrm>
            <a:off x="713232" y="2898648"/>
            <a:ext cx="2048256" cy="292608"/>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React website :5173</a:t>
            </a:r>
            <a:endParaRPr lang="en-US" sz="1500" dirty="0"/>
          </a:p>
        </p:txBody>
      </p:sp>
      <p:sp>
        <p:nvSpPr>
          <p:cNvPr id="6" name="Text 4"/>
          <p:cNvSpPr txBox="1"/>
          <p:nvPr/>
        </p:nvSpPr>
        <p:spPr>
          <a:xfrm>
            <a:off x="713232" y="3200400"/>
            <a:ext cx="2048256" cy="1234440"/>
          </a:xfrm>
          <a:prstGeom prst="rect">
            <a:avLst/>
          </a:prstGeom>
          <a:noFill/>
          <a:ln/>
        </p:spPr>
        <p:txBody>
          <a:bodyPr wrap="square" lIns="0" tIns="0" rIns="0" bIns="0" rtlCol="0" anchor="t"/>
          <a:lstStyle/>
          <a:p>
            <a:pPr indent="0" marL="0">
              <a:buNone/>
            </a:pPr>
            <a:r>
              <a:rPr lang="en-US" sz="1200" dirty="0">
                <a:solidFill>
                  <a:srgbClr val="BFE6CF"/>
                </a:solidFill>
                <a:latin typeface="Calibri" pitchFamily="34" charset="0"/>
                <a:ea typeface="Calibri" pitchFamily="34" charset="-122"/>
                <a:cs typeface="Calibri" pitchFamily="34" charset="-120"/>
              </a:rPr>
              <a:t>Browser. Stores the JWT and sends it on every request.</a:t>
            </a:r>
            <a:endParaRPr lang="en-US" sz="1200" dirty="0"/>
          </a:p>
        </p:txBody>
      </p:sp>
      <p:sp>
        <p:nvSpPr>
          <p:cNvPr id="7" name="Shape 5"/>
          <p:cNvSpPr/>
          <p:nvPr/>
        </p:nvSpPr>
        <p:spPr>
          <a:xfrm>
            <a:off x="3977640" y="1600200"/>
            <a:ext cx="3383280" cy="868680"/>
          </a:xfrm>
          <a:prstGeom prst="rect">
            <a:avLst/>
          </a:prstGeom>
          <a:solidFill>
            <a:srgbClr val="FFFFFF"/>
          </a:solidFill>
          <a:ln w="15875">
            <a:solidFill>
              <a:srgbClr val="9FB3A8"/>
            </a:solidFill>
            <a:prstDash val="solid"/>
          </a:ln>
        </p:spPr>
      </p:sp>
      <p:sp>
        <p:nvSpPr>
          <p:cNvPr id="8" name="Text 6"/>
          <p:cNvSpPr txBox="1"/>
          <p:nvPr/>
        </p:nvSpPr>
        <p:spPr>
          <a:xfrm>
            <a:off x="4142232" y="1709928"/>
            <a:ext cx="3054096" cy="292608"/>
          </a:xfrm>
          <a:prstGeom prst="rect">
            <a:avLst/>
          </a:prstGeom>
          <a:noFill/>
          <a:ln/>
        </p:spPr>
        <p:txBody>
          <a:bodyPr wrap="square" lIns="0" tIns="0" rIns="0" bIns="0" rtlCol="0" anchor="t"/>
          <a:lstStyle/>
          <a:p>
            <a:pPr indent="0" marL="0">
              <a:buNone/>
            </a:pPr>
            <a:r>
              <a:rPr lang="en-US" sz="1500" b="1" dirty="0">
                <a:solidFill>
                  <a:srgbClr val="24292A"/>
                </a:solidFill>
                <a:latin typeface="Calibri" pitchFamily="34" charset="0"/>
                <a:ea typeface="Calibri" pitchFamily="34" charset="-122"/>
                <a:cs typeface="Calibri" pitchFamily="34" charset="-120"/>
              </a:rPr>
              <a:t>Auth Service :8081</a:t>
            </a:r>
            <a:endParaRPr lang="en-US" sz="1500" dirty="0"/>
          </a:p>
        </p:txBody>
      </p:sp>
      <p:sp>
        <p:nvSpPr>
          <p:cNvPr id="9" name="Text 7"/>
          <p:cNvSpPr txBox="1"/>
          <p:nvPr/>
        </p:nvSpPr>
        <p:spPr>
          <a:xfrm>
            <a:off x="4142232" y="2011680"/>
            <a:ext cx="3054096" cy="411480"/>
          </a:xfrm>
          <a:prstGeom prst="rect">
            <a:avLst/>
          </a:prstGeom>
          <a:noFill/>
          <a:ln/>
        </p:spPr>
        <p:txBody>
          <a:bodyPr wrap="square" lIns="0" tIns="0" rIns="0" bIns="0" rtlCol="0" anchor="t"/>
          <a:lstStyle/>
          <a:p>
            <a:pPr indent="0" marL="0">
              <a:buNone/>
            </a:pPr>
            <a:r>
              <a:rPr lang="en-US" sz="1200" dirty="0">
                <a:solidFill>
                  <a:srgbClr val="5D6560"/>
                </a:solidFill>
                <a:latin typeface="Calibri" pitchFamily="34" charset="0"/>
                <a:ea typeface="Calibri" pitchFamily="34" charset="-122"/>
                <a:cs typeface="Calibri" pitchFamily="34" charset="-120"/>
              </a:rPr>
              <a:t>Login, register, issues JWT</a:t>
            </a:r>
            <a:endParaRPr lang="en-US" sz="1200" dirty="0"/>
          </a:p>
        </p:txBody>
      </p:sp>
      <p:sp>
        <p:nvSpPr>
          <p:cNvPr id="10" name="Shape 8"/>
          <p:cNvSpPr/>
          <p:nvPr/>
        </p:nvSpPr>
        <p:spPr>
          <a:xfrm>
            <a:off x="8275320" y="1600200"/>
            <a:ext cx="3364992" cy="868680"/>
          </a:xfrm>
          <a:prstGeom prst="rect">
            <a:avLst/>
          </a:prstGeom>
          <a:solidFill>
            <a:srgbClr val="FFFFFF"/>
          </a:solidFill>
          <a:ln w="15875">
            <a:solidFill>
              <a:srgbClr val="9FB3A8"/>
            </a:solidFill>
            <a:prstDash val="solid"/>
          </a:ln>
        </p:spPr>
      </p:sp>
      <p:sp>
        <p:nvSpPr>
          <p:cNvPr id="11" name="Text 9"/>
          <p:cNvSpPr txBox="1"/>
          <p:nvPr/>
        </p:nvSpPr>
        <p:spPr>
          <a:xfrm>
            <a:off x="8439912" y="1709928"/>
            <a:ext cx="3035808" cy="292608"/>
          </a:xfrm>
          <a:prstGeom prst="rect">
            <a:avLst/>
          </a:prstGeom>
          <a:noFill/>
          <a:ln/>
        </p:spPr>
        <p:txBody>
          <a:bodyPr wrap="square" lIns="0" tIns="0" rIns="0" bIns="0" rtlCol="0" anchor="t"/>
          <a:lstStyle/>
          <a:p>
            <a:pPr indent="0" marL="0">
              <a:buNone/>
            </a:pPr>
            <a:r>
              <a:rPr lang="en-US" sz="1500" b="1" dirty="0">
                <a:solidFill>
                  <a:srgbClr val="24292A"/>
                </a:solidFill>
                <a:latin typeface="Calibri" pitchFamily="34" charset="0"/>
                <a:ea typeface="Calibri" pitchFamily="34" charset="-122"/>
                <a:cs typeface="Calibri" pitchFamily="34" charset="-120"/>
              </a:rPr>
              <a:t>campusvolt_auth_db</a:t>
            </a:r>
            <a:endParaRPr lang="en-US" sz="1500" dirty="0"/>
          </a:p>
        </p:txBody>
      </p:sp>
      <p:sp>
        <p:nvSpPr>
          <p:cNvPr id="12" name="Text 10"/>
          <p:cNvSpPr txBox="1"/>
          <p:nvPr/>
        </p:nvSpPr>
        <p:spPr>
          <a:xfrm>
            <a:off x="8439912" y="2011680"/>
            <a:ext cx="3035808" cy="411480"/>
          </a:xfrm>
          <a:prstGeom prst="rect">
            <a:avLst/>
          </a:prstGeom>
          <a:noFill/>
          <a:ln/>
        </p:spPr>
        <p:txBody>
          <a:bodyPr wrap="square" lIns="0" tIns="0" rIns="0" bIns="0" rtlCol="0" anchor="t"/>
          <a:lstStyle/>
          <a:p>
            <a:pPr indent="0" marL="0">
              <a:buNone/>
            </a:pPr>
            <a:r>
              <a:rPr lang="en-US" sz="1200" dirty="0">
                <a:solidFill>
                  <a:srgbClr val="5D6560"/>
                </a:solidFill>
                <a:latin typeface="Calibri" pitchFamily="34" charset="0"/>
                <a:ea typeface="Calibri" pitchFamily="34" charset="-122"/>
                <a:cs typeface="Calibri" pitchFamily="34" charset="-120"/>
              </a:rPr>
              <a:t>PostgreSQL · users</a:t>
            </a:r>
            <a:endParaRPr lang="en-US" sz="1200" dirty="0"/>
          </a:p>
        </p:txBody>
      </p:sp>
      <p:sp>
        <p:nvSpPr>
          <p:cNvPr id="13" name="Shape 11"/>
          <p:cNvSpPr/>
          <p:nvPr/>
        </p:nvSpPr>
        <p:spPr>
          <a:xfrm flipV="1">
            <a:off x="2926080" y="2034540"/>
            <a:ext cx="1051560" cy="1600200"/>
          </a:xfrm>
          <a:prstGeom prst="line">
            <a:avLst/>
          </a:prstGeom>
          <a:noFill/>
          <a:ln w="19050">
            <a:solidFill>
              <a:srgbClr val="1F4D3A"/>
            </a:solidFill>
            <a:prstDash val="solid"/>
            <a:tailEnd type="triangle"/>
          </a:ln>
        </p:spPr>
      </p:sp>
      <p:sp>
        <p:nvSpPr>
          <p:cNvPr id="14" name="Shape 12"/>
          <p:cNvSpPr/>
          <p:nvPr/>
        </p:nvSpPr>
        <p:spPr>
          <a:xfrm>
            <a:off x="7360920" y="2034540"/>
            <a:ext cx="914400" cy="914"/>
          </a:xfrm>
          <a:prstGeom prst="line">
            <a:avLst/>
          </a:prstGeom>
          <a:noFill/>
          <a:ln w="19050">
            <a:solidFill>
              <a:srgbClr val="1F4D3A"/>
            </a:solidFill>
            <a:prstDash val="solid"/>
            <a:tailEnd type="triangle"/>
          </a:ln>
        </p:spPr>
      </p:sp>
      <p:sp>
        <p:nvSpPr>
          <p:cNvPr id="15" name="Shape 13"/>
          <p:cNvSpPr/>
          <p:nvPr/>
        </p:nvSpPr>
        <p:spPr>
          <a:xfrm>
            <a:off x="3977640" y="2697480"/>
            <a:ext cx="3383280" cy="868680"/>
          </a:xfrm>
          <a:prstGeom prst="rect">
            <a:avLst/>
          </a:prstGeom>
          <a:solidFill>
            <a:srgbClr val="FFFFFF"/>
          </a:solidFill>
          <a:ln w="15875">
            <a:solidFill>
              <a:srgbClr val="9FB3A8"/>
            </a:solidFill>
            <a:prstDash val="solid"/>
          </a:ln>
        </p:spPr>
      </p:sp>
      <p:sp>
        <p:nvSpPr>
          <p:cNvPr id="16" name="Text 14"/>
          <p:cNvSpPr txBox="1"/>
          <p:nvPr/>
        </p:nvSpPr>
        <p:spPr>
          <a:xfrm>
            <a:off x="4142232" y="2807208"/>
            <a:ext cx="3054096" cy="292608"/>
          </a:xfrm>
          <a:prstGeom prst="rect">
            <a:avLst/>
          </a:prstGeom>
          <a:noFill/>
          <a:ln/>
        </p:spPr>
        <p:txBody>
          <a:bodyPr wrap="square" lIns="0" tIns="0" rIns="0" bIns="0" rtlCol="0" anchor="t"/>
          <a:lstStyle/>
          <a:p>
            <a:pPr indent="0" marL="0">
              <a:buNone/>
            </a:pPr>
            <a:r>
              <a:rPr lang="en-US" sz="1500" b="1" dirty="0">
                <a:solidFill>
                  <a:srgbClr val="24292A"/>
                </a:solidFill>
                <a:latin typeface="Calibri" pitchFamily="34" charset="0"/>
                <a:ea typeface="Calibri" pitchFamily="34" charset="-122"/>
                <a:cs typeface="Calibri" pitchFamily="34" charset="-120"/>
              </a:rPr>
              <a:t>Fleet &amp; Route :8082</a:t>
            </a:r>
            <a:endParaRPr lang="en-US" sz="1500" dirty="0"/>
          </a:p>
        </p:txBody>
      </p:sp>
      <p:sp>
        <p:nvSpPr>
          <p:cNvPr id="17" name="Text 15"/>
          <p:cNvSpPr txBox="1"/>
          <p:nvPr/>
        </p:nvSpPr>
        <p:spPr>
          <a:xfrm>
            <a:off x="4142232" y="3108960"/>
            <a:ext cx="3054096" cy="411480"/>
          </a:xfrm>
          <a:prstGeom prst="rect">
            <a:avLst/>
          </a:prstGeom>
          <a:noFill/>
          <a:ln/>
        </p:spPr>
        <p:txBody>
          <a:bodyPr wrap="square" lIns="0" tIns="0" rIns="0" bIns="0" rtlCol="0" anchor="t"/>
          <a:lstStyle/>
          <a:p>
            <a:pPr indent="0" marL="0">
              <a:buNone/>
            </a:pPr>
            <a:r>
              <a:rPr lang="en-US" sz="1200" dirty="0">
                <a:solidFill>
                  <a:srgbClr val="5D6560"/>
                </a:solidFill>
                <a:latin typeface="Calibri" pitchFamily="34" charset="0"/>
                <a:ea typeface="Calibri" pitchFamily="34" charset="-122"/>
                <a:cs typeface="Calibri" pitchFamily="34" charset="-120"/>
              </a:rPr>
              <a:t>Vehicles, routes, stops</a:t>
            </a:r>
            <a:endParaRPr lang="en-US" sz="1200" dirty="0"/>
          </a:p>
        </p:txBody>
      </p:sp>
      <p:sp>
        <p:nvSpPr>
          <p:cNvPr id="18" name="Shape 16"/>
          <p:cNvSpPr/>
          <p:nvPr/>
        </p:nvSpPr>
        <p:spPr>
          <a:xfrm>
            <a:off x="8275320" y="2697480"/>
            <a:ext cx="3364992" cy="868680"/>
          </a:xfrm>
          <a:prstGeom prst="rect">
            <a:avLst/>
          </a:prstGeom>
          <a:solidFill>
            <a:srgbClr val="FFFFFF"/>
          </a:solidFill>
          <a:ln w="15875">
            <a:solidFill>
              <a:srgbClr val="9FB3A8"/>
            </a:solidFill>
            <a:prstDash val="solid"/>
          </a:ln>
        </p:spPr>
      </p:sp>
      <p:sp>
        <p:nvSpPr>
          <p:cNvPr id="19" name="Text 17"/>
          <p:cNvSpPr txBox="1"/>
          <p:nvPr/>
        </p:nvSpPr>
        <p:spPr>
          <a:xfrm>
            <a:off x="8439912" y="2807208"/>
            <a:ext cx="3035808" cy="292608"/>
          </a:xfrm>
          <a:prstGeom prst="rect">
            <a:avLst/>
          </a:prstGeom>
          <a:noFill/>
          <a:ln/>
        </p:spPr>
        <p:txBody>
          <a:bodyPr wrap="square" lIns="0" tIns="0" rIns="0" bIns="0" rtlCol="0" anchor="t"/>
          <a:lstStyle/>
          <a:p>
            <a:pPr indent="0" marL="0">
              <a:buNone/>
            </a:pPr>
            <a:r>
              <a:rPr lang="en-US" sz="1500" b="1" dirty="0">
                <a:solidFill>
                  <a:srgbClr val="24292A"/>
                </a:solidFill>
                <a:latin typeface="Calibri" pitchFamily="34" charset="0"/>
                <a:ea typeface="Calibri" pitchFamily="34" charset="-122"/>
                <a:cs typeface="Calibri" pitchFamily="34" charset="-120"/>
              </a:rPr>
              <a:t>campusvolt_fleet_db</a:t>
            </a:r>
            <a:endParaRPr lang="en-US" sz="1500" dirty="0"/>
          </a:p>
        </p:txBody>
      </p:sp>
      <p:sp>
        <p:nvSpPr>
          <p:cNvPr id="20" name="Text 18"/>
          <p:cNvSpPr txBox="1"/>
          <p:nvPr/>
        </p:nvSpPr>
        <p:spPr>
          <a:xfrm>
            <a:off x="8439912" y="3108960"/>
            <a:ext cx="3035808" cy="411480"/>
          </a:xfrm>
          <a:prstGeom prst="rect">
            <a:avLst/>
          </a:prstGeom>
          <a:noFill/>
          <a:ln/>
        </p:spPr>
        <p:txBody>
          <a:bodyPr wrap="square" lIns="0" tIns="0" rIns="0" bIns="0" rtlCol="0" anchor="t"/>
          <a:lstStyle/>
          <a:p>
            <a:pPr indent="0" marL="0">
              <a:buNone/>
            </a:pPr>
            <a:r>
              <a:rPr lang="en-US" sz="1200" dirty="0">
                <a:solidFill>
                  <a:srgbClr val="5D6560"/>
                </a:solidFill>
                <a:latin typeface="Calibri" pitchFamily="34" charset="0"/>
                <a:ea typeface="Calibri" pitchFamily="34" charset="-122"/>
                <a:cs typeface="Calibri" pitchFamily="34" charset="-120"/>
              </a:rPr>
              <a:t>PostgreSQL · vehicles, routes, route_stops</a:t>
            </a:r>
            <a:endParaRPr lang="en-US" sz="1200" dirty="0"/>
          </a:p>
        </p:txBody>
      </p:sp>
      <p:sp>
        <p:nvSpPr>
          <p:cNvPr id="21" name="Shape 19"/>
          <p:cNvSpPr/>
          <p:nvPr/>
        </p:nvSpPr>
        <p:spPr>
          <a:xfrm flipV="1">
            <a:off x="2926080" y="3131820"/>
            <a:ext cx="1051560" cy="502920"/>
          </a:xfrm>
          <a:prstGeom prst="line">
            <a:avLst/>
          </a:prstGeom>
          <a:noFill/>
          <a:ln w="19050">
            <a:solidFill>
              <a:srgbClr val="1F4D3A"/>
            </a:solidFill>
            <a:prstDash val="solid"/>
            <a:tailEnd type="triangle"/>
          </a:ln>
        </p:spPr>
      </p:sp>
      <p:sp>
        <p:nvSpPr>
          <p:cNvPr id="22" name="Shape 20"/>
          <p:cNvSpPr/>
          <p:nvPr/>
        </p:nvSpPr>
        <p:spPr>
          <a:xfrm>
            <a:off x="7360920" y="3131820"/>
            <a:ext cx="914400" cy="914"/>
          </a:xfrm>
          <a:prstGeom prst="line">
            <a:avLst/>
          </a:prstGeom>
          <a:noFill/>
          <a:ln w="19050">
            <a:solidFill>
              <a:srgbClr val="1F4D3A"/>
            </a:solidFill>
            <a:prstDash val="solid"/>
            <a:tailEnd type="triangle"/>
          </a:ln>
        </p:spPr>
      </p:sp>
      <p:sp>
        <p:nvSpPr>
          <p:cNvPr id="23" name="Shape 21"/>
          <p:cNvSpPr/>
          <p:nvPr/>
        </p:nvSpPr>
        <p:spPr>
          <a:xfrm>
            <a:off x="3977640" y="3794760"/>
            <a:ext cx="3383280" cy="868680"/>
          </a:xfrm>
          <a:prstGeom prst="rect">
            <a:avLst/>
          </a:prstGeom>
          <a:solidFill>
            <a:srgbClr val="FFFFFF"/>
          </a:solidFill>
          <a:ln w="15875">
            <a:solidFill>
              <a:srgbClr val="9FB3A8"/>
            </a:solidFill>
            <a:prstDash val="solid"/>
          </a:ln>
        </p:spPr>
      </p:sp>
      <p:sp>
        <p:nvSpPr>
          <p:cNvPr id="24" name="Text 22"/>
          <p:cNvSpPr txBox="1"/>
          <p:nvPr/>
        </p:nvSpPr>
        <p:spPr>
          <a:xfrm>
            <a:off x="4142232" y="3904488"/>
            <a:ext cx="3054096" cy="292608"/>
          </a:xfrm>
          <a:prstGeom prst="rect">
            <a:avLst/>
          </a:prstGeom>
          <a:noFill/>
          <a:ln/>
        </p:spPr>
        <p:txBody>
          <a:bodyPr wrap="square" lIns="0" tIns="0" rIns="0" bIns="0" rtlCol="0" anchor="t"/>
          <a:lstStyle/>
          <a:p>
            <a:pPr indent="0" marL="0">
              <a:buNone/>
            </a:pPr>
            <a:r>
              <a:rPr lang="en-US" sz="1500" b="1" dirty="0">
                <a:solidFill>
                  <a:srgbClr val="24292A"/>
                </a:solidFill>
                <a:latin typeface="Calibri" pitchFamily="34" charset="0"/>
                <a:ea typeface="Calibri" pitchFamily="34" charset="-122"/>
                <a:cs typeface="Calibri" pitchFamily="34" charset="-120"/>
              </a:rPr>
              <a:t>Trip &amp; Tracking :8083</a:t>
            </a:r>
            <a:endParaRPr lang="en-US" sz="1500" dirty="0"/>
          </a:p>
        </p:txBody>
      </p:sp>
      <p:sp>
        <p:nvSpPr>
          <p:cNvPr id="25" name="Text 23"/>
          <p:cNvSpPr txBox="1"/>
          <p:nvPr/>
        </p:nvSpPr>
        <p:spPr>
          <a:xfrm>
            <a:off x="4142232" y="4206240"/>
            <a:ext cx="3054096" cy="411480"/>
          </a:xfrm>
          <a:prstGeom prst="rect">
            <a:avLst/>
          </a:prstGeom>
          <a:noFill/>
          <a:ln/>
        </p:spPr>
        <p:txBody>
          <a:bodyPr wrap="square" lIns="0" tIns="0" rIns="0" bIns="0" rtlCol="0" anchor="t"/>
          <a:lstStyle/>
          <a:p>
            <a:pPr indent="0" marL="0">
              <a:buNone/>
            </a:pPr>
            <a:r>
              <a:rPr lang="en-US" sz="1200" dirty="0">
                <a:solidFill>
                  <a:srgbClr val="5D6560"/>
                </a:solidFill>
                <a:latin typeface="Calibri" pitchFamily="34" charset="0"/>
                <a:ea typeface="Calibri" pitchFamily="34" charset="-122"/>
                <a:cs typeface="Calibri" pitchFamily="34" charset="-120"/>
              </a:rPr>
              <a:t>Trips, simulator, ETA. Calls Fleet API</a:t>
            </a:r>
            <a:endParaRPr lang="en-US" sz="1200" dirty="0"/>
          </a:p>
        </p:txBody>
      </p:sp>
      <p:sp>
        <p:nvSpPr>
          <p:cNvPr id="26" name="Shape 24"/>
          <p:cNvSpPr/>
          <p:nvPr/>
        </p:nvSpPr>
        <p:spPr>
          <a:xfrm>
            <a:off x="8275320" y="3794760"/>
            <a:ext cx="3364992" cy="868680"/>
          </a:xfrm>
          <a:prstGeom prst="rect">
            <a:avLst/>
          </a:prstGeom>
          <a:solidFill>
            <a:srgbClr val="FFFFFF"/>
          </a:solidFill>
          <a:ln w="15875">
            <a:solidFill>
              <a:srgbClr val="9FB3A8"/>
            </a:solidFill>
            <a:prstDash val="solid"/>
          </a:ln>
        </p:spPr>
      </p:sp>
      <p:sp>
        <p:nvSpPr>
          <p:cNvPr id="27" name="Text 25"/>
          <p:cNvSpPr txBox="1"/>
          <p:nvPr/>
        </p:nvSpPr>
        <p:spPr>
          <a:xfrm>
            <a:off x="8439912" y="3904488"/>
            <a:ext cx="3035808" cy="292608"/>
          </a:xfrm>
          <a:prstGeom prst="rect">
            <a:avLst/>
          </a:prstGeom>
          <a:noFill/>
          <a:ln/>
        </p:spPr>
        <p:txBody>
          <a:bodyPr wrap="square" lIns="0" tIns="0" rIns="0" bIns="0" rtlCol="0" anchor="t"/>
          <a:lstStyle/>
          <a:p>
            <a:pPr indent="0" marL="0">
              <a:buNone/>
            </a:pPr>
            <a:r>
              <a:rPr lang="en-US" sz="1500" b="1" dirty="0">
                <a:solidFill>
                  <a:srgbClr val="24292A"/>
                </a:solidFill>
                <a:latin typeface="Calibri" pitchFamily="34" charset="0"/>
                <a:ea typeface="Calibri" pitchFamily="34" charset="-122"/>
                <a:cs typeface="Calibri" pitchFamily="34" charset="-120"/>
              </a:rPr>
              <a:t>campusvolt_tracking_db</a:t>
            </a:r>
            <a:endParaRPr lang="en-US" sz="1500" dirty="0"/>
          </a:p>
        </p:txBody>
      </p:sp>
      <p:sp>
        <p:nvSpPr>
          <p:cNvPr id="28" name="Text 26"/>
          <p:cNvSpPr txBox="1"/>
          <p:nvPr/>
        </p:nvSpPr>
        <p:spPr>
          <a:xfrm>
            <a:off x="8439912" y="4206240"/>
            <a:ext cx="3035808" cy="411480"/>
          </a:xfrm>
          <a:prstGeom prst="rect">
            <a:avLst/>
          </a:prstGeom>
          <a:noFill/>
          <a:ln/>
        </p:spPr>
        <p:txBody>
          <a:bodyPr wrap="square" lIns="0" tIns="0" rIns="0" bIns="0" rtlCol="0" anchor="t"/>
          <a:lstStyle/>
          <a:p>
            <a:pPr indent="0" marL="0">
              <a:buNone/>
            </a:pPr>
            <a:r>
              <a:rPr lang="en-US" sz="1200" dirty="0">
                <a:solidFill>
                  <a:srgbClr val="5D6560"/>
                </a:solidFill>
                <a:latin typeface="Calibri" pitchFamily="34" charset="0"/>
                <a:ea typeface="Calibri" pitchFamily="34" charset="-122"/>
                <a:cs typeface="Calibri" pitchFamily="34" charset="-120"/>
              </a:rPr>
              <a:t>PostgreSQL · trips</a:t>
            </a:r>
            <a:endParaRPr lang="en-US" sz="1200" dirty="0"/>
          </a:p>
        </p:txBody>
      </p:sp>
      <p:sp>
        <p:nvSpPr>
          <p:cNvPr id="29" name="Shape 27"/>
          <p:cNvSpPr/>
          <p:nvPr/>
        </p:nvSpPr>
        <p:spPr>
          <a:xfrm>
            <a:off x="2926080" y="3634740"/>
            <a:ext cx="1051560" cy="594360"/>
          </a:xfrm>
          <a:prstGeom prst="line">
            <a:avLst/>
          </a:prstGeom>
          <a:noFill/>
          <a:ln w="19050">
            <a:solidFill>
              <a:srgbClr val="1F4D3A"/>
            </a:solidFill>
            <a:prstDash val="solid"/>
            <a:tailEnd type="triangle"/>
          </a:ln>
        </p:spPr>
      </p:sp>
      <p:sp>
        <p:nvSpPr>
          <p:cNvPr id="30" name="Shape 28"/>
          <p:cNvSpPr/>
          <p:nvPr/>
        </p:nvSpPr>
        <p:spPr>
          <a:xfrm>
            <a:off x="7360920" y="4229100"/>
            <a:ext cx="914400" cy="914"/>
          </a:xfrm>
          <a:prstGeom prst="line">
            <a:avLst/>
          </a:prstGeom>
          <a:noFill/>
          <a:ln w="19050">
            <a:solidFill>
              <a:srgbClr val="1F4D3A"/>
            </a:solidFill>
            <a:prstDash val="solid"/>
            <a:tailEnd type="triangle"/>
          </a:ln>
        </p:spPr>
      </p:sp>
      <p:sp>
        <p:nvSpPr>
          <p:cNvPr id="31" name="Shape 29"/>
          <p:cNvSpPr/>
          <p:nvPr/>
        </p:nvSpPr>
        <p:spPr>
          <a:xfrm>
            <a:off x="3977640" y="4892040"/>
            <a:ext cx="3383280" cy="868680"/>
          </a:xfrm>
          <a:prstGeom prst="rect">
            <a:avLst/>
          </a:prstGeom>
          <a:solidFill>
            <a:srgbClr val="FFFFFF"/>
          </a:solidFill>
          <a:ln w="15875">
            <a:solidFill>
              <a:srgbClr val="9FB3A8"/>
            </a:solidFill>
            <a:prstDash val="solid"/>
          </a:ln>
        </p:spPr>
      </p:sp>
      <p:sp>
        <p:nvSpPr>
          <p:cNvPr id="32" name="Text 30"/>
          <p:cNvSpPr txBox="1"/>
          <p:nvPr/>
        </p:nvSpPr>
        <p:spPr>
          <a:xfrm>
            <a:off x="4142232" y="5001768"/>
            <a:ext cx="3054096" cy="292608"/>
          </a:xfrm>
          <a:prstGeom prst="rect">
            <a:avLst/>
          </a:prstGeom>
          <a:noFill/>
          <a:ln/>
        </p:spPr>
        <p:txBody>
          <a:bodyPr wrap="square" lIns="0" tIns="0" rIns="0" bIns="0" rtlCol="0" anchor="t"/>
          <a:lstStyle/>
          <a:p>
            <a:pPr indent="0" marL="0">
              <a:buNone/>
            </a:pPr>
            <a:r>
              <a:rPr lang="en-US" sz="1500" b="1" dirty="0">
                <a:solidFill>
                  <a:srgbClr val="24292A"/>
                </a:solidFill>
                <a:latin typeface="Calibri" pitchFamily="34" charset="0"/>
                <a:ea typeface="Calibri" pitchFamily="34" charset="-122"/>
                <a:cs typeface="Calibri" pitchFamily="34" charset="-120"/>
              </a:rPr>
              <a:t>Occupancy &amp; Alert :8084</a:t>
            </a:r>
            <a:endParaRPr lang="en-US" sz="1500" dirty="0"/>
          </a:p>
        </p:txBody>
      </p:sp>
      <p:sp>
        <p:nvSpPr>
          <p:cNvPr id="33" name="Text 31"/>
          <p:cNvSpPr txBox="1"/>
          <p:nvPr/>
        </p:nvSpPr>
        <p:spPr>
          <a:xfrm>
            <a:off x="4142232" y="5303520"/>
            <a:ext cx="3054096" cy="411480"/>
          </a:xfrm>
          <a:prstGeom prst="rect">
            <a:avLst/>
          </a:prstGeom>
          <a:noFill/>
          <a:ln/>
        </p:spPr>
        <p:txBody>
          <a:bodyPr wrap="square" lIns="0" tIns="0" rIns="0" bIns="0" rtlCol="0" anchor="t"/>
          <a:lstStyle/>
          <a:p>
            <a:pPr indent="0" marL="0">
              <a:buNone/>
            </a:pPr>
            <a:r>
              <a:rPr lang="en-US" sz="1200" dirty="0">
                <a:solidFill>
                  <a:srgbClr val="5D6560"/>
                </a:solidFill>
                <a:latin typeface="Calibri" pitchFamily="34" charset="0"/>
                <a:ea typeface="Calibri" pitchFamily="34" charset="-122"/>
                <a:cs typeface="Calibri" pitchFamily="34" charset="-120"/>
              </a:rPr>
              <a:t>Counts, alerts. Calls Fleet + Trip APIs</a:t>
            </a:r>
            <a:endParaRPr lang="en-US" sz="1200" dirty="0"/>
          </a:p>
        </p:txBody>
      </p:sp>
      <p:sp>
        <p:nvSpPr>
          <p:cNvPr id="34" name="Shape 32"/>
          <p:cNvSpPr/>
          <p:nvPr/>
        </p:nvSpPr>
        <p:spPr>
          <a:xfrm>
            <a:off x="8275320" y="4892040"/>
            <a:ext cx="3364992" cy="868680"/>
          </a:xfrm>
          <a:prstGeom prst="rect">
            <a:avLst/>
          </a:prstGeom>
          <a:solidFill>
            <a:srgbClr val="FFFFFF"/>
          </a:solidFill>
          <a:ln w="15875">
            <a:solidFill>
              <a:srgbClr val="9FB3A8"/>
            </a:solidFill>
            <a:prstDash val="solid"/>
          </a:ln>
        </p:spPr>
      </p:sp>
      <p:sp>
        <p:nvSpPr>
          <p:cNvPr id="35" name="Text 33"/>
          <p:cNvSpPr txBox="1"/>
          <p:nvPr/>
        </p:nvSpPr>
        <p:spPr>
          <a:xfrm>
            <a:off x="8439912" y="5001768"/>
            <a:ext cx="3035808" cy="292608"/>
          </a:xfrm>
          <a:prstGeom prst="rect">
            <a:avLst/>
          </a:prstGeom>
          <a:noFill/>
          <a:ln/>
        </p:spPr>
        <p:txBody>
          <a:bodyPr wrap="square" lIns="0" tIns="0" rIns="0" bIns="0" rtlCol="0" anchor="t"/>
          <a:lstStyle/>
          <a:p>
            <a:pPr indent="0" marL="0">
              <a:buNone/>
            </a:pPr>
            <a:r>
              <a:rPr lang="en-US" sz="1500" b="1" dirty="0">
                <a:solidFill>
                  <a:srgbClr val="24292A"/>
                </a:solidFill>
                <a:latin typeface="Calibri" pitchFamily="34" charset="0"/>
                <a:ea typeface="Calibri" pitchFamily="34" charset="-122"/>
                <a:cs typeface="Calibri" pitchFamily="34" charset="-120"/>
              </a:rPr>
              <a:t>campusvolt_occupancy_db</a:t>
            </a:r>
            <a:endParaRPr lang="en-US" sz="1500" dirty="0"/>
          </a:p>
        </p:txBody>
      </p:sp>
      <p:sp>
        <p:nvSpPr>
          <p:cNvPr id="36" name="Text 34"/>
          <p:cNvSpPr txBox="1"/>
          <p:nvPr/>
        </p:nvSpPr>
        <p:spPr>
          <a:xfrm>
            <a:off x="8439912" y="5303520"/>
            <a:ext cx="3035808" cy="411480"/>
          </a:xfrm>
          <a:prstGeom prst="rect">
            <a:avLst/>
          </a:prstGeom>
          <a:noFill/>
          <a:ln/>
        </p:spPr>
        <p:txBody>
          <a:bodyPr wrap="square" lIns="0" tIns="0" rIns="0" bIns="0" rtlCol="0" anchor="t"/>
          <a:lstStyle/>
          <a:p>
            <a:pPr indent="0" marL="0">
              <a:buNone/>
            </a:pPr>
            <a:r>
              <a:rPr lang="en-US" sz="1200" dirty="0">
                <a:solidFill>
                  <a:srgbClr val="5D6560"/>
                </a:solidFill>
                <a:latin typeface="Calibri" pitchFamily="34" charset="0"/>
                <a:ea typeface="Calibri" pitchFamily="34" charset="-122"/>
                <a:cs typeface="Calibri" pitchFamily="34" charset="-120"/>
              </a:rPr>
              <a:t>PostgreSQL · vehicle_occupancy, alerts</a:t>
            </a:r>
            <a:endParaRPr lang="en-US" sz="1200" dirty="0"/>
          </a:p>
        </p:txBody>
      </p:sp>
      <p:sp>
        <p:nvSpPr>
          <p:cNvPr id="37" name="Shape 35"/>
          <p:cNvSpPr/>
          <p:nvPr/>
        </p:nvSpPr>
        <p:spPr>
          <a:xfrm>
            <a:off x="2926080" y="3634740"/>
            <a:ext cx="1051560" cy="1691640"/>
          </a:xfrm>
          <a:prstGeom prst="line">
            <a:avLst/>
          </a:prstGeom>
          <a:noFill/>
          <a:ln w="19050">
            <a:solidFill>
              <a:srgbClr val="1F4D3A"/>
            </a:solidFill>
            <a:prstDash val="solid"/>
            <a:tailEnd type="triangle"/>
          </a:ln>
        </p:spPr>
      </p:sp>
      <p:sp>
        <p:nvSpPr>
          <p:cNvPr id="38" name="Shape 36"/>
          <p:cNvSpPr/>
          <p:nvPr/>
        </p:nvSpPr>
        <p:spPr>
          <a:xfrm>
            <a:off x="7360920" y="5326380"/>
            <a:ext cx="914400" cy="914"/>
          </a:xfrm>
          <a:prstGeom prst="line">
            <a:avLst/>
          </a:prstGeom>
          <a:noFill/>
          <a:ln w="19050">
            <a:solidFill>
              <a:srgbClr val="1F4D3A"/>
            </a:solidFill>
            <a:prstDash val="solid"/>
            <a:tailEnd type="triangle"/>
          </a:ln>
        </p:spPr>
      </p:sp>
      <p:sp>
        <p:nvSpPr>
          <p:cNvPr id="39" name="Text 37"/>
          <p:cNvSpPr txBox="1"/>
          <p:nvPr/>
        </p:nvSpPr>
        <p:spPr>
          <a:xfrm>
            <a:off x="2880360" y="2240280"/>
            <a:ext cx="1005840" cy="274320"/>
          </a:xfrm>
          <a:prstGeom prst="rect">
            <a:avLst/>
          </a:prstGeom>
          <a:noFill/>
          <a:ln/>
        </p:spPr>
        <p:txBody>
          <a:bodyPr wrap="square" lIns="0" tIns="0" rIns="0" bIns="0" rtlCol="0" anchor="t"/>
          <a:lstStyle/>
          <a:p>
            <a:pPr algn="ctr" indent="0" marL="0">
              <a:buNone/>
            </a:pPr>
            <a:r>
              <a:rPr lang="en-US" sz="1100" b="1" dirty="0">
                <a:solidFill>
                  <a:srgbClr val="1F4D3A"/>
                </a:solidFill>
                <a:latin typeface="Calibri" pitchFamily="34" charset="0"/>
                <a:ea typeface="Calibri" pitchFamily="34" charset="-122"/>
                <a:cs typeface="Calibri" pitchFamily="34" charset="-120"/>
              </a:rPr>
              <a:t>REST + JWT</a:t>
            </a:r>
            <a:endParaRPr lang="en-US" sz="1100" dirty="0"/>
          </a:p>
        </p:txBody>
      </p:sp>
      <p:sp>
        <p:nvSpPr>
          <p:cNvPr id="40" name="Text 38"/>
          <p:cNvSpPr txBox="1"/>
          <p:nvPr/>
        </p:nvSpPr>
        <p:spPr>
          <a:xfrm>
            <a:off x="7360920" y="1719072"/>
            <a:ext cx="914400" cy="274320"/>
          </a:xfrm>
          <a:prstGeom prst="rect">
            <a:avLst/>
          </a:prstGeom>
          <a:noFill/>
          <a:ln/>
        </p:spPr>
        <p:txBody>
          <a:bodyPr wrap="square" lIns="0" tIns="0" rIns="0" bIns="0" rtlCol="0" anchor="t"/>
          <a:lstStyle/>
          <a:p>
            <a:pPr algn="ctr" indent="0" marL="0">
              <a:buNone/>
            </a:pPr>
            <a:r>
              <a:rPr lang="en-US" sz="1100" b="1" dirty="0">
                <a:solidFill>
                  <a:srgbClr val="1F4D3A"/>
                </a:solidFill>
                <a:latin typeface="Calibri" pitchFamily="34" charset="0"/>
                <a:ea typeface="Calibri" pitchFamily="34" charset="-122"/>
                <a:cs typeface="Calibri" pitchFamily="34" charset="-120"/>
              </a:rPr>
              <a:t>JPA</a:t>
            </a:r>
            <a:endParaRPr lang="en-US" sz="1100" dirty="0"/>
          </a:p>
        </p:txBody>
      </p:sp>
      <p:sp>
        <p:nvSpPr>
          <p:cNvPr id="41" name="Text 39"/>
          <p:cNvSpPr txBox="1"/>
          <p:nvPr/>
        </p:nvSpPr>
        <p:spPr>
          <a:xfrm>
            <a:off x="548640" y="5943600"/>
            <a:ext cx="11064240" cy="365760"/>
          </a:xfrm>
          <a:prstGeom prst="rect">
            <a:avLst/>
          </a:prstGeom>
          <a:noFill/>
          <a:ln/>
        </p:spPr>
        <p:txBody>
          <a:bodyPr wrap="square" lIns="0" tIns="0" rIns="0" bIns="0" rtlCol="0" anchor="t"/>
          <a:lstStyle/>
          <a:p>
            <a:pPr indent="0" marL="0">
              <a:buNone/>
            </a:pPr>
            <a:r>
              <a:rPr lang="en-US" sz="1400" dirty="0">
                <a:solidFill>
                  <a:srgbClr val="5D6560"/>
                </a:solidFill>
                <a:latin typeface="Calibri" pitchFamily="34" charset="0"/>
                <a:ea typeface="Calibri" pitchFamily="34" charset="-122"/>
                <a:cs typeface="Calibri" pitchFamily="34" charset="-120"/>
              </a:rPr>
              <a:t>Every service checks the JWT signature with the same shared secret. A service only reads its own database; it gets other data through REST calls.</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D6560"/>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t"/>
          <a:lstStyle/>
          <a:p>
            <a:pPr indent="0" marL="0">
              <a:buNone/>
            </a:pPr>
            <a:r>
              <a:rPr lang="en-US" sz="1200" b="1" spc="200" kern="0" dirty="0">
                <a:solidFill>
                  <a:srgbClr val="1F4D3A"/>
                </a:solidFill>
                <a:latin typeface="Calibri" pitchFamily="34" charset="0"/>
                <a:ea typeface="Calibri" pitchFamily="34" charset="-122"/>
                <a:cs typeface="Calibri" pitchFamily="34" charset="-120"/>
              </a:rPr>
              <a:t>END-TO-END FLOW</a:t>
            </a:r>
            <a:endParaRPr lang="en-US" sz="1200" dirty="0"/>
          </a:p>
        </p:txBody>
      </p:sp>
      <p:sp>
        <p:nvSpPr>
          <p:cNvPr id="3" name="Text 1"/>
          <p:cNvSpPr txBox="1"/>
          <p:nvPr/>
        </p:nvSpPr>
        <p:spPr>
          <a:xfrm>
            <a:off x="548640" y="658368"/>
            <a:ext cx="11064240" cy="594360"/>
          </a:xfrm>
          <a:prstGeom prst="rect">
            <a:avLst/>
          </a:prstGeom>
          <a:noFill/>
          <a:ln/>
        </p:spPr>
        <p:txBody>
          <a:bodyPr wrap="square" lIns="0" tIns="0" rIns="0" bIns="0" rtlCol="0" anchor="t"/>
          <a:lstStyle/>
          <a:p>
            <a:pPr indent="0" marL="0">
              <a:buNone/>
            </a:pPr>
            <a:r>
              <a:rPr lang="en-US" sz="3000" b="1" dirty="0">
                <a:solidFill>
                  <a:srgbClr val="24292A"/>
                </a:solidFill>
                <a:latin typeface="Calibri" pitchFamily="34" charset="0"/>
                <a:ea typeface="Calibri" pitchFamily="34" charset="-122"/>
                <a:cs typeface="Calibri" pitchFamily="34" charset="-120"/>
              </a:rPr>
              <a:t>From login to an alert on the dashboard</a:t>
            </a:r>
            <a:endParaRPr lang="en-US" sz="3000" dirty="0"/>
          </a:p>
        </p:txBody>
      </p:sp>
      <p:sp>
        <p:nvSpPr>
          <p:cNvPr id="4" name="Shape 2"/>
          <p:cNvSpPr/>
          <p:nvPr/>
        </p:nvSpPr>
        <p:spPr>
          <a:xfrm>
            <a:off x="548640" y="1508760"/>
            <a:ext cx="3547872" cy="2103120"/>
          </a:xfrm>
          <a:prstGeom prst="rect">
            <a:avLst/>
          </a:prstGeom>
          <a:solidFill>
            <a:srgbClr val="F5F6F5"/>
          </a:solidFill>
          <a:ln w="9525">
            <a:solidFill>
              <a:srgbClr val="DDE1DE"/>
            </a:solidFill>
            <a:prstDash val="solid"/>
          </a:ln>
        </p:spPr>
      </p:sp>
      <p:sp>
        <p:nvSpPr>
          <p:cNvPr id="5" name="Shape 3"/>
          <p:cNvSpPr/>
          <p:nvPr/>
        </p:nvSpPr>
        <p:spPr>
          <a:xfrm>
            <a:off x="777240" y="1737360"/>
            <a:ext cx="457200" cy="457200"/>
          </a:xfrm>
          <a:prstGeom prst="rect">
            <a:avLst/>
          </a:prstGeom>
          <a:solidFill>
            <a:srgbClr val="1F4D3A"/>
          </a:solidFill>
          <a:ln w="12700">
            <a:solidFill>
              <a:srgbClr val="1F4D3A"/>
            </a:solidFill>
            <a:prstDash val="solid"/>
          </a:ln>
        </p:spPr>
      </p:sp>
      <p:sp>
        <p:nvSpPr>
          <p:cNvPr id="6" name="Text 4"/>
          <p:cNvSpPr txBox="1"/>
          <p:nvPr/>
        </p:nvSpPr>
        <p:spPr>
          <a:xfrm>
            <a:off x="777240" y="17373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txBox="1"/>
          <p:nvPr/>
        </p:nvSpPr>
        <p:spPr>
          <a:xfrm>
            <a:off x="1417320" y="1709928"/>
            <a:ext cx="2496312" cy="292608"/>
          </a:xfrm>
          <a:prstGeom prst="rect">
            <a:avLst/>
          </a:prstGeom>
          <a:noFill/>
          <a:ln/>
        </p:spPr>
        <p:txBody>
          <a:bodyPr wrap="square" lIns="0" tIns="0" rIns="0" bIns="0" rtlCol="0" anchor="t"/>
          <a:lstStyle/>
          <a:p>
            <a:pPr indent="0" marL="0">
              <a:buNone/>
            </a:pPr>
            <a:r>
              <a:rPr lang="en-US" sz="1700" b="1" dirty="0">
                <a:solidFill>
                  <a:srgbClr val="24292A"/>
                </a:solidFill>
                <a:latin typeface="Calibri" pitchFamily="34" charset="0"/>
                <a:ea typeface="Calibri" pitchFamily="34" charset="-122"/>
                <a:cs typeface="Calibri" pitchFamily="34" charset="-120"/>
              </a:rPr>
              <a:t>Sign in</a:t>
            </a:r>
            <a:endParaRPr lang="en-US" sz="1700" dirty="0"/>
          </a:p>
        </p:txBody>
      </p:sp>
      <p:sp>
        <p:nvSpPr>
          <p:cNvPr id="8" name="Text 6"/>
          <p:cNvSpPr txBox="1"/>
          <p:nvPr/>
        </p:nvSpPr>
        <p:spPr>
          <a:xfrm>
            <a:off x="1417320" y="1993392"/>
            <a:ext cx="2496312" cy="256032"/>
          </a:xfrm>
          <a:prstGeom prst="rect">
            <a:avLst/>
          </a:prstGeom>
          <a:noFill/>
          <a:ln/>
        </p:spPr>
        <p:txBody>
          <a:bodyPr wrap="square" lIns="0" tIns="0" rIns="0" bIns="0" rtlCol="0" anchor="t"/>
          <a:lstStyle/>
          <a:p>
            <a:pPr indent="0" marL="0">
              <a:buNone/>
            </a:pPr>
            <a:r>
              <a:rPr lang="en-US" sz="1200" b="1" dirty="0">
                <a:solidFill>
                  <a:srgbClr val="1F4D3A"/>
                </a:solidFill>
                <a:latin typeface="Calibri" pitchFamily="34" charset="0"/>
                <a:ea typeface="Calibri" pitchFamily="34" charset="-122"/>
                <a:cs typeface="Calibri" pitchFamily="34" charset="-120"/>
              </a:rPr>
              <a:t>Auth Service</a:t>
            </a:r>
            <a:endParaRPr lang="en-US" sz="1200" dirty="0"/>
          </a:p>
        </p:txBody>
      </p:sp>
      <p:sp>
        <p:nvSpPr>
          <p:cNvPr id="9" name="Text 7"/>
          <p:cNvSpPr txBox="1"/>
          <p:nvPr/>
        </p:nvSpPr>
        <p:spPr>
          <a:xfrm>
            <a:off x="777240" y="2423160"/>
            <a:ext cx="3090672" cy="1097280"/>
          </a:xfrm>
          <a:prstGeom prst="rect">
            <a:avLst/>
          </a:prstGeom>
          <a:noFill/>
          <a:ln/>
        </p:spPr>
        <p:txBody>
          <a:bodyPr wrap="square" lIns="0" tIns="0" rIns="0" bIns="0" rtlCol="0" anchor="t"/>
          <a:lstStyle/>
          <a:p>
            <a:pPr indent="0" marL="0">
              <a:buNone/>
            </a:pPr>
            <a:r>
              <a:rPr lang="en-US" sz="1400" dirty="0">
                <a:solidFill>
                  <a:srgbClr val="24292A"/>
                </a:solidFill>
                <a:latin typeface="Calibri" pitchFamily="34" charset="0"/>
                <a:ea typeface="Calibri" pitchFamily="34" charset="-122"/>
                <a:cs typeface="Calibri" pitchFamily="34" charset="-120"/>
              </a:rPr>
              <a:t>The user logs in. The password is checked with BCrypt and a JWT holding the role is returned.</a:t>
            </a:r>
            <a:endParaRPr lang="en-US" sz="1400" dirty="0"/>
          </a:p>
        </p:txBody>
      </p:sp>
      <p:sp>
        <p:nvSpPr>
          <p:cNvPr id="10" name="Shape 8"/>
          <p:cNvSpPr/>
          <p:nvPr/>
        </p:nvSpPr>
        <p:spPr>
          <a:xfrm>
            <a:off x="4315968" y="1508760"/>
            <a:ext cx="3547872" cy="2103120"/>
          </a:xfrm>
          <a:prstGeom prst="rect">
            <a:avLst/>
          </a:prstGeom>
          <a:solidFill>
            <a:srgbClr val="FFFFFF"/>
          </a:solidFill>
          <a:ln w="9525">
            <a:solidFill>
              <a:srgbClr val="DDE1DE"/>
            </a:solidFill>
            <a:prstDash val="solid"/>
          </a:ln>
        </p:spPr>
      </p:sp>
      <p:sp>
        <p:nvSpPr>
          <p:cNvPr id="11" name="Shape 9"/>
          <p:cNvSpPr/>
          <p:nvPr/>
        </p:nvSpPr>
        <p:spPr>
          <a:xfrm>
            <a:off x="4544568" y="1737360"/>
            <a:ext cx="457200" cy="457200"/>
          </a:xfrm>
          <a:prstGeom prst="rect">
            <a:avLst/>
          </a:prstGeom>
          <a:solidFill>
            <a:srgbClr val="1F4D3A"/>
          </a:solidFill>
          <a:ln w="12700">
            <a:solidFill>
              <a:srgbClr val="1F4D3A"/>
            </a:solidFill>
            <a:prstDash val="solid"/>
          </a:ln>
        </p:spPr>
      </p:sp>
      <p:sp>
        <p:nvSpPr>
          <p:cNvPr id="12" name="Text 10"/>
          <p:cNvSpPr txBox="1"/>
          <p:nvPr/>
        </p:nvSpPr>
        <p:spPr>
          <a:xfrm>
            <a:off x="4544568" y="17373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Text 11"/>
          <p:cNvSpPr txBox="1"/>
          <p:nvPr/>
        </p:nvSpPr>
        <p:spPr>
          <a:xfrm>
            <a:off x="5184648" y="1709928"/>
            <a:ext cx="2496312" cy="292608"/>
          </a:xfrm>
          <a:prstGeom prst="rect">
            <a:avLst/>
          </a:prstGeom>
          <a:noFill/>
          <a:ln/>
        </p:spPr>
        <p:txBody>
          <a:bodyPr wrap="square" lIns="0" tIns="0" rIns="0" bIns="0" rtlCol="0" anchor="t"/>
          <a:lstStyle/>
          <a:p>
            <a:pPr indent="0" marL="0">
              <a:buNone/>
            </a:pPr>
            <a:r>
              <a:rPr lang="en-US" sz="1700" b="1" dirty="0">
                <a:solidFill>
                  <a:srgbClr val="24292A"/>
                </a:solidFill>
                <a:latin typeface="Calibri" pitchFamily="34" charset="0"/>
                <a:ea typeface="Calibri" pitchFamily="34" charset="-122"/>
                <a:cs typeface="Calibri" pitchFamily="34" charset="-120"/>
              </a:rPr>
              <a:t>Set up the fleet</a:t>
            </a:r>
            <a:endParaRPr lang="en-US" sz="1700" dirty="0"/>
          </a:p>
        </p:txBody>
      </p:sp>
      <p:sp>
        <p:nvSpPr>
          <p:cNvPr id="14" name="Text 12"/>
          <p:cNvSpPr txBox="1"/>
          <p:nvPr/>
        </p:nvSpPr>
        <p:spPr>
          <a:xfrm>
            <a:off x="5184648" y="1993392"/>
            <a:ext cx="2496312" cy="256032"/>
          </a:xfrm>
          <a:prstGeom prst="rect">
            <a:avLst/>
          </a:prstGeom>
          <a:noFill/>
          <a:ln/>
        </p:spPr>
        <p:txBody>
          <a:bodyPr wrap="square" lIns="0" tIns="0" rIns="0" bIns="0" rtlCol="0" anchor="t"/>
          <a:lstStyle/>
          <a:p>
            <a:pPr indent="0" marL="0">
              <a:buNone/>
            </a:pPr>
            <a:r>
              <a:rPr lang="en-US" sz="1200" b="1" dirty="0">
                <a:solidFill>
                  <a:srgbClr val="1F4D3A"/>
                </a:solidFill>
                <a:latin typeface="Calibri" pitchFamily="34" charset="0"/>
                <a:ea typeface="Calibri" pitchFamily="34" charset="-122"/>
                <a:cs typeface="Calibri" pitchFamily="34" charset="-120"/>
              </a:rPr>
              <a:t>Fleet &amp; Route</a:t>
            </a:r>
            <a:endParaRPr lang="en-US" sz="1200" dirty="0"/>
          </a:p>
        </p:txBody>
      </p:sp>
      <p:sp>
        <p:nvSpPr>
          <p:cNvPr id="15" name="Text 13"/>
          <p:cNvSpPr txBox="1"/>
          <p:nvPr/>
        </p:nvSpPr>
        <p:spPr>
          <a:xfrm>
            <a:off x="4544568" y="2423160"/>
            <a:ext cx="3090672" cy="1097280"/>
          </a:xfrm>
          <a:prstGeom prst="rect">
            <a:avLst/>
          </a:prstGeom>
          <a:noFill/>
          <a:ln/>
        </p:spPr>
        <p:txBody>
          <a:bodyPr wrap="square" lIns="0" tIns="0" rIns="0" bIns="0" rtlCol="0" anchor="t"/>
          <a:lstStyle/>
          <a:p>
            <a:pPr indent="0" marL="0">
              <a:buNone/>
            </a:pPr>
            <a:r>
              <a:rPr lang="en-US" sz="1400" dirty="0">
                <a:solidFill>
                  <a:srgbClr val="24292A"/>
                </a:solidFill>
                <a:latin typeface="Calibri" pitchFamily="34" charset="0"/>
                <a:ea typeface="Calibri" pitchFamily="34" charset="-122"/>
                <a:cs typeface="Calibri" pitchFamily="34" charset="-120"/>
              </a:rPr>
              <a:t>An admin adds vehicles and routes with stops, then assigns each vehicle to a route.</a:t>
            </a:r>
            <a:endParaRPr lang="en-US" sz="1400" dirty="0"/>
          </a:p>
        </p:txBody>
      </p:sp>
      <p:sp>
        <p:nvSpPr>
          <p:cNvPr id="16" name="Shape 14"/>
          <p:cNvSpPr/>
          <p:nvPr/>
        </p:nvSpPr>
        <p:spPr>
          <a:xfrm>
            <a:off x="8083296" y="1508760"/>
            <a:ext cx="3547872" cy="2103120"/>
          </a:xfrm>
          <a:prstGeom prst="rect">
            <a:avLst/>
          </a:prstGeom>
          <a:solidFill>
            <a:srgbClr val="F5F6F5"/>
          </a:solidFill>
          <a:ln w="9525">
            <a:solidFill>
              <a:srgbClr val="DDE1DE"/>
            </a:solidFill>
            <a:prstDash val="solid"/>
          </a:ln>
        </p:spPr>
      </p:sp>
      <p:sp>
        <p:nvSpPr>
          <p:cNvPr id="17" name="Shape 15"/>
          <p:cNvSpPr/>
          <p:nvPr/>
        </p:nvSpPr>
        <p:spPr>
          <a:xfrm>
            <a:off x="8311896" y="1737360"/>
            <a:ext cx="457200" cy="457200"/>
          </a:xfrm>
          <a:prstGeom prst="rect">
            <a:avLst/>
          </a:prstGeom>
          <a:solidFill>
            <a:srgbClr val="1F4D3A"/>
          </a:solidFill>
          <a:ln w="12700">
            <a:solidFill>
              <a:srgbClr val="1F4D3A"/>
            </a:solidFill>
            <a:prstDash val="solid"/>
          </a:ln>
        </p:spPr>
      </p:sp>
      <p:sp>
        <p:nvSpPr>
          <p:cNvPr id="18" name="Text 16"/>
          <p:cNvSpPr txBox="1"/>
          <p:nvPr/>
        </p:nvSpPr>
        <p:spPr>
          <a:xfrm>
            <a:off x="8311896" y="17373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9" name="Text 17"/>
          <p:cNvSpPr txBox="1"/>
          <p:nvPr/>
        </p:nvSpPr>
        <p:spPr>
          <a:xfrm>
            <a:off x="8951976" y="1709928"/>
            <a:ext cx="2496312" cy="292608"/>
          </a:xfrm>
          <a:prstGeom prst="rect">
            <a:avLst/>
          </a:prstGeom>
          <a:noFill/>
          <a:ln/>
        </p:spPr>
        <p:txBody>
          <a:bodyPr wrap="square" lIns="0" tIns="0" rIns="0" bIns="0" rtlCol="0" anchor="t"/>
          <a:lstStyle/>
          <a:p>
            <a:pPr indent="0" marL="0">
              <a:buNone/>
            </a:pPr>
            <a:r>
              <a:rPr lang="en-US" sz="1700" b="1" dirty="0">
                <a:solidFill>
                  <a:srgbClr val="24292A"/>
                </a:solidFill>
                <a:latin typeface="Calibri" pitchFamily="34" charset="0"/>
                <a:ea typeface="Calibri" pitchFamily="34" charset="-122"/>
                <a:cs typeface="Calibri" pitchFamily="34" charset="-120"/>
              </a:rPr>
              <a:t>Schedule a trip</a:t>
            </a:r>
            <a:endParaRPr lang="en-US" sz="1700" dirty="0"/>
          </a:p>
        </p:txBody>
      </p:sp>
      <p:sp>
        <p:nvSpPr>
          <p:cNvPr id="20" name="Text 18"/>
          <p:cNvSpPr txBox="1"/>
          <p:nvPr/>
        </p:nvSpPr>
        <p:spPr>
          <a:xfrm>
            <a:off x="8951976" y="1993392"/>
            <a:ext cx="2496312" cy="256032"/>
          </a:xfrm>
          <a:prstGeom prst="rect">
            <a:avLst/>
          </a:prstGeom>
          <a:noFill/>
          <a:ln/>
        </p:spPr>
        <p:txBody>
          <a:bodyPr wrap="square" lIns="0" tIns="0" rIns="0" bIns="0" rtlCol="0" anchor="t"/>
          <a:lstStyle/>
          <a:p>
            <a:pPr indent="0" marL="0">
              <a:buNone/>
            </a:pPr>
            <a:r>
              <a:rPr lang="en-US" sz="1200" b="1" dirty="0">
                <a:solidFill>
                  <a:srgbClr val="1F4D3A"/>
                </a:solidFill>
                <a:latin typeface="Calibri" pitchFamily="34" charset="0"/>
                <a:ea typeface="Calibri" pitchFamily="34" charset="-122"/>
                <a:cs typeface="Calibri" pitchFamily="34" charset="-120"/>
              </a:rPr>
              <a:t>Trip &amp; Tracking</a:t>
            </a:r>
            <a:endParaRPr lang="en-US" sz="1200" dirty="0"/>
          </a:p>
        </p:txBody>
      </p:sp>
      <p:sp>
        <p:nvSpPr>
          <p:cNvPr id="21" name="Text 19"/>
          <p:cNvSpPr txBox="1"/>
          <p:nvPr/>
        </p:nvSpPr>
        <p:spPr>
          <a:xfrm>
            <a:off x="8311896" y="2423160"/>
            <a:ext cx="3090672" cy="1097280"/>
          </a:xfrm>
          <a:prstGeom prst="rect">
            <a:avLst/>
          </a:prstGeom>
          <a:noFill/>
          <a:ln/>
        </p:spPr>
        <p:txBody>
          <a:bodyPr wrap="square" lIns="0" tIns="0" rIns="0" bIns="0" rtlCol="0" anchor="t"/>
          <a:lstStyle/>
          <a:p>
            <a:pPr indent="0" marL="0">
              <a:buNone/>
            </a:pPr>
            <a:r>
              <a:rPr lang="en-US" sz="1400" dirty="0">
                <a:solidFill>
                  <a:srgbClr val="24292A"/>
                </a:solidFill>
                <a:latin typeface="Calibri" pitchFamily="34" charset="0"/>
                <a:ea typeface="Calibri" pitchFamily="34" charset="-122"/>
                <a:cs typeface="Calibri" pitchFamily="34" charset="-120"/>
              </a:rPr>
              <a:t>The trip service checks the vehicle and route with the Fleet API before saving the trip.</a:t>
            </a:r>
            <a:endParaRPr lang="en-US" sz="1400" dirty="0"/>
          </a:p>
        </p:txBody>
      </p:sp>
      <p:sp>
        <p:nvSpPr>
          <p:cNvPr id="22" name="Shape 20"/>
          <p:cNvSpPr/>
          <p:nvPr/>
        </p:nvSpPr>
        <p:spPr>
          <a:xfrm>
            <a:off x="548640" y="3886200"/>
            <a:ext cx="3547872" cy="2103120"/>
          </a:xfrm>
          <a:prstGeom prst="rect">
            <a:avLst/>
          </a:prstGeom>
          <a:solidFill>
            <a:srgbClr val="FFFFFF"/>
          </a:solidFill>
          <a:ln w="9525">
            <a:solidFill>
              <a:srgbClr val="DDE1DE"/>
            </a:solidFill>
            <a:prstDash val="solid"/>
          </a:ln>
        </p:spPr>
      </p:sp>
      <p:sp>
        <p:nvSpPr>
          <p:cNvPr id="23" name="Shape 21"/>
          <p:cNvSpPr/>
          <p:nvPr/>
        </p:nvSpPr>
        <p:spPr>
          <a:xfrm>
            <a:off x="777240" y="4114800"/>
            <a:ext cx="457200" cy="457200"/>
          </a:xfrm>
          <a:prstGeom prst="rect">
            <a:avLst/>
          </a:prstGeom>
          <a:solidFill>
            <a:srgbClr val="1F4D3A"/>
          </a:solidFill>
          <a:ln w="12700">
            <a:solidFill>
              <a:srgbClr val="1F4D3A"/>
            </a:solidFill>
            <a:prstDash val="solid"/>
          </a:ln>
        </p:spPr>
      </p:sp>
      <p:sp>
        <p:nvSpPr>
          <p:cNvPr id="24" name="Text 22"/>
          <p:cNvSpPr txBox="1"/>
          <p:nvPr/>
        </p:nvSpPr>
        <p:spPr>
          <a:xfrm>
            <a:off x="777240" y="41148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5" name="Text 23"/>
          <p:cNvSpPr txBox="1"/>
          <p:nvPr/>
        </p:nvSpPr>
        <p:spPr>
          <a:xfrm>
            <a:off x="1417320" y="4087368"/>
            <a:ext cx="2496312" cy="292608"/>
          </a:xfrm>
          <a:prstGeom prst="rect">
            <a:avLst/>
          </a:prstGeom>
          <a:noFill/>
          <a:ln/>
        </p:spPr>
        <p:txBody>
          <a:bodyPr wrap="square" lIns="0" tIns="0" rIns="0" bIns="0" rtlCol="0" anchor="t"/>
          <a:lstStyle/>
          <a:p>
            <a:pPr indent="0" marL="0">
              <a:buNone/>
            </a:pPr>
            <a:r>
              <a:rPr lang="en-US" sz="1700" b="1" dirty="0">
                <a:solidFill>
                  <a:srgbClr val="24292A"/>
                </a:solidFill>
                <a:latin typeface="Calibri" pitchFamily="34" charset="0"/>
                <a:ea typeface="Calibri" pitchFamily="34" charset="-122"/>
                <a:cs typeface="Calibri" pitchFamily="34" charset="-120"/>
              </a:rPr>
              <a:t>Track the shuttle</a:t>
            </a:r>
            <a:endParaRPr lang="en-US" sz="1700" dirty="0"/>
          </a:p>
        </p:txBody>
      </p:sp>
      <p:sp>
        <p:nvSpPr>
          <p:cNvPr id="26" name="Text 24"/>
          <p:cNvSpPr txBox="1"/>
          <p:nvPr/>
        </p:nvSpPr>
        <p:spPr>
          <a:xfrm>
            <a:off x="1417320" y="4370832"/>
            <a:ext cx="2496312" cy="256032"/>
          </a:xfrm>
          <a:prstGeom prst="rect">
            <a:avLst/>
          </a:prstGeom>
          <a:noFill/>
          <a:ln/>
        </p:spPr>
        <p:txBody>
          <a:bodyPr wrap="square" lIns="0" tIns="0" rIns="0" bIns="0" rtlCol="0" anchor="t"/>
          <a:lstStyle/>
          <a:p>
            <a:pPr indent="0" marL="0">
              <a:buNone/>
            </a:pPr>
            <a:r>
              <a:rPr lang="en-US" sz="1200" b="1" dirty="0">
                <a:solidFill>
                  <a:srgbClr val="1F4D3A"/>
                </a:solidFill>
                <a:latin typeface="Calibri" pitchFamily="34" charset="0"/>
                <a:ea typeface="Calibri" pitchFamily="34" charset="-122"/>
                <a:cs typeface="Calibri" pitchFamily="34" charset="-120"/>
              </a:rPr>
              <a:t>Trip &amp; Tracking</a:t>
            </a:r>
            <a:endParaRPr lang="en-US" sz="1200" dirty="0"/>
          </a:p>
        </p:txBody>
      </p:sp>
      <p:sp>
        <p:nvSpPr>
          <p:cNvPr id="27" name="Text 25"/>
          <p:cNvSpPr txBox="1"/>
          <p:nvPr/>
        </p:nvSpPr>
        <p:spPr>
          <a:xfrm>
            <a:off x="777240" y="4800600"/>
            <a:ext cx="3090672" cy="1097280"/>
          </a:xfrm>
          <a:prstGeom prst="rect">
            <a:avLst/>
          </a:prstGeom>
          <a:noFill/>
          <a:ln/>
        </p:spPr>
        <p:txBody>
          <a:bodyPr wrap="square" lIns="0" tIns="0" rIns="0" bIns="0" rtlCol="0" anchor="t"/>
          <a:lstStyle/>
          <a:p>
            <a:pPr indent="0" marL="0">
              <a:buNone/>
            </a:pPr>
            <a:r>
              <a:rPr lang="en-US" sz="1400" dirty="0">
                <a:solidFill>
                  <a:srgbClr val="24292A"/>
                </a:solidFill>
                <a:latin typeface="Calibri" pitchFamily="34" charset="0"/>
                <a:ea typeface="Calibri" pitchFamily="34" charset="-122"/>
                <a:cs typeface="Calibri" pitchFamily="34" charset="-120"/>
              </a:rPr>
              <a:t>Once started, the simulator moves the shuttle every 5 s. ETA = remaining distance ÷ speed.</a:t>
            </a:r>
            <a:endParaRPr lang="en-US" sz="1400" dirty="0"/>
          </a:p>
        </p:txBody>
      </p:sp>
      <p:sp>
        <p:nvSpPr>
          <p:cNvPr id="28" name="Shape 26"/>
          <p:cNvSpPr/>
          <p:nvPr/>
        </p:nvSpPr>
        <p:spPr>
          <a:xfrm>
            <a:off x="4315968" y="3886200"/>
            <a:ext cx="3547872" cy="2103120"/>
          </a:xfrm>
          <a:prstGeom prst="rect">
            <a:avLst/>
          </a:prstGeom>
          <a:solidFill>
            <a:srgbClr val="F5F6F5"/>
          </a:solidFill>
          <a:ln w="9525">
            <a:solidFill>
              <a:srgbClr val="DDE1DE"/>
            </a:solidFill>
            <a:prstDash val="solid"/>
          </a:ln>
        </p:spPr>
      </p:sp>
      <p:sp>
        <p:nvSpPr>
          <p:cNvPr id="29" name="Shape 27"/>
          <p:cNvSpPr/>
          <p:nvPr/>
        </p:nvSpPr>
        <p:spPr>
          <a:xfrm>
            <a:off x="4544568" y="4114800"/>
            <a:ext cx="457200" cy="457200"/>
          </a:xfrm>
          <a:prstGeom prst="rect">
            <a:avLst/>
          </a:prstGeom>
          <a:solidFill>
            <a:srgbClr val="1F4D3A"/>
          </a:solidFill>
          <a:ln w="12700">
            <a:solidFill>
              <a:srgbClr val="1F4D3A"/>
            </a:solidFill>
            <a:prstDash val="solid"/>
          </a:ln>
        </p:spPr>
      </p:sp>
      <p:sp>
        <p:nvSpPr>
          <p:cNvPr id="30" name="Text 28"/>
          <p:cNvSpPr txBox="1"/>
          <p:nvPr/>
        </p:nvSpPr>
        <p:spPr>
          <a:xfrm>
            <a:off x="4544568" y="41148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31" name="Text 29"/>
          <p:cNvSpPr txBox="1"/>
          <p:nvPr/>
        </p:nvSpPr>
        <p:spPr>
          <a:xfrm>
            <a:off x="5184648" y="4087368"/>
            <a:ext cx="2496312" cy="292608"/>
          </a:xfrm>
          <a:prstGeom prst="rect">
            <a:avLst/>
          </a:prstGeom>
          <a:noFill/>
          <a:ln/>
        </p:spPr>
        <p:txBody>
          <a:bodyPr wrap="square" lIns="0" tIns="0" rIns="0" bIns="0" rtlCol="0" anchor="t"/>
          <a:lstStyle/>
          <a:p>
            <a:pPr indent="0" marL="0">
              <a:buNone/>
            </a:pPr>
            <a:r>
              <a:rPr lang="en-US" sz="1700" b="1" dirty="0">
                <a:solidFill>
                  <a:srgbClr val="24292A"/>
                </a:solidFill>
                <a:latin typeface="Calibri" pitchFamily="34" charset="0"/>
                <a:ea typeface="Calibri" pitchFamily="34" charset="-122"/>
                <a:cs typeface="Calibri" pitchFamily="34" charset="-120"/>
              </a:rPr>
              <a:t>Report passengers</a:t>
            </a:r>
            <a:endParaRPr lang="en-US" sz="1700" dirty="0"/>
          </a:p>
        </p:txBody>
      </p:sp>
      <p:sp>
        <p:nvSpPr>
          <p:cNvPr id="32" name="Text 30"/>
          <p:cNvSpPr txBox="1"/>
          <p:nvPr/>
        </p:nvSpPr>
        <p:spPr>
          <a:xfrm>
            <a:off x="5184648" y="4370832"/>
            <a:ext cx="2496312" cy="256032"/>
          </a:xfrm>
          <a:prstGeom prst="rect">
            <a:avLst/>
          </a:prstGeom>
          <a:noFill/>
          <a:ln/>
        </p:spPr>
        <p:txBody>
          <a:bodyPr wrap="square" lIns="0" tIns="0" rIns="0" bIns="0" rtlCol="0" anchor="t"/>
          <a:lstStyle/>
          <a:p>
            <a:pPr indent="0" marL="0">
              <a:buNone/>
            </a:pPr>
            <a:r>
              <a:rPr lang="en-US" sz="1200" b="1" dirty="0">
                <a:solidFill>
                  <a:srgbClr val="1F4D3A"/>
                </a:solidFill>
                <a:latin typeface="Calibri" pitchFamily="34" charset="0"/>
                <a:ea typeface="Calibri" pitchFamily="34" charset="-122"/>
                <a:cs typeface="Calibri" pitchFamily="34" charset="-120"/>
              </a:rPr>
              <a:t>Occupancy &amp; Alert</a:t>
            </a:r>
            <a:endParaRPr lang="en-US" sz="1200" dirty="0"/>
          </a:p>
        </p:txBody>
      </p:sp>
      <p:sp>
        <p:nvSpPr>
          <p:cNvPr id="33" name="Text 31"/>
          <p:cNvSpPr txBox="1"/>
          <p:nvPr/>
        </p:nvSpPr>
        <p:spPr>
          <a:xfrm>
            <a:off x="4544568" y="4800600"/>
            <a:ext cx="3090672" cy="1097280"/>
          </a:xfrm>
          <a:prstGeom prst="rect">
            <a:avLst/>
          </a:prstGeom>
          <a:noFill/>
          <a:ln/>
        </p:spPr>
        <p:txBody>
          <a:bodyPr wrap="square" lIns="0" tIns="0" rIns="0" bIns="0" rtlCol="0" anchor="t"/>
          <a:lstStyle/>
          <a:p>
            <a:pPr indent="0" marL="0">
              <a:buNone/>
            </a:pPr>
            <a:r>
              <a:rPr lang="en-US" sz="1400" dirty="0">
                <a:solidFill>
                  <a:srgbClr val="24292A"/>
                </a:solidFill>
                <a:latin typeface="Calibri" pitchFamily="34" charset="0"/>
                <a:ea typeface="Calibri" pitchFamily="34" charset="-122"/>
                <a:cs typeface="Calibri" pitchFamily="34" charset="-120"/>
              </a:rPr>
              <a:t>An admin enters a count. The service gets capacity from Fleet, calculates the % and flags overcrowding.</a:t>
            </a:r>
            <a:endParaRPr lang="en-US" sz="1400" dirty="0"/>
          </a:p>
        </p:txBody>
      </p:sp>
      <p:sp>
        <p:nvSpPr>
          <p:cNvPr id="34" name="Shape 32"/>
          <p:cNvSpPr/>
          <p:nvPr/>
        </p:nvSpPr>
        <p:spPr>
          <a:xfrm>
            <a:off x="8083296" y="3886200"/>
            <a:ext cx="3547872" cy="2103120"/>
          </a:xfrm>
          <a:prstGeom prst="rect">
            <a:avLst/>
          </a:prstGeom>
          <a:solidFill>
            <a:srgbClr val="FFFFFF"/>
          </a:solidFill>
          <a:ln w="9525">
            <a:solidFill>
              <a:srgbClr val="DDE1DE"/>
            </a:solidFill>
            <a:prstDash val="solid"/>
          </a:ln>
        </p:spPr>
      </p:sp>
      <p:sp>
        <p:nvSpPr>
          <p:cNvPr id="35" name="Shape 33"/>
          <p:cNvSpPr/>
          <p:nvPr/>
        </p:nvSpPr>
        <p:spPr>
          <a:xfrm>
            <a:off x="8311896" y="4114800"/>
            <a:ext cx="457200" cy="457200"/>
          </a:xfrm>
          <a:prstGeom prst="rect">
            <a:avLst/>
          </a:prstGeom>
          <a:solidFill>
            <a:srgbClr val="1F4D3A"/>
          </a:solidFill>
          <a:ln w="12700">
            <a:solidFill>
              <a:srgbClr val="1F4D3A"/>
            </a:solidFill>
            <a:prstDash val="solid"/>
          </a:ln>
        </p:spPr>
      </p:sp>
      <p:sp>
        <p:nvSpPr>
          <p:cNvPr id="36" name="Text 34"/>
          <p:cNvSpPr txBox="1"/>
          <p:nvPr/>
        </p:nvSpPr>
        <p:spPr>
          <a:xfrm>
            <a:off x="8311896" y="41148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37" name="Text 35"/>
          <p:cNvSpPr txBox="1"/>
          <p:nvPr/>
        </p:nvSpPr>
        <p:spPr>
          <a:xfrm>
            <a:off x="8951976" y="4087368"/>
            <a:ext cx="2496312" cy="292608"/>
          </a:xfrm>
          <a:prstGeom prst="rect">
            <a:avLst/>
          </a:prstGeom>
          <a:noFill/>
          <a:ln/>
        </p:spPr>
        <p:txBody>
          <a:bodyPr wrap="square" lIns="0" tIns="0" rIns="0" bIns="0" rtlCol="0" anchor="t"/>
          <a:lstStyle/>
          <a:p>
            <a:pPr indent="0" marL="0">
              <a:buNone/>
            </a:pPr>
            <a:r>
              <a:rPr lang="en-US" sz="1700" b="1" dirty="0">
                <a:solidFill>
                  <a:srgbClr val="24292A"/>
                </a:solidFill>
                <a:latin typeface="Calibri" pitchFamily="34" charset="0"/>
                <a:ea typeface="Calibri" pitchFamily="34" charset="-122"/>
                <a:cs typeface="Calibri" pitchFamily="34" charset="-120"/>
              </a:rPr>
              <a:t>See alerts</a:t>
            </a:r>
            <a:endParaRPr lang="en-US" sz="1700" dirty="0"/>
          </a:p>
        </p:txBody>
      </p:sp>
      <p:sp>
        <p:nvSpPr>
          <p:cNvPr id="38" name="Text 36"/>
          <p:cNvSpPr txBox="1"/>
          <p:nvPr/>
        </p:nvSpPr>
        <p:spPr>
          <a:xfrm>
            <a:off x="8951976" y="4370832"/>
            <a:ext cx="2496312" cy="256032"/>
          </a:xfrm>
          <a:prstGeom prst="rect">
            <a:avLst/>
          </a:prstGeom>
          <a:noFill/>
          <a:ln/>
        </p:spPr>
        <p:txBody>
          <a:bodyPr wrap="square" lIns="0" tIns="0" rIns="0" bIns="0" rtlCol="0" anchor="t"/>
          <a:lstStyle/>
          <a:p>
            <a:pPr indent="0" marL="0">
              <a:buNone/>
            </a:pPr>
            <a:r>
              <a:rPr lang="en-US" sz="1200" b="1" dirty="0">
                <a:solidFill>
                  <a:srgbClr val="1F4D3A"/>
                </a:solidFill>
                <a:latin typeface="Calibri" pitchFamily="34" charset="0"/>
                <a:ea typeface="Calibri" pitchFamily="34" charset="-122"/>
                <a:cs typeface="Calibri" pitchFamily="34" charset="-120"/>
              </a:rPr>
              <a:t>Occupancy &amp; Alert</a:t>
            </a:r>
            <a:endParaRPr lang="en-US" sz="1200" dirty="0"/>
          </a:p>
        </p:txBody>
      </p:sp>
      <p:sp>
        <p:nvSpPr>
          <p:cNvPr id="39" name="Text 37"/>
          <p:cNvSpPr txBox="1"/>
          <p:nvPr/>
        </p:nvSpPr>
        <p:spPr>
          <a:xfrm>
            <a:off x="8311896" y="4800600"/>
            <a:ext cx="3090672" cy="1097280"/>
          </a:xfrm>
          <a:prstGeom prst="rect">
            <a:avLst/>
          </a:prstGeom>
          <a:noFill/>
          <a:ln/>
        </p:spPr>
        <p:txBody>
          <a:bodyPr wrap="square" lIns="0" tIns="0" rIns="0" bIns="0" rtlCol="0" anchor="t"/>
          <a:lstStyle/>
          <a:p>
            <a:pPr indent="0" marL="0">
              <a:buNone/>
            </a:pPr>
            <a:r>
              <a:rPr lang="en-US" sz="1400" dirty="0">
                <a:solidFill>
                  <a:srgbClr val="24292A"/>
                </a:solidFill>
                <a:latin typeface="Calibri" pitchFamily="34" charset="0"/>
                <a:ea typeface="Calibri" pitchFamily="34" charset="-122"/>
                <a:cs typeface="Calibri" pitchFamily="34" charset="-120"/>
              </a:rPr>
              <a:t>The service reads trips for delay and stale tracking. Alerts close by themselves when the problem clears.</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D6560"/>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CampusVolt</dc:title>
  <dc:subject>PptxGenJS Presentation</dc:subject>
  <dc:creator>Kawin A N, Shankararam S U, Rohan Beniel E</dc:creator>
  <cp:lastModifiedBy>Kawin A N, Shankararam S U, Rohan Beniel E</cp:lastModifiedBy>
  <cp:revision>1</cp:revision>
  <dcterms:created xsi:type="dcterms:W3CDTF">2026-10-21T17:11:18Z</dcterms:created>
  <dcterms:modified xsi:type="dcterms:W3CDTF">2026-10-21T17:11:18Z</dcterms:modified>
</cp:coreProperties>
</file>